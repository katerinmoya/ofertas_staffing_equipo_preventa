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147470967" r:id="rId3"/>
    <p:sldId id="258" r:id="rId4"/>
    <p:sldId id="259" r:id="rId5"/>
    <p:sldId id="260" r:id="rId6"/>
    <p:sldId id="261" r:id="rId7"/>
    <p:sldId id="262" r:id="rId8"/>
    <p:sldId id="2147470880" r:id="rId9"/>
    <p:sldId id="2147470985" r:id="rId10"/>
    <p:sldId id="2147470986" r:id="rId11"/>
    <p:sldId id="2147470980" r:id="rId12"/>
    <p:sldId id="283" r:id="rId13"/>
    <p:sldId id="287" r:id="rId14"/>
    <p:sldId id="288" r:id="rId15"/>
    <p:sldId id="265" r:id="rId16"/>
    <p:sldId id="266"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5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B839A0-E0C7-4D33-9285-9C5E9EC2744D}" v="30" dt="2026-02-02T22:22:59.94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260"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s Felipe Lara Duran" userId="e94cf2f6-97e0-44e5-9621-bd4ba960640e" providerId="ADAL" clId="{A6BE1491-AFEC-4DE2-9F9B-08CF916157F5}"/>
    <pc:docChg chg="undo custSel modSld">
      <pc:chgData name="Andres Felipe Lara Duran" userId="e94cf2f6-97e0-44e5-9621-bd4ba960640e" providerId="ADAL" clId="{A6BE1491-AFEC-4DE2-9F9B-08CF916157F5}" dt="2026-02-02T22:23:39.303" v="1405" actId="20577"/>
      <pc:docMkLst>
        <pc:docMk/>
      </pc:docMkLst>
      <pc:sldChg chg="addSp delSp modSp mod">
        <pc:chgData name="Andres Felipe Lara Duran" userId="e94cf2f6-97e0-44e5-9621-bd4ba960640e" providerId="ADAL" clId="{A6BE1491-AFEC-4DE2-9F9B-08CF916157F5}" dt="2026-02-02T16:44:51.465" v="46" actId="20577"/>
        <pc:sldMkLst>
          <pc:docMk/>
          <pc:sldMk cId="0" sldId="256"/>
        </pc:sldMkLst>
        <pc:spChg chg="mod">
          <ac:chgData name="Andres Felipe Lara Duran" userId="e94cf2f6-97e0-44e5-9621-bd4ba960640e" providerId="ADAL" clId="{A6BE1491-AFEC-4DE2-9F9B-08CF916157F5}" dt="2026-02-02T16:44:51.465" v="46" actId="20577"/>
          <ac:spMkLst>
            <pc:docMk/>
            <pc:sldMk cId="0" sldId="256"/>
            <ac:spMk id="11" creationId="{CF949063-7485-9806-82B9-42DC44709799}"/>
          </ac:spMkLst>
        </pc:spChg>
        <pc:picChg chg="del">
          <ac:chgData name="Andres Felipe Lara Duran" userId="e94cf2f6-97e0-44e5-9621-bd4ba960640e" providerId="ADAL" clId="{A6BE1491-AFEC-4DE2-9F9B-08CF916157F5}" dt="2026-02-02T16:40:30.049" v="0" actId="478"/>
          <ac:picMkLst>
            <pc:docMk/>
            <pc:sldMk cId="0" sldId="256"/>
            <ac:picMk id="12" creationId="{845AD206-96DD-D29F-3C85-0FF61C05DF83}"/>
          </ac:picMkLst>
        </pc:picChg>
        <pc:picChg chg="add mod">
          <ac:chgData name="Andres Felipe Lara Duran" userId="e94cf2f6-97e0-44e5-9621-bd4ba960640e" providerId="ADAL" clId="{A6BE1491-AFEC-4DE2-9F9B-08CF916157F5}" dt="2026-02-02T16:42:34.506" v="4" actId="1076"/>
          <ac:picMkLst>
            <pc:docMk/>
            <pc:sldMk cId="0" sldId="256"/>
            <ac:picMk id="1026" creationId="{12AB9937-8EFB-0487-0236-9AB82D51A42C}"/>
          </ac:picMkLst>
        </pc:picChg>
      </pc:sldChg>
      <pc:sldChg chg="modSp">
        <pc:chgData name="Andres Felipe Lara Duran" userId="e94cf2f6-97e0-44e5-9621-bd4ba960640e" providerId="ADAL" clId="{A6BE1491-AFEC-4DE2-9F9B-08CF916157F5}" dt="2026-02-02T18:02:09.677" v="1102"/>
        <pc:sldMkLst>
          <pc:docMk/>
          <pc:sldMk cId="1985589952" sldId="283"/>
        </pc:sldMkLst>
        <pc:spChg chg="mod">
          <ac:chgData name="Andres Felipe Lara Duran" userId="e94cf2f6-97e0-44e5-9621-bd4ba960640e" providerId="ADAL" clId="{A6BE1491-AFEC-4DE2-9F9B-08CF916157F5}" dt="2026-02-02T18:02:09.677" v="1102"/>
          <ac:spMkLst>
            <pc:docMk/>
            <pc:sldMk cId="1985589952" sldId="283"/>
            <ac:spMk id="2" creationId="{F6436C8D-714C-FD4E-3D9F-60B5D1038406}"/>
          </ac:spMkLst>
        </pc:spChg>
      </pc:sldChg>
      <pc:sldChg chg="addSp delSp modSp mod">
        <pc:chgData name="Andres Felipe Lara Duran" userId="e94cf2f6-97e0-44e5-9621-bd4ba960640e" providerId="ADAL" clId="{A6BE1491-AFEC-4DE2-9F9B-08CF916157F5}" dt="2026-02-02T22:23:39.303" v="1405" actId="20577"/>
        <pc:sldMkLst>
          <pc:docMk/>
          <pc:sldMk cId="1300835553" sldId="287"/>
        </pc:sldMkLst>
        <pc:spChg chg="mod">
          <ac:chgData name="Andres Felipe Lara Duran" userId="e94cf2f6-97e0-44e5-9621-bd4ba960640e" providerId="ADAL" clId="{A6BE1491-AFEC-4DE2-9F9B-08CF916157F5}" dt="2026-02-02T18:07:21.241" v="1135" actId="20577"/>
          <ac:spMkLst>
            <pc:docMk/>
            <pc:sldMk cId="1300835553" sldId="287"/>
            <ac:spMk id="5" creationId="{D62EF3D7-2D8E-37D8-00C6-A3584E9099B1}"/>
          </ac:spMkLst>
        </pc:spChg>
        <pc:graphicFrameChg chg="add mod modGraphic">
          <ac:chgData name="Andres Felipe Lara Duran" userId="e94cf2f6-97e0-44e5-9621-bd4ba960640e" providerId="ADAL" clId="{A6BE1491-AFEC-4DE2-9F9B-08CF916157F5}" dt="2026-02-02T22:23:39.303" v="1405" actId="20577"/>
          <ac:graphicFrameMkLst>
            <pc:docMk/>
            <pc:sldMk cId="1300835553" sldId="287"/>
            <ac:graphicFrameMk id="2" creationId="{EAE83608-0CFB-EC94-3F45-647449B97AF1}"/>
          </ac:graphicFrameMkLst>
        </pc:graphicFrameChg>
        <pc:picChg chg="del mod">
          <ac:chgData name="Andres Felipe Lara Duran" userId="e94cf2f6-97e0-44e5-9621-bd4ba960640e" providerId="ADAL" clId="{A6BE1491-AFEC-4DE2-9F9B-08CF916157F5}" dt="2026-02-02T18:20:22.849" v="1308" actId="478"/>
          <ac:picMkLst>
            <pc:docMk/>
            <pc:sldMk cId="1300835553" sldId="287"/>
            <ac:picMk id="3" creationId="{6792B021-0169-7223-2177-997890361133}"/>
          </ac:picMkLst>
        </pc:picChg>
      </pc:sldChg>
      <pc:sldChg chg="modSp">
        <pc:chgData name="Andres Felipe Lara Duran" userId="e94cf2f6-97e0-44e5-9621-bd4ba960640e" providerId="ADAL" clId="{A6BE1491-AFEC-4DE2-9F9B-08CF916157F5}" dt="2026-02-02T18:02:09.677" v="1102"/>
        <pc:sldMkLst>
          <pc:docMk/>
          <pc:sldMk cId="2656663507" sldId="288"/>
        </pc:sldMkLst>
        <pc:spChg chg="mod">
          <ac:chgData name="Andres Felipe Lara Duran" userId="e94cf2f6-97e0-44e5-9621-bd4ba960640e" providerId="ADAL" clId="{A6BE1491-AFEC-4DE2-9F9B-08CF916157F5}" dt="2026-02-02T18:02:09.677" v="1102"/>
          <ac:spMkLst>
            <pc:docMk/>
            <pc:sldMk cId="2656663507" sldId="288"/>
            <ac:spMk id="474" creationId="{00000000-0000-0000-0000-000000000000}"/>
          </ac:spMkLst>
        </pc:spChg>
      </pc:sldChg>
      <pc:sldChg chg="modSp mod">
        <pc:chgData name="Andres Felipe Lara Duran" userId="e94cf2f6-97e0-44e5-9621-bd4ba960640e" providerId="ADAL" clId="{A6BE1491-AFEC-4DE2-9F9B-08CF916157F5}" dt="2026-02-02T18:00:00.067" v="1036" actId="20577"/>
        <pc:sldMkLst>
          <pc:docMk/>
          <pc:sldMk cId="1085074409" sldId="2147470980"/>
        </pc:sldMkLst>
        <pc:spChg chg="mod">
          <ac:chgData name="Andres Felipe Lara Duran" userId="e94cf2f6-97e0-44e5-9621-bd4ba960640e" providerId="ADAL" clId="{A6BE1491-AFEC-4DE2-9F9B-08CF916157F5}" dt="2026-02-02T18:00:00.067" v="1036" actId="20577"/>
          <ac:spMkLst>
            <pc:docMk/>
            <pc:sldMk cId="1085074409" sldId="2147470980"/>
            <ac:spMk id="3" creationId="{8160A746-65FA-E650-50DE-5B795A1BB081}"/>
          </ac:spMkLst>
        </pc:spChg>
      </pc:sldChg>
      <pc:sldChg chg="addSp delSp modSp mod">
        <pc:chgData name="Andres Felipe Lara Duran" userId="e94cf2f6-97e0-44e5-9621-bd4ba960640e" providerId="ADAL" clId="{A6BE1491-AFEC-4DE2-9F9B-08CF916157F5}" dt="2026-02-02T17:41:15.552" v="863" actId="20577"/>
        <pc:sldMkLst>
          <pc:docMk/>
          <pc:sldMk cId="3872538693" sldId="2147470985"/>
        </pc:sldMkLst>
        <pc:spChg chg="add del mod">
          <ac:chgData name="Andres Felipe Lara Duran" userId="e94cf2f6-97e0-44e5-9621-bd4ba960640e" providerId="ADAL" clId="{A6BE1491-AFEC-4DE2-9F9B-08CF916157F5}" dt="2026-02-02T17:40:34.210" v="817" actId="478"/>
          <ac:spMkLst>
            <pc:docMk/>
            <pc:sldMk cId="3872538693" sldId="2147470985"/>
            <ac:spMk id="3" creationId="{865324F4-A621-D3D3-8AA3-A6C394AC55A7}"/>
          </ac:spMkLst>
        </pc:spChg>
        <pc:spChg chg="mod">
          <ac:chgData name="Andres Felipe Lara Duran" userId="e94cf2f6-97e0-44e5-9621-bd4ba960640e" providerId="ADAL" clId="{A6BE1491-AFEC-4DE2-9F9B-08CF916157F5}" dt="2026-02-02T16:47:28.785" v="88" actId="20577"/>
          <ac:spMkLst>
            <pc:docMk/>
            <pc:sldMk cId="3872538693" sldId="2147470985"/>
            <ac:spMk id="6" creationId="{75A1B2D9-DC3B-515B-87A5-2440CE248DE2}"/>
          </ac:spMkLst>
        </pc:spChg>
        <pc:spChg chg="mod">
          <ac:chgData name="Andres Felipe Lara Duran" userId="e94cf2f6-97e0-44e5-9621-bd4ba960640e" providerId="ADAL" clId="{A6BE1491-AFEC-4DE2-9F9B-08CF916157F5}" dt="2026-02-02T17:40:47.648" v="819" actId="1076"/>
          <ac:spMkLst>
            <pc:docMk/>
            <pc:sldMk cId="3872538693" sldId="2147470985"/>
            <ac:spMk id="12" creationId="{E90C77A2-D717-A02A-F5C0-95FDBAEA4ACB}"/>
          </ac:spMkLst>
        </pc:spChg>
        <pc:spChg chg="mod">
          <ac:chgData name="Andres Felipe Lara Duran" userId="e94cf2f6-97e0-44e5-9621-bd4ba960640e" providerId="ADAL" clId="{A6BE1491-AFEC-4DE2-9F9B-08CF916157F5}" dt="2026-02-02T17:41:15.552" v="863" actId="20577"/>
          <ac:spMkLst>
            <pc:docMk/>
            <pc:sldMk cId="3872538693" sldId="2147470985"/>
            <ac:spMk id="19" creationId="{97D68A57-2A49-5367-5E67-74FC15FFFB77}"/>
          </ac:spMkLst>
        </pc:spChg>
        <pc:spChg chg="mod">
          <ac:chgData name="Andres Felipe Lara Duran" userId="e94cf2f6-97e0-44e5-9621-bd4ba960640e" providerId="ADAL" clId="{A6BE1491-AFEC-4DE2-9F9B-08CF916157F5}" dt="2026-02-02T17:32:30.219" v="479" actId="1076"/>
          <ac:spMkLst>
            <pc:docMk/>
            <pc:sldMk cId="3872538693" sldId="2147470985"/>
            <ac:spMk id="476" creationId="{4A62481D-F2BC-C3C7-A2B5-5C3940C7F2EA}"/>
          </ac:spMkLst>
        </pc:spChg>
      </pc:sldChg>
      <pc:sldChg chg="addSp modSp mod">
        <pc:chgData name="Andres Felipe Lara Duran" userId="e94cf2f6-97e0-44e5-9621-bd4ba960640e" providerId="ADAL" clId="{A6BE1491-AFEC-4DE2-9F9B-08CF916157F5}" dt="2026-02-02T18:01:23.457" v="1101" actId="1035"/>
        <pc:sldMkLst>
          <pc:docMk/>
          <pc:sldMk cId="871233446" sldId="2147470986"/>
        </pc:sldMkLst>
        <pc:spChg chg="add mod">
          <ac:chgData name="Andres Felipe Lara Duran" userId="e94cf2f6-97e0-44e5-9621-bd4ba960640e" providerId="ADAL" clId="{A6BE1491-AFEC-4DE2-9F9B-08CF916157F5}" dt="2026-02-02T18:00:59.451" v="1095" actId="14100"/>
          <ac:spMkLst>
            <pc:docMk/>
            <pc:sldMk cId="871233446" sldId="2147470986"/>
            <ac:spMk id="3" creationId="{D41290DE-A501-40B9-CC3A-E95C7AD88D77}"/>
          </ac:spMkLst>
        </pc:spChg>
        <pc:spChg chg="add mod">
          <ac:chgData name="Andres Felipe Lara Duran" userId="e94cf2f6-97e0-44e5-9621-bd4ba960640e" providerId="ADAL" clId="{A6BE1491-AFEC-4DE2-9F9B-08CF916157F5}" dt="2026-02-02T18:00:59.451" v="1095" actId="14100"/>
          <ac:spMkLst>
            <pc:docMk/>
            <pc:sldMk cId="871233446" sldId="2147470986"/>
            <ac:spMk id="4" creationId="{2485EF9C-59F8-2578-D39D-2D7A903AF4AE}"/>
          </ac:spMkLst>
        </pc:spChg>
        <pc:spChg chg="mod">
          <ac:chgData name="Andres Felipe Lara Duran" userId="e94cf2f6-97e0-44e5-9621-bd4ba960640e" providerId="ADAL" clId="{A6BE1491-AFEC-4DE2-9F9B-08CF916157F5}" dt="2026-02-02T18:01:14.162" v="1096" actId="14100"/>
          <ac:spMkLst>
            <pc:docMk/>
            <pc:sldMk cId="871233446" sldId="2147470986"/>
            <ac:spMk id="5" creationId="{81188510-62DD-3A1C-3889-709295D74A42}"/>
          </ac:spMkLst>
        </pc:spChg>
        <pc:spChg chg="add">
          <ac:chgData name="Andres Felipe Lara Duran" userId="e94cf2f6-97e0-44e5-9621-bd4ba960640e" providerId="ADAL" clId="{A6BE1491-AFEC-4DE2-9F9B-08CF916157F5}" dt="2026-02-02T17:47:33.200" v="881"/>
          <ac:spMkLst>
            <pc:docMk/>
            <pc:sldMk cId="871233446" sldId="2147470986"/>
            <ac:spMk id="6" creationId="{F2BDF4B8-269F-666D-6BBB-9003D7260229}"/>
          </ac:spMkLst>
        </pc:spChg>
        <pc:spChg chg="add">
          <ac:chgData name="Andres Felipe Lara Duran" userId="e94cf2f6-97e0-44e5-9621-bd4ba960640e" providerId="ADAL" clId="{A6BE1491-AFEC-4DE2-9F9B-08CF916157F5}" dt="2026-02-02T17:47:46.596" v="883"/>
          <ac:spMkLst>
            <pc:docMk/>
            <pc:sldMk cId="871233446" sldId="2147470986"/>
            <ac:spMk id="7" creationId="{3696A780-9515-4253-C340-291303EEB52C}"/>
          </ac:spMkLst>
        </pc:spChg>
        <pc:spChg chg="mod">
          <ac:chgData name="Andres Felipe Lara Duran" userId="e94cf2f6-97e0-44e5-9621-bd4ba960640e" providerId="ADAL" clId="{A6BE1491-AFEC-4DE2-9F9B-08CF916157F5}" dt="2026-02-02T18:01:23.457" v="1101" actId="1035"/>
          <ac:spMkLst>
            <pc:docMk/>
            <pc:sldMk cId="871233446" sldId="2147470986"/>
            <ac:spMk id="19" creationId="{50C170F4-D961-E415-61AF-34E1A4A5F7F8}"/>
          </ac:spMkLst>
        </pc:spChg>
        <pc:spChg chg="mod">
          <ac:chgData name="Andres Felipe Lara Duran" userId="e94cf2f6-97e0-44e5-9621-bd4ba960640e" providerId="ADAL" clId="{A6BE1491-AFEC-4DE2-9F9B-08CF916157F5}" dt="2026-02-02T18:00:37.852" v="1060" actId="1035"/>
          <ac:spMkLst>
            <pc:docMk/>
            <pc:sldMk cId="871233446" sldId="2147470986"/>
            <ac:spMk id="476" creationId="{A67EA3DB-285C-B26B-B9F3-F0226ABB5004}"/>
          </ac:spMkLst>
        </pc:spChg>
        <pc:spChg chg="mod">
          <ac:chgData name="Andres Felipe Lara Duran" userId="e94cf2f6-97e0-44e5-9621-bd4ba960640e" providerId="ADAL" clId="{A6BE1491-AFEC-4DE2-9F9B-08CF916157F5}" dt="2026-02-02T18:01:23.457" v="1101" actId="1035"/>
          <ac:spMkLst>
            <pc:docMk/>
            <pc:sldMk cId="871233446" sldId="2147470986"/>
            <ac:spMk id="481" creationId="{C49B8395-8F6B-7787-8124-E01E61CE10A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30D3A-6AAB-4EF8-B5E3-09EC7B3D8F9D}" type="datetimeFigureOut">
              <a:rPr lang="es-CO" smtClean="0"/>
              <a:t>2/02/2026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64704F-77BF-4CB9-9857-19FB428383F9}" type="slidenum">
              <a:rPr lang="es-CO" smtClean="0"/>
              <a:t>‹Nº›</a:t>
            </a:fld>
            <a:endParaRPr lang="es-CO"/>
          </a:p>
        </p:txBody>
      </p:sp>
    </p:spTree>
    <p:extLst>
      <p:ext uri="{BB962C8B-B14F-4D97-AF65-F5344CB8AC3E}">
        <p14:creationId xmlns:p14="http://schemas.microsoft.com/office/powerpoint/2010/main" val="410511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txBody>
          <a:bodyPr/>
          <a:lstStyle/>
          <a:p>
            <a:endParaRPr lang="es-CO"/>
          </a:p>
        </p:txBody>
      </p:sp>
      <p:sp>
        <p:nvSpPr>
          <p:cNvPr id="3" name="Marcador de notas 2"/>
          <p:cNvSpPr>
            <a:spLocks noGrp="1"/>
          </p:cNvSpPr>
          <p:nvPr>
            <p:ph type="body" idx="1"/>
          </p:nvPr>
        </p:nvSpPr>
        <p:spPr/>
        <p:txBody>
          <a:bodyPr/>
          <a:lstStyle/>
          <a:p>
            <a:r>
              <a:rPr lang="es-ES"/>
              <a:t>15%    -   19,5%</a:t>
            </a:r>
            <a:endParaRPr lang="es-CO"/>
          </a:p>
        </p:txBody>
      </p:sp>
    </p:spTree>
    <p:extLst>
      <p:ext uri="{BB962C8B-B14F-4D97-AF65-F5344CB8AC3E}">
        <p14:creationId xmlns:p14="http://schemas.microsoft.com/office/powerpoint/2010/main" val="1805502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F5F0B8-51E7-09F6-BFE9-41B2069F942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98FCC53C-87DA-70D0-5F7B-8D5DFD3ADD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370D36B5-AD41-8DBE-61B1-C205223015B3}"/>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1DB051AE-E82D-85FC-1D28-80F1A1E4907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D83863F-237D-26A4-FE9D-9202C18C9D37}"/>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3939492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17DEE2-5ED4-0BDF-1C3F-FB3355702A4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96A571F6-F9F6-4625-66B8-54AE4A9AC84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66EC5DD-C056-1C64-68CA-958B5F2226F9}"/>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F7201DBD-B96D-28EC-D409-28916920504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3976EC-6D2F-1C4D-89FD-877026FBA27B}"/>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4096747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561DD4-7611-A722-10AD-9D4BDBABC55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EA24AE4-2A0C-A5A3-28AD-E90416074D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8D63F96-2EC7-1D05-7A0B-A29118A4C4C9}"/>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2F784177-021B-687B-A311-579BFC67016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DCD3F47-BB78-0556-88D5-45241167968D}"/>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2221458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FD0611-69DE-7775-5237-96C12A0171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58AD28A-90BF-1DBD-B2D4-F12744ACF63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FBA410EC-089E-42AB-B48D-18F9229EE8A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E78777FB-DF9F-15C8-B80A-F39B68523DBF}"/>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6" name="Marcador de pie de página 5">
            <a:extLst>
              <a:ext uri="{FF2B5EF4-FFF2-40B4-BE49-F238E27FC236}">
                <a16:creationId xmlns:a16="http://schemas.microsoft.com/office/drawing/2014/main" id="{08F9C016-31E8-23B8-1988-03CEF3C95C17}"/>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FD39CD4-5D66-8E48-5D7D-D1069FAE7B9E}"/>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206065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1735D7-7E0B-0EC6-DD69-74A0D889A97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03547AE-BAD7-7C09-B99D-E9028DFF78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70E158B-143A-2FD3-6A35-F536EB7EDBB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DC7F58EA-75D8-0665-6BF2-E575DBC5F9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DF74262-2392-220E-4807-7100C303E03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1AEA9B53-B5C6-D913-DB5F-558215FA5CE9}"/>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8" name="Marcador de pie de página 7">
            <a:extLst>
              <a:ext uri="{FF2B5EF4-FFF2-40B4-BE49-F238E27FC236}">
                <a16:creationId xmlns:a16="http://schemas.microsoft.com/office/drawing/2014/main" id="{BCEAFB85-E39D-EB91-732A-503BBE35B06B}"/>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84D163C-4DB8-F5A1-2257-D61F2D280D89}"/>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3019605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D01AF4-C243-B2D4-44BE-8909797B12E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C571DCC-77F1-2E2F-CFFF-467310D25D54}"/>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4" name="Marcador de pie de página 3">
            <a:extLst>
              <a:ext uri="{FF2B5EF4-FFF2-40B4-BE49-F238E27FC236}">
                <a16:creationId xmlns:a16="http://schemas.microsoft.com/office/drawing/2014/main" id="{51A68829-7A87-7CA3-5EF7-61A651C51460}"/>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7DB97B2-06BF-F271-82E2-A4C8ED515462}"/>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2055363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B4B46E9-D5F6-684E-105F-89985F26B859}"/>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3" name="Marcador de pie de página 2">
            <a:extLst>
              <a:ext uri="{FF2B5EF4-FFF2-40B4-BE49-F238E27FC236}">
                <a16:creationId xmlns:a16="http://schemas.microsoft.com/office/drawing/2014/main" id="{32F14F20-D018-690C-BDE1-EC8C1641825E}"/>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8714A24A-DB20-E159-FC88-FBC69D25D335}"/>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3390075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75FF43-3E2D-1D00-B9AF-3527E1C1E30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7A6CE2F-3410-68E4-B4DF-75600F8A3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779701AB-3BDA-979B-3E44-9B343C7852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30A6C2A-B023-64E3-AD8A-816706A28240}"/>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6" name="Marcador de pie de página 5">
            <a:extLst>
              <a:ext uri="{FF2B5EF4-FFF2-40B4-BE49-F238E27FC236}">
                <a16:creationId xmlns:a16="http://schemas.microsoft.com/office/drawing/2014/main" id="{DADE10AF-FFBF-F94E-4EAF-F95C046E3CE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3C6D86A3-64BC-2989-7432-BBA79320B078}"/>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326188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AA227F-50AE-03AF-9180-49FCF8B5740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ED16946-3135-405C-064D-CEB3F035B0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B189F45B-6969-59E4-EDEC-98509140B7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6017473-BBC1-26A5-12D4-6B9F9BB26899}"/>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6" name="Marcador de pie de página 5">
            <a:extLst>
              <a:ext uri="{FF2B5EF4-FFF2-40B4-BE49-F238E27FC236}">
                <a16:creationId xmlns:a16="http://schemas.microsoft.com/office/drawing/2014/main" id="{80CF4FC4-2C58-A7AF-BA3E-B222015A4FB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6D912D5-9926-938E-6B1D-16A875E25A7A}"/>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34248013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D59929-8D2C-FC8A-7245-0592CBC0AFE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6EBB0A97-837C-07B2-11A1-57AAB1D594C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F339F42-A4DB-0B78-5C95-A2AA28A62427}"/>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8FF98BDE-20BC-391F-09D9-3763A18A62B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15D63388-F1B6-9DAC-22A2-FAEFEC631D60}"/>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1893444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E62B08D-23E3-9AF8-C2C8-AD059561371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C89D541-7FD2-1699-55F0-03C68D9E048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5EEFE96-4C9C-D97C-C2D4-1B73F4089C10}"/>
              </a:ext>
            </a:extLst>
          </p:cNvPr>
          <p:cNvSpPr>
            <a:spLocks noGrp="1"/>
          </p:cNvSpPr>
          <p:nvPr>
            <p:ph type="dt" sz="half" idx="10"/>
          </p:nvPr>
        </p:nvSpPr>
        <p:spPr/>
        <p:txBody>
          <a:body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3032119B-1B61-4160-9052-CE440F4EFC5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F53B4D4-1923-7302-008E-C5DB4E76A19E}"/>
              </a:ext>
            </a:extLst>
          </p:cNvPr>
          <p:cNvSpPr>
            <a:spLocks noGrp="1"/>
          </p:cNvSpPr>
          <p:nvPr>
            <p:ph type="sldNum" sz="quarter" idx="12"/>
          </p:nvPr>
        </p:nvSpPr>
        <p:spPr/>
        <p:txBody>
          <a:bodyPr/>
          <a:lstStyle/>
          <a:p>
            <a:fld id="{C6D27101-C6CF-4305-96C1-2A4E1B8F7EB5}" type="slidenum">
              <a:rPr lang="es-CO" smtClean="0"/>
              <a:t>‹Nº›</a:t>
            </a:fld>
            <a:endParaRPr lang="es-CO"/>
          </a:p>
        </p:txBody>
      </p:sp>
    </p:spTree>
    <p:extLst>
      <p:ext uri="{BB962C8B-B14F-4D97-AF65-F5344CB8AC3E}">
        <p14:creationId xmlns:p14="http://schemas.microsoft.com/office/powerpoint/2010/main" val="1918924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C4893A6-86A2-0CAF-B433-53421D4839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E40DD60B-61BD-34EF-36E4-85641EEA29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5568DC53-3EC9-C045-B285-3A388754CB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D026C80-73A5-4A79-9ACB-BEBF82DC4384}" type="datetimeFigureOut">
              <a:rPr lang="es-CO" smtClean="0"/>
              <a:t>2/02/2026</a:t>
            </a:fld>
            <a:endParaRPr lang="es-CO"/>
          </a:p>
        </p:txBody>
      </p:sp>
      <p:sp>
        <p:nvSpPr>
          <p:cNvPr id="5" name="Marcador de pie de página 4">
            <a:extLst>
              <a:ext uri="{FF2B5EF4-FFF2-40B4-BE49-F238E27FC236}">
                <a16:creationId xmlns:a16="http://schemas.microsoft.com/office/drawing/2014/main" id="{EFFC631D-45A1-707A-C68A-473229FF3E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43EF985B-80A4-6086-96A6-32816F5D30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D27101-C6CF-4305-96C1-2A4E1B8F7EB5}" type="slidenum">
              <a:rPr lang="es-CO" smtClean="0"/>
              <a:t>‹Nº›</a:t>
            </a:fld>
            <a:endParaRPr lang="es-CO"/>
          </a:p>
        </p:txBody>
      </p:sp>
    </p:spTree>
    <p:extLst>
      <p:ext uri="{BB962C8B-B14F-4D97-AF65-F5344CB8AC3E}">
        <p14:creationId xmlns:p14="http://schemas.microsoft.com/office/powerpoint/2010/main" val="6992743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svg"/><Relationship Id="rId18" Type="http://schemas.openxmlformats.org/officeDocument/2006/relationships/image" Target="../media/image20.png"/><Relationship Id="rId3" Type="http://schemas.openxmlformats.org/officeDocument/2006/relationships/image" Target="../media/image5.svg"/><Relationship Id="rId21" Type="http://schemas.openxmlformats.org/officeDocument/2006/relationships/image" Target="../media/image23.svg"/><Relationship Id="rId7" Type="http://schemas.openxmlformats.org/officeDocument/2006/relationships/image" Target="../media/image9.svg"/><Relationship Id="rId12" Type="http://schemas.openxmlformats.org/officeDocument/2006/relationships/image" Target="../media/image14.png"/><Relationship Id="rId17" Type="http://schemas.openxmlformats.org/officeDocument/2006/relationships/image" Target="../media/image19.svg"/><Relationship Id="rId2" Type="http://schemas.openxmlformats.org/officeDocument/2006/relationships/image" Target="../media/image4.png"/><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5" Type="http://schemas.openxmlformats.org/officeDocument/2006/relationships/image" Target="../media/image17.svg"/><Relationship Id="rId23" Type="http://schemas.openxmlformats.org/officeDocument/2006/relationships/image" Target="../media/image25.svg"/><Relationship Id="rId10" Type="http://schemas.openxmlformats.org/officeDocument/2006/relationships/image" Target="../media/image12.png"/><Relationship Id="rId19" Type="http://schemas.openxmlformats.org/officeDocument/2006/relationships/image" Target="../media/image21.svg"/><Relationship Id="rId4" Type="http://schemas.openxmlformats.org/officeDocument/2006/relationships/image" Target="../media/image6.png"/><Relationship Id="rId9" Type="http://schemas.openxmlformats.org/officeDocument/2006/relationships/image" Target="../media/image11.svg"/><Relationship Id="rId14" Type="http://schemas.openxmlformats.org/officeDocument/2006/relationships/image" Target="../media/image16.png"/><Relationship Id="rId22" Type="http://schemas.openxmlformats.org/officeDocument/2006/relationships/image" Target="../media/image24.png"/></Relationships>
</file>

<file path=ppt/slides/_rels/slide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39.jpeg"/><Relationship Id="rId13" Type="http://schemas.openxmlformats.org/officeDocument/2006/relationships/image" Target="../media/image44.png"/><Relationship Id="rId3" Type="http://schemas.openxmlformats.org/officeDocument/2006/relationships/image" Target="../media/image34.jpeg"/><Relationship Id="rId7" Type="http://schemas.openxmlformats.org/officeDocument/2006/relationships/image" Target="../media/image38.jpeg"/><Relationship Id="rId12" Type="http://schemas.openxmlformats.org/officeDocument/2006/relationships/image" Target="../media/image43.png"/><Relationship Id="rId2" Type="http://schemas.openxmlformats.org/officeDocument/2006/relationships/image" Target="../media/image33.jpeg"/><Relationship Id="rId1" Type="http://schemas.openxmlformats.org/officeDocument/2006/relationships/slideLayout" Target="../slideLayouts/slideLayout7.xml"/><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jpeg"/><Relationship Id="rId9" Type="http://schemas.openxmlformats.org/officeDocument/2006/relationships/image" Target="../media/image40.png"/><Relationship Id="rId14" Type="http://schemas.openxmlformats.org/officeDocument/2006/relationships/image" Target="../media/image45.png"/></Relationships>
</file>

<file path=ppt/slides/_rels/slide5.xml.rels><?xml version="1.0" encoding="UTF-8" standalone="yes"?>
<Relationships xmlns="http://schemas.openxmlformats.org/package/2006/relationships"><Relationship Id="rId8" Type="http://schemas.openxmlformats.org/officeDocument/2006/relationships/image" Target="../media/image51.svg"/><Relationship Id="rId13" Type="http://schemas.openxmlformats.org/officeDocument/2006/relationships/image" Target="../media/image56.png"/><Relationship Id="rId18" Type="http://schemas.openxmlformats.org/officeDocument/2006/relationships/image" Target="../media/image61.svg"/><Relationship Id="rId26" Type="http://schemas.openxmlformats.org/officeDocument/2006/relationships/image" Target="../media/image2.png"/><Relationship Id="rId3" Type="http://schemas.openxmlformats.org/officeDocument/2006/relationships/image" Target="../media/image46.png"/><Relationship Id="rId21" Type="http://schemas.openxmlformats.org/officeDocument/2006/relationships/image" Target="../media/image64.png"/><Relationship Id="rId7" Type="http://schemas.openxmlformats.org/officeDocument/2006/relationships/image" Target="../media/image50.png"/><Relationship Id="rId12" Type="http://schemas.openxmlformats.org/officeDocument/2006/relationships/image" Target="../media/image55.svg"/><Relationship Id="rId17" Type="http://schemas.openxmlformats.org/officeDocument/2006/relationships/image" Target="../media/image60.png"/><Relationship Id="rId25" Type="http://schemas.openxmlformats.org/officeDocument/2006/relationships/image" Target="../media/image32.png"/><Relationship Id="rId2" Type="http://schemas.openxmlformats.org/officeDocument/2006/relationships/image" Target="../media/image26.png"/><Relationship Id="rId16" Type="http://schemas.openxmlformats.org/officeDocument/2006/relationships/image" Target="../media/image59.svg"/><Relationship Id="rId20" Type="http://schemas.openxmlformats.org/officeDocument/2006/relationships/image" Target="../media/image63.svg"/><Relationship Id="rId1" Type="http://schemas.openxmlformats.org/officeDocument/2006/relationships/slideLayout" Target="../slideLayouts/slideLayout7.xml"/><Relationship Id="rId6" Type="http://schemas.openxmlformats.org/officeDocument/2006/relationships/image" Target="../media/image49.svg"/><Relationship Id="rId11" Type="http://schemas.openxmlformats.org/officeDocument/2006/relationships/image" Target="../media/image54.png"/><Relationship Id="rId24" Type="http://schemas.openxmlformats.org/officeDocument/2006/relationships/image" Target="../media/image67.sv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6.png"/><Relationship Id="rId10" Type="http://schemas.openxmlformats.org/officeDocument/2006/relationships/image" Target="../media/image53.svg"/><Relationship Id="rId19" Type="http://schemas.openxmlformats.org/officeDocument/2006/relationships/image" Target="../media/image62.png"/><Relationship Id="rId4" Type="http://schemas.openxmlformats.org/officeDocument/2006/relationships/image" Target="../media/image47.svg"/><Relationship Id="rId9" Type="http://schemas.openxmlformats.org/officeDocument/2006/relationships/image" Target="../media/image52.png"/><Relationship Id="rId14" Type="http://schemas.openxmlformats.org/officeDocument/2006/relationships/image" Target="../media/image57.svg"/><Relationship Id="rId22" Type="http://schemas.openxmlformats.org/officeDocument/2006/relationships/image" Target="../media/image65.svg"/></Relationships>
</file>

<file path=ppt/slides/_rels/slide6.xml.rels><?xml version="1.0" encoding="UTF-8" standalone="yes"?>
<Relationships xmlns="http://schemas.openxmlformats.org/package/2006/relationships"><Relationship Id="rId8" Type="http://schemas.openxmlformats.org/officeDocument/2006/relationships/image" Target="../media/image73.svg"/><Relationship Id="rId13" Type="http://schemas.openxmlformats.org/officeDocument/2006/relationships/image" Target="../media/image78.png"/><Relationship Id="rId18" Type="http://schemas.openxmlformats.org/officeDocument/2006/relationships/image" Target="../media/image83.svg"/><Relationship Id="rId26" Type="http://schemas.openxmlformats.org/officeDocument/2006/relationships/image" Target="../media/image91.svg"/><Relationship Id="rId3" Type="http://schemas.openxmlformats.org/officeDocument/2006/relationships/image" Target="../media/image68.png"/><Relationship Id="rId21" Type="http://schemas.openxmlformats.org/officeDocument/2006/relationships/image" Target="../media/image86.png"/><Relationship Id="rId7" Type="http://schemas.openxmlformats.org/officeDocument/2006/relationships/image" Target="../media/image72.png"/><Relationship Id="rId12" Type="http://schemas.openxmlformats.org/officeDocument/2006/relationships/image" Target="../media/image77.svg"/><Relationship Id="rId17" Type="http://schemas.openxmlformats.org/officeDocument/2006/relationships/image" Target="../media/image82.png"/><Relationship Id="rId25" Type="http://schemas.openxmlformats.org/officeDocument/2006/relationships/image" Target="../media/image90.png"/><Relationship Id="rId2" Type="http://schemas.openxmlformats.org/officeDocument/2006/relationships/image" Target="../media/image26.png"/><Relationship Id="rId16" Type="http://schemas.openxmlformats.org/officeDocument/2006/relationships/image" Target="../media/image81.svg"/><Relationship Id="rId20" Type="http://schemas.openxmlformats.org/officeDocument/2006/relationships/image" Target="../media/image85.svg"/><Relationship Id="rId29" Type="http://schemas.openxmlformats.org/officeDocument/2006/relationships/image" Target="../media/image94.png"/><Relationship Id="rId1" Type="http://schemas.openxmlformats.org/officeDocument/2006/relationships/slideLayout" Target="../slideLayouts/slideLayout7.xml"/><Relationship Id="rId6" Type="http://schemas.openxmlformats.org/officeDocument/2006/relationships/image" Target="../media/image71.svg"/><Relationship Id="rId11" Type="http://schemas.openxmlformats.org/officeDocument/2006/relationships/image" Target="../media/image76.png"/><Relationship Id="rId24" Type="http://schemas.openxmlformats.org/officeDocument/2006/relationships/image" Target="../media/image89.svg"/><Relationship Id="rId32" Type="http://schemas.openxmlformats.org/officeDocument/2006/relationships/image" Target="../media/image2.png"/><Relationship Id="rId5" Type="http://schemas.openxmlformats.org/officeDocument/2006/relationships/image" Target="../media/image70.png"/><Relationship Id="rId15" Type="http://schemas.openxmlformats.org/officeDocument/2006/relationships/image" Target="../media/image80.png"/><Relationship Id="rId23" Type="http://schemas.openxmlformats.org/officeDocument/2006/relationships/image" Target="../media/image88.png"/><Relationship Id="rId28" Type="http://schemas.openxmlformats.org/officeDocument/2006/relationships/image" Target="../media/image93.svg"/><Relationship Id="rId10" Type="http://schemas.openxmlformats.org/officeDocument/2006/relationships/image" Target="../media/image75.svg"/><Relationship Id="rId19" Type="http://schemas.openxmlformats.org/officeDocument/2006/relationships/image" Target="../media/image84.png"/><Relationship Id="rId31" Type="http://schemas.openxmlformats.org/officeDocument/2006/relationships/image" Target="../media/image32.png"/><Relationship Id="rId4" Type="http://schemas.openxmlformats.org/officeDocument/2006/relationships/image" Target="../media/image69.svg"/><Relationship Id="rId9" Type="http://schemas.openxmlformats.org/officeDocument/2006/relationships/image" Target="../media/image74.png"/><Relationship Id="rId14" Type="http://schemas.openxmlformats.org/officeDocument/2006/relationships/image" Target="../media/image79.svg"/><Relationship Id="rId22" Type="http://schemas.openxmlformats.org/officeDocument/2006/relationships/image" Target="../media/image87.svg"/><Relationship Id="rId27" Type="http://schemas.openxmlformats.org/officeDocument/2006/relationships/image" Target="../media/image92.png"/><Relationship Id="rId30" Type="http://schemas.openxmlformats.org/officeDocument/2006/relationships/image" Target="../media/image95.svg"/></Relationships>
</file>

<file path=ppt/slides/_rels/slide7.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png"/><Relationship Id="rId3" Type="http://schemas.openxmlformats.org/officeDocument/2006/relationships/image" Target="../media/image32.png"/><Relationship Id="rId7" Type="http://schemas.openxmlformats.org/officeDocument/2006/relationships/image" Target="../media/image98.png"/><Relationship Id="rId12" Type="http://schemas.openxmlformats.org/officeDocument/2006/relationships/image" Target="../media/image103.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97.png"/><Relationship Id="rId11" Type="http://schemas.openxmlformats.org/officeDocument/2006/relationships/image" Target="../media/image102.png"/><Relationship Id="rId5" Type="http://schemas.openxmlformats.org/officeDocument/2006/relationships/image" Target="../media/image96.png"/><Relationship Id="rId10" Type="http://schemas.openxmlformats.org/officeDocument/2006/relationships/image" Target="../media/image101.png"/><Relationship Id="rId4" Type="http://schemas.openxmlformats.org/officeDocument/2006/relationships/image" Target="../media/image2.png"/><Relationship Id="rId9" Type="http://schemas.openxmlformats.org/officeDocument/2006/relationships/image" Target="../media/image100.png"/><Relationship Id="rId14" Type="http://schemas.openxmlformats.org/officeDocument/2006/relationships/image" Target="../media/image105.png"/></Relationships>
</file>

<file path=ppt/slides/_rels/slide8.xml.rels><?xml version="1.0" encoding="UTF-8" standalone="yes"?>
<Relationships xmlns="http://schemas.openxmlformats.org/package/2006/relationships"><Relationship Id="rId8" Type="http://schemas.openxmlformats.org/officeDocument/2006/relationships/image" Target="../media/image111.svg"/><Relationship Id="rId13" Type="http://schemas.openxmlformats.org/officeDocument/2006/relationships/image" Target="../media/image32.png"/><Relationship Id="rId3" Type="http://schemas.openxmlformats.org/officeDocument/2006/relationships/image" Target="../media/image106.png"/><Relationship Id="rId7" Type="http://schemas.openxmlformats.org/officeDocument/2006/relationships/image" Target="../media/image110.png"/><Relationship Id="rId12" Type="http://schemas.openxmlformats.org/officeDocument/2006/relationships/image" Target="../media/image115.sv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109.svg"/><Relationship Id="rId11" Type="http://schemas.openxmlformats.org/officeDocument/2006/relationships/image" Target="../media/image114.png"/><Relationship Id="rId5" Type="http://schemas.openxmlformats.org/officeDocument/2006/relationships/image" Target="../media/image108.png"/><Relationship Id="rId10" Type="http://schemas.openxmlformats.org/officeDocument/2006/relationships/image" Target="../media/image113.svg"/><Relationship Id="rId4" Type="http://schemas.openxmlformats.org/officeDocument/2006/relationships/image" Target="../media/image107.svg"/><Relationship Id="rId9" Type="http://schemas.openxmlformats.org/officeDocument/2006/relationships/image" Target="../media/image112.png"/><Relationship Id="rId1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9.png"/><Relationship Id="rId18" Type="http://schemas.openxmlformats.org/officeDocument/2006/relationships/image" Target="../media/image134.png"/><Relationship Id="rId26" Type="http://schemas.openxmlformats.org/officeDocument/2006/relationships/image" Target="../media/image142.png"/><Relationship Id="rId3" Type="http://schemas.openxmlformats.org/officeDocument/2006/relationships/image" Target="../media/image119.png"/><Relationship Id="rId21" Type="http://schemas.openxmlformats.org/officeDocument/2006/relationships/image" Target="../media/image137.png"/><Relationship Id="rId7" Type="http://schemas.openxmlformats.org/officeDocument/2006/relationships/image" Target="../media/image123.png"/><Relationship Id="rId12" Type="http://schemas.openxmlformats.org/officeDocument/2006/relationships/image" Target="../media/image128.png"/><Relationship Id="rId17" Type="http://schemas.openxmlformats.org/officeDocument/2006/relationships/image" Target="../media/image133.png"/><Relationship Id="rId25" Type="http://schemas.openxmlformats.org/officeDocument/2006/relationships/image" Target="../media/image141.png"/><Relationship Id="rId2" Type="http://schemas.openxmlformats.org/officeDocument/2006/relationships/image" Target="../media/image26.png"/><Relationship Id="rId16" Type="http://schemas.openxmlformats.org/officeDocument/2006/relationships/image" Target="../media/image132.png"/><Relationship Id="rId20" Type="http://schemas.openxmlformats.org/officeDocument/2006/relationships/image" Target="../media/image136.png"/><Relationship Id="rId29"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2.png"/><Relationship Id="rId11" Type="http://schemas.openxmlformats.org/officeDocument/2006/relationships/image" Target="../media/image127.png"/><Relationship Id="rId24" Type="http://schemas.openxmlformats.org/officeDocument/2006/relationships/image" Target="../media/image140.png"/><Relationship Id="rId5" Type="http://schemas.openxmlformats.org/officeDocument/2006/relationships/image" Target="../media/image121.png"/><Relationship Id="rId15" Type="http://schemas.openxmlformats.org/officeDocument/2006/relationships/image" Target="../media/image131.png"/><Relationship Id="rId23" Type="http://schemas.openxmlformats.org/officeDocument/2006/relationships/image" Target="../media/image139.png"/><Relationship Id="rId28" Type="http://schemas.openxmlformats.org/officeDocument/2006/relationships/image" Target="../media/image32.png"/><Relationship Id="rId10" Type="http://schemas.openxmlformats.org/officeDocument/2006/relationships/image" Target="../media/image126.png"/><Relationship Id="rId19" Type="http://schemas.openxmlformats.org/officeDocument/2006/relationships/image" Target="../media/image135.png"/><Relationship Id="rId4" Type="http://schemas.openxmlformats.org/officeDocument/2006/relationships/image" Target="../media/image120.png"/><Relationship Id="rId9" Type="http://schemas.openxmlformats.org/officeDocument/2006/relationships/image" Target="../media/image125.png"/><Relationship Id="rId14" Type="http://schemas.openxmlformats.org/officeDocument/2006/relationships/image" Target="../media/image130.png"/><Relationship Id="rId22" Type="http://schemas.openxmlformats.org/officeDocument/2006/relationships/image" Target="../media/image138.png"/><Relationship Id="rId27" Type="http://schemas.openxmlformats.org/officeDocument/2006/relationships/image" Target="../media/image143.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44.png"/><Relationship Id="rId1" Type="http://schemas.openxmlformats.org/officeDocument/2006/relationships/slideLayout" Target="../slideLayouts/slideLayout7.xml"/><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63160" y="440322"/>
            <a:ext cx="10480370" cy="602729"/>
          </a:xfrm>
          <a:prstGeom prst="rect">
            <a:avLst/>
          </a:prstGeom>
        </p:spPr>
        <p:txBody>
          <a:bodyPr lIns="0" tIns="0" rIns="0" bIns="0" rtlCol="0" anchor="t">
            <a:spAutoFit/>
          </a:bodyPr>
          <a:lstStyle/>
          <a:p>
            <a:pPr>
              <a:lnSpc>
                <a:spcPts val="4664"/>
              </a:lnSpc>
            </a:pPr>
            <a:r>
              <a:rPr lang="en-US" sz="4318" spc="-26">
                <a:solidFill>
                  <a:srgbClr val="000000"/>
                </a:solidFill>
                <a:latin typeface="TT Rounds Condensed"/>
                <a:ea typeface="TT Rounds Condensed"/>
                <a:cs typeface="TT Rounds Condensed"/>
                <a:sym typeface="TT Rounds Condensed"/>
              </a:rPr>
              <a:t>v</a:t>
            </a:r>
          </a:p>
        </p:txBody>
      </p:sp>
      <p:sp>
        <p:nvSpPr>
          <p:cNvPr id="3" name="Freeform 3" descr="Imagen 8"/>
          <p:cNvSpPr/>
          <p:nvPr/>
        </p:nvSpPr>
        <p:spPr>
          <a:xfrm>
            <a:off x="-11999" y="0"/>
            <a:ext cx="12219748" cy="6854802"/>
          </a:xfrm>
          <a:custGeom>
            <a:avLst/>
            <a:gdLst/>
            <a:ahLst/>
            <a:cxnLst/>
            <a:rect l="l" t="t" r="r" b="b"/>
            <a:pathLst>
              <a:path w="18329622" h="10282203">
                <a:moveTo>
                  <a:pt x="0" y="0"/>
                </a:moveTo>
                <a:lnTo>
                  <a:pt x="18329622" y="0"/>
                </a:lnTo>
                <a:lnTo>
                  <a:pt x="18329622" y="10282203"/>
                </a:lnTo>
                <a:lnTo>
                  <a:pt x="0" y="10282203"/>
                </a:lnTo>
                <a:lnTo>
                  <a:pt x="0" y="0"/>
                </a:lnTo>
                <a:close/>
              </a:path>
            </a:pathLst>
          </a:custGeom>
          <a:blipFill>
            <a:blip r:embed="rId2"/>
            <a:stretch>
              <a:fillRect l="-41" r="-41"/>
            </a:stretch>
          </a:blipFill>
        </p:spPr>
        <p:txBody>
          <a:bodyPr/>
          <a:lstStyle/>
          <a:p>
            <a:endParaRPr lang="es-CO" sz="1200"/>
          </a:p>
        </p:txBody>
      </p:sp>
      <p:sp>
        <p:nvSpPr>
          <p:cNvPr id="5" name="TextBox 5"/>
          <p:cNvSpPr txBox="1"/>
          <p:nvPr/>
        </p:nvSpPr>
        <p:spPr>
          <a:xfrm>
            <a:off x="1270002" y="6373069"/>
            <a:ext cx="5368009" cy="240387"/>
          </a:xfrm>
          <a:prstGeom prst="rect">
            <a:avLst/>
          </a:prstGeom>
        </p:spPr>
        <p:txBody>
          <a:bodyPr lIns="0" tIns="0" rIns="0" bIns="0" rtlCol="0" anchor="t">
            <a:spAutoFit/>
          </a:bodyPr>
          <a:lstStyle/>
          <a:p>
            <a:pPr algn="ctr">
              <a:lnSpc>
                <a:spcPts val="1973"/>
              </a:lnSpc>
            </a:pPr>
            <a:r>
              <a:rPr lang="en-US" sz="1645" spc="-5">
                <a:solidFill>
                  <a:srgbClr val="3B3838"/>
                </a:solidFill>
                <a:latin typeface="Arial"/>
                <a:ea typeface="Arial"/>
                <a:cs typeface="Arial"/>
                <a:sym typeface="Arial"/>
              </a:rPr>
              <a:t>SOLUCIONES DE TRANSFORMACIÓN DIGITAL</a:t>
            </a:r>
          </a:p>
        </p:txBody>
      </p:sp>
      <p:sp>
        <p:nvSpPr>
          <p:cNvPr id="8" name="object 7">
            <a:extLst>
              <a:ext uri="{FF2B5EF4-FFF2-40B4-BE49-F238E27FC236}">
                <a16:creationId xmlns:a16="http://schemas.microsoft.com/office/drawing/2014/main" id="{A36444DD-06FA-EFB9-6D66-C1BF4831891A}"/>
              </a:ext>
            </a:extLst>
          </p:cNvPr>
          <p:cNvSpPr txBox="1"/>
          <p:nvPr/>
        </p:nvSpPr>
        <p:spPr>
          <a:xfrm>
            <a:off x="4919238" y="3451773"/>
            <a:ext cx="5718170" cy="4308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spAutoFit/>
          </a:bodyPr>
          <a:lstStyle/>
          <a:p>
            <a:pPr indent="12700" algn="ctr" defTabSz="890443">
              <a:spcBef>
                <a:spcPts val="100"/>
              </a:spcBef>
              <a:defRPr sz="2800" b="1" spc="-5">
                <a:solidFill>
                  <a:srgbClr val="3B3838"/>
                </a:solidFill>
                <a:uFill>
                  <a:solidFill>
                    <a:srgbClr val="000000"/>
                  </a:solidFill>
                </a:uFill>
                <a:latin typeface="Arial Narrow"/>
                <a:ea typeface="Arial Narrow"/>
                <a:cs typeface="Arial Narrow"/>
                <a:sym typeface="Arial Narrow"/>
              </a:defRPr>
            </a:pPr>
            <a:r>
              <a:rPr lang="es-ES"/>
              <a:t>PERSONAL ESPECIALIZADO</a:t>
            </a:r>
          </a:p>
        </p:txBody>
      </p:sp>
      <p:sp>
        <p:nvSpPr>
          <p:cNvPr id="9" name="object 7">
            <a:extLst>
              <a:ext uri="{FF2B5EF4-FFF2-40B4-BE49-F238E27FC236}">
                <a16:creationId xmlns:a16="http://schemas.microsoft.com/office/drawing/2014/main" id="{80A7EF3C-BEC2-43B8-AFDB-607337EA7D96}"/>
              </a:ext>
            </a:extLst>
          </p:cNvPr>
          <p:cNvSpPr txBox="1"/>
          <p:nvPr/>
        </p:nvSpPr>
        <p:spPr>
          <a:xfrm>
            <a:off x="6103345" y="2830331"/>
            <a:ext cx="4275073" cy="43088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b">
            <a:spAutoFit/>
          </a:bodyPr>
          <a:lstStyle/>
          <a:p>
            <a:pPr indent="12700" algn="ctr" defTabSz="890443">
              <a:spcBef>
                <a:spcPts val="100"/>
              </a:spcBef>
              <a:defRPr sz="2800" b="1" spc="-5">
                <a:solidFill>
                  <a:srgbClr val="3B3838"/>
                </a:solidFill>
                <a:uFill>
                  <a:solidFill>
                    <a:srgbClr val="000000"/>
                  </a:solidFill>
                </a:uFill>
                <a:latin typeface="Arial Narrow"/>
                <a:ea typeface="Arial Narrow"/>
                <a:cs typeface="Arial Narrow"/>
                <a:sym typeface="Arial Narrow"/>
              </a:defRPr>
            </a:pPr>
            <a:r>
              <a:rPr lang="es-ES"/>
              <a:t>OFERTA COMERCIAL</a:t>
            </a:r>
          </a:p>
        </p:txBody>
      </p:sp>
      <p:sp>
        <p:nvSpPr>
          <p:cNvPr id="11" name="CuadroTexto 10">
            <a:extLst>
              <a:ext uri="{FF2B5EF4-FFF2-40B4-BE49-F238E27FC236}">
                <a16:creationId xmlns:a16="http://schemas.microsoft.com/office/drawing/2014/main" id="{CF949063-7485-9806-82B9-42DC44709799}"/>
              </a:ext>
            </a:extLst>
          </p:cNvPr>
          <p:cNvSpPr txBox="1"/>
          <p:nvPr/>
        </p:nvSpPr>
        <p:spPr>
          <a:xfrm>
            <a:off x="9483324" y="5595102"/>
            <a:ext cx="2568268" cy="646331"/>
          </a:xfrm>
          <a:prstGeom prst="rect">
            <a:avLst/>
          </a:prstGeom>
          <a:noFill/>
        </p:spPr>
        <p:txBody>
          <a:bodyPr wrap="none" lIns="91440" tIns="45720" rIns="91440" bIns="45720" rtlCol="0" anchor="t">
            <a:spAutoFit/>
          </a:bodyPr>
          <a:lstStyle/>
          <a:p>
            <a:pPr algn="r"/>
            <a:r>
              <a:rPr lang="es-ES" sz="1200" b="1" dirty="0">
                <a:solidFill>
                  <a:schemeClr val="tx1">
                    <a:lumMod val="75000"/>
                    <a:lumOff val="25000"/>
                  </a:schemeClr>
                </a:solidFill>
              </a:rPr>
              <a:t>Comercial</a:t>
            </a:r>
            <a:r>
              <a:rPr lang="es-ES" sz="1200" dirty="0">
                <a:solidFill>
                  <a:schemeClr val="tx1">
                    <a:lumMod val="75000"/>
                    <a:lumOff val="25000"/>
                  </a:schemeClr>
                </a:solidFill>
              </a:rPr>
              <a:t> : </a:t>
            </a:r>
            <a:r>
              <a:rPr lang="es-ES" sz="1200" i="1" dirty="0">
                <a:solidFill>
                  <a:schemeClr val="tx1">
                    <a:lumMod val="75000"/>
                    <a:lumOff val="25000"/>
                  </a:schemeClr>
                </a:solidFill>
              </a:rPr>
              <a:t>Gladys Helena Puentes</a:t>
            </a:r>
          </a:p>
          <a:p>
            <a:pPr algn="r"/>
            <a:r>
              <a:rPr lang="es-ES" sz="1200" b="1" i="1" dirty="0">
                <a:solidFill>
                  <a:schemeClr val="tx1">
                    <a:lumMod val="75000"/>
                    <a:lumOff val="25000"/>
                  </a:schemeClr>
                </a:solidFill>
              </a:rPr>
              <a:t>Fecha:</a:t>
            </a:r>
            <a:r>
              <a:rPr lang="es-ES" sz="1200" i="1" dirty="0">
                <a:solidFill>
                  <a:schemeClr val="tx1">
                    <a:lumMod val="75000"/>
                    <a:lumOff val="25000"/>
                  </a:schemeClr>
                </a:solidFill>
              </a:rPr>
              <a:t>  02-02-2026</a:t>
            </a:r>
          </a:p>
          <a:p>
            <a:pPr algn="r"/>
            <a:r>
              <a:rPr lang="es-ES" sz="1200" b="1" i="1" dirty="0">
                <a:solidFill>
                  <a:schemeClr val="tx1">
                    <a:lumMod val="75000"/>
                    <a:lumOff val="25000"/>
                  </a:schemeClr>
                </a:solidFill>
              </a:rPr>
              <a:t>Preventa</a:t>
            </a:r>
            <a:r>
              <a:rPr lang="es-ES" sz="1200" i="1" dirty="0">
                <a:solidFill>
                  <a:schemeClr val="tx1">
                    <a:lumMod val="75000"/>
                    <a:lumOff val="25000"/>
                  </a:schemeClr>
                </a:solidFill>
              </a:rPr>
              <a:t>: Andrés Lara</a:t>
            </a:r>
          </a:p>
        </p:txBody>
      </p:sp>
      <p:pic>
        <p:nvPicPr>
          <p:cNvPr id="7" name="Imagen 6">
            <a:extLst>
              <a:ext uri="{FF2B5EF4-FFF2-40B4-BE49-F238E27FC236}">
                <a16:creationId xmlns:a16="http://schemas.microsoft.com/office/drawing/2014/main" id="{9654C865-570E-56C6-AAA1-2D121480838B}"/>
              </a:ext>
            </a:extLst>
          </p:cNvPr>
          <p:cNvPicPr>
            <a:picLocks noChangeAspect="1"/>
          </p:cNvPicPr>
          <p:nvPr/>
        </p:nvPicPr>
        <p:blipFill>
          <a:blip r:embed="rId3"/>
          <a:stretch>
            <a:fillRect/>
          </a:stretch>
        </p:blipFill>
        <p:spPr>
          <a:xfrm>
            <a:off x="9515624" y="6230001"/>
            <a:ext cx="2676376" cy="676715"/>
          </a:xfrm>
          <a:prstGeom prst="rect">
            <a:avLst/>
          </a:prstGeom>
        </p:spPr>
      </p:pic>
      <p:pic>
        <p:nvPicPr>
          <p:cNvPr id="1026" name="Picture 2">
            <a:extLst>
              <a:ext uri="{FF2B5EF4-FFF2-40B4-BE49-F238E27FC236}">
                <a16:creationId xmlns:a16="http://schemas.microsoft.com/office/drawing/2014/main" id="{12AB9937-8EFB-0487-0236-9AB82D51A4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8944" y="4173186"/>
            <a:ext cx="3118757" cy="8753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061605-F7D2-FEFC-A2C7-C13582854CE1}"/>
              </a:ext>
            </a:extLst>
          </p:cNvPr>
          <p:cNvSpPr>
            <a:spLocks noGrp="1"/>
          </p:cNvSpPr>
          <p:nvPr>
            <p:ph type="ctrTitle"/>
          </p:nvPr>
        </p:nvSpPr>
        <p:spPr/>
        <p:txBody>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endParaRPr lang="es-CO"/>
          </a:p>
        </p:txBody>
      </p:sp>
      <p:sp>
        <p:nvSpPr>
          <p:cNvPr id="3" name="Subtítulo 2">
            <a:extLst>
              <a:ext uri="{FF2B5EF4-FFF2-40B4-BE49-F238E27FC236}">
                <a16:creationId xmlns:a16="http://schemas.microsoft.com/office/drawing/2014/main" id="{0F01810D-FE57-4272-321D-AA9666986CD8}"/>
              </a:ext>
            </a:extLst>
          </p:cNvPr>
          <p:cNvSpPr>
            <a:spLocks noGrp="1"/>
          </p:cNvSpPr>
          <p:nvPr>
            <p:ph type="subTitle" idx="1"/>
          </p:nvPr>
        </p:nvSpPr>
        <p:spPr>
          <a:xfrm>
            <a:off x="1524068" y="3210146"/>
            <a:ext cx="9143864" cy="1655738"/>
          </a:xfrm>
        </p:spPr>
        <p:txBody>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endParaRPr lang="es-CO"/>
          </a:p>
        </p:txBody>
      </p:sp>
      <p:pic>
        <p:nvPicPr>
          <p:cNvPr id="5" name="Gráfico 4">
            <a:extLst>
              <a:ext uri="{FF2B5EF4-FFF2-40B4-BE49-F238E27FC236}">
                <a16:creationId xmlns:a16="http://schemas.microsoft.com/office/drawing/2014/main" id="{1A35EE36-12D0-1FD9-9049-DBC43B71AC97}"/>
              </a:ext>
            </a:extLst>
          </p:cNvPr>
          <p:cNvPicPr>
            <a:picLocks noGrp="1" noRot="1" noChangeAspect="1" noMove="1" noResize="1" noEditPoints="1" noAdjustHandles="1" noChangeArrowheads="1" noChangeShapeType="1" noCrop="1"/>
          </p:cNvPicPr>
          <p:nvPr/>
        </p:nvPicPr>
        <p:blipFill>
          <a:blip r:embed="rId2">
            <a:extLst>
              <a:ext uri="{96DAC541-7B7A-43D3-8B79-37D633B846F1}">
                <asvg:svgBlip xmlns:asvg="http://schemas.microsoft.com/office/drawing/2016/SVG/main" r:embed="rId3"/>
              </a:ext>
            </a:extLst>
          </a:blip>
          <a:stretch>
            <a:fillRect/>
          </a:stretch>
        </p:blipFill>
        <p:spPr>
          <a:xfrm>
            <a:off x="-18198" y="-62432"/>
            <a:ext cx="13889530" cy="6944765"/>
          </a:xfrm>
          <a:prstGeom prst="rect">
            <a:avLst/>
          </a:prstGeom>
        </p:spPr>
      </p:pic>
      <p:pic>
        <p:nvPicPr>
          <p:cNvPr id="7" name="Gráfico 6">
            <a:extLst>
              <a:ext uri="{FF2B5EF4-FFF2-40B4-BE49-F238E27FC236}">
                <a16:creationId xmlns:a16="http://schemas.microsoft.com/office/drawing/2014/main" id="{5869AB88-8094-ECED-A37D-824228FB4B3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2" y="-89863"/>
            <a:ext cx="12244078" cy="7167265"/>
          </a:xfrm>
          <a:prstGeom prst="rect">
            <a:avLst/>
          </a:prstGeom>
        </p:spPr>
      </p:pic>
      <p:sp>
        <p:nvSpPr>
          <p:cNvPr id="9" name="Marcador de contenido 2">
            <a:extLst>
              <a:ext uri="{FF2B5EF4-FFF2-40B4-BE49-F238E27FC236}">
                <a16:creationId xmlns:a16="http://schemas.microsoft.com/office/drawing/2014/main" id="{9AABFF12-C886-2F7B-0CC9-B66DD751901C}"/>
              </a:ext>
            </a:extLst>
          </p:cNvPr>
          <p:cNvSpPr txBox="1">
            <a:spLocks/>
          </p:cNvSpPr>
          <p:nvPr/>
        </p:nvSpPr>
        <p:spPr>
          <a:xfrm>
            <a:off x="5394970" y="489249"/>
            <a:ext cx="6143153" cy="370326"/>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r>
              <a:rPr lang="es-CO" sz="2400" b="1">
                <a:solidFill>
                  <a:schemeClr val="bg1"/>
                </a:solidFill>
                <a:latin typeface="Arial" panose="020B0604020202020204" pitchFamily="34" charset="0"/>
                <a:cs typeface="Arial" panose="020B0604020202020204" pitchFamily="34" charset="0"/>
              </a:rPr>
              <a:t>¿POR QUÉ NOSOTROS?​</a:t>
            </a:r>
          </a:p>
        </p:txBody>
      </p:sp>
      <p:sp>
        <p:nvSpPr>
          <p:cNvPr id="10" name="Marcador de contenido 2">
            <a:extLst>
              <a:ext uri="{FF2B5EF4-FFF2-40B4-BE49-F238E27FC236}">
                <a16:creationId xmlns:a16="http://schemas.microsoft.com/office/drawing/2014/main" id="{FEB9DB58-3071-CB98-7E31-28093C7BF27F}"/>
              </a:ext>
            </a:extLst>
          </p:cNvPr>
          <p:cNvSpPr txBox="1">
            <a:spLocks/>
          </p:cNvSpPr>
          <p:nvPr/>
        </p:nvSpPr>
        <p:spPr>
          <a:xfrm>
            <a:off x="5341631" y="887006"/>
            <a:ext cx="6143153" cy="856412"/>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400" err="1">
                <a:solidFill>
                  <a:schemeClr val="bg1"/>
                </a:solidFill>
                <a:latin typeface="Arial" panose="020B0604020202020204" pitchFamily="34" charset="0"/>
                <a:cs typeface="Arial" panose="020B0604020202020204" pitchFamily="34" charset="0"/>
              </a:rPr>
              <a:t>Hitss</a:t>
            </a:r>
            <a:r>
              <a:rPr lang="es-ES" sz="1400">
                <a:solidFill>
                  <a:schemeClr val="bg1"/>
                </a:solidFill>
                <a:latin typeface="Arial" panose="020B0604020202020204" pitchFamily="34" charset="0"/>
                <a:cs typeface="Arial" panose="020B0604020202020204" pitchFamily="34" charset="0"/>
              </a:rPr>
              <a:t> cuenta con la infraestructura tecnológica, financiera, los servicios de consultoría y el </a:t>
            </a:r>
            <a:r>
              <a:rPr lang="es-ES" sz="1400" b="1">
                <a:solidFill>
                  <a:schemeClr val="bg1"/>
                </a:solidFill>
                <a:latin typeface="Arial" panose="020B0604020202020204" pitchFamily="34" charset="0"/>
                <a:cs typeface="Arial" panose="020B0604020202020204" pitchFamily="34" charset="0"/>
              </a:rPr>
              <a:t>ecosistema de socios de negocio más grande de la región</a:t>
            </a:r>
            <a:r>
              <a:rPr lang="es-ES" sz="1400">
                <a:solidFill>
                  <a:schemeClr val="bg1"/>
                </a:solidFill>
                <a:latin typeface="Arial" panose="020B0604020202020204" pitchFamily="34" charset="0"/>
                <a:cs typeface="Arial" panose="020B0604020202020204" pitchFamily="34" charset="0"/>
              </a:rPr>
              <a:t>, para integrar tecnologías de información, comunicaciones y soluciones digitales que permitan hacer más eficiente su negocio. ​	</a:t>
            </a:r>
            <a:endParaRPr lang="es-CO" sz="1400">
              <a:solidFill>
                <a:schemeClr val="bg1"/>
              </a:solidFill>
              <a:latin typeface="Arial" panose="020B0604020202020204" pitchFamily="34" charset="0"/>
              <a:cs typeface="Arial" panose="020B0604020202020204" pitchFamily="34" charset="0"/>
            </a:endParaRPr>
          </a:p>
        </p:txBody>
      </p:sp>
      <p:pic>
        <p:nvPicPr>
          <p:cNvPr id="12" name="Gráfico 11">
            <a:extLst>
              <a:ext uri="{FF2B5EF4-FFF2-40B4-BE49-F238E27FC236}">
                <a16:creationId xmlns:a16="http://schemas.microsoft.com/office/drawing/2014/main" id="{DE4AE292-F1D5-C594-D394-2C9DCAA92C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11512" y="1989378"/>
            <a:ext cx="6806653" cy="701716"/>
          </a:xfrm>
          <a:prstGeom prst="rect">
            <a:avLst/>
          </a:prstGeom>
        </p:spPr>
      </p:pic>
      <p:pic>
        <p:nvPicPr>
          <p:cNvPr id="13" name="Gráfico 12">
            <a:extLst>
              <a:ext uri="{FF2B5EF4-FFF2-40B4-BE49-F238E27FC236}">
                <a16:creationId xmlns:a16="http://schemas.microsoft.com/office/drawing/2014/main" id="{6D575891-B0F2-B962-C5DB-05F9D42F1D9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11511" y="2850474"/>
            <a:ext cx="6806653" cy="701716"/>
          </a:xfrm>
          <a:prstGeom prst="rect">
            <a:avLst/>
          </a:prstGeom>
        </p:spPr>
      </p:pic>
      <p:pic>
        <p:nvPicPr>
          <p:cNvPr id="14" name="Gráfico 13">
            <a:extLst>
              <a:ext uri="{FF2B5EF4-FFF2-40B4-BE49-F238E27FC236}">
                <a16:creationId xmlns:a16="http://schemas.microsoft.com/office/drawing/2014/main" id="{8575001E-999D-20A1-D557-45A56037D6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11511" y="3745354"/>
            <a:ext cx="6806653" cy="1120530"/>
          </a:xfrm>
          <a:prstGeom prst="rect">
            <a:avLst/>
          </a:prstGeom>
        </p:spPr>
      </p:pic>
      <p:pic>
        <p:nvPicPr>
          <p:cNvPr id="16" name="Gráfico 15">
            <a:extLst>
              <a:ext uri="{FF2B5EF4-FFF2-40B4-BE49-F238E27FC236}">
                <a16:creationId xmlns:a16="http://schemas.microsoft.com/office/drawing/2014/main" id="{51525B60-2F27-B4D7-F985-C77EE97F441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650999" y="2098114"/>
            <a:ext cx="472434" cy="564100"/>
          </a:xfrm>
          <a:prstGeom prst="rect">
            <a:avLst/>
          </a:prstGeom>
        </p:spPr>
      </p:pic>
      <p:pic>
        <p:nvPicPr>
          <p:cNvPr id="18" name="Gráfico 17">
            <a:extLst>
              <a:ext uri="{FF2B5EF4-FFF2-40B4-BE49-F238E27FC236}">
                <a16:creationId xmlns:a16="http://schemas.microsoft.com/office/drawing/2014/main" id="{5EDA2B2F-39E1-24C7-06E2-6AACF98C13F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67775" y="2994795"/>
            <a:ext cx="361355" cy="450109"/>
          </a:xfrm>
          <a:prstGeom prst="rect">
            <a:avLst/>
          </a:prstGeom>
        </p:spPr>
      </p:pic>
      <p:sp>
        <p:nvSpPr>
          <p:cNvPr id="19" name="Marcador de contenido 2">
            <a:extLst>
              <a:ext uri="{FF2B5EF4-FFF2-40B4-BE49-F238E27FC236}">
                <a16:creationId xmlns:a16="http://schemas.microsoft.com/office/drawing/2014/main" id="{F574EBF2-B201-FDFB-21F2-0471F1348EE9}"/>
              </a:ext>
            </a:extLst>
          </p:cNvPr>
          <p:cNvSpPr txBox="1">
            <a:spLocks/>
          </p:cNvSpPr>
          <p:nvPr/>
        </p:nvSpPr>
        <p:spPr>
          <a:xfrm>
            <a:off x="6662921" y="2090032"/>
            <a:ext cx="3903860" cy="551833"/>
          </a:xfrm>
          <a:prstGeom prst="rect">
            <a:avLst/>
          </a:prstGeom>
        </p:spPr>
        <p:txBody>
          <a:bodyPr vert="horz" lIns="91439" tIns="45719" rIns="91439" bIns="45719" rtlCol="0" anchor="t">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386">
                <a:solidFill>
                  <a:schemeClr val="bg1"/>
                </a:solidFill>
                <a:latin typeface="Arial"/>
                <a:cs typeface="Arial"/>
              </a:rPr>
              <a:t>Tenemos presencia en varios países de Latinoamérica.​</a:t>
            </a:r>
            <a:endParaRPr lang="es-CO" sz="1386">
              <a:solidFill>
                <a:schemeClr val="bg1"/>
              </a:solidFill>
              <a:latin typeface="Arial"/>
              <a:cs typeface="Arial"/>
            </a:endParaRPr>
          </a:p>
        </p:txBody>
      </p:sp>
      <p:sp>
        <p:nvSpPr>
          <p:cNvPr id="20" name="Marcador de contenido 2">
            <a:extLst>
              <a:ext uri="{FF2B5EF4-FFF2-40B4-BE49-F238E27FC236}">
                <a16:creationId xmlns:a16="http://schemas.microsoft.com/office/drawing/2014/main" id="{9EBE2DDB-F2ED-F0E5-40E3-394E03A86E6B}"/>
              </a:ext>
            </a:extLst>
          </p:cNvPr>
          <p:cNvSpPr txBox="1">
            <a:spLocks/>
          </p:cNvSpPr>
          <p:nvPr/>
        </p:nvSpPr>
        <p:spPr>
          <a:xfrm>
            <a:off x="6714863" y="2938739"/>
            <a:ext cx="3903860" cy="551833"/>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400">
                <a:solidFill>
                  <a:schemeClr val="bg1"/>
                </a:solidFill>
                <a:latin typeface="Arial" panose="020B0604020202020204" pitchFamily="34" charset="0"/>
                <a:cs typeface="Arial" panose="020B0604020202020204" pitchFamily="34" charset="0"/>
              </a:rPr>
              <a:t>Estamos certificados como CMMI nivel 5 en la región y CMMI nivel 3 en Colombia.​</a:t>
            </a:r>
            <a:endParaRPr lang="es-CO" sz="1400">
              <a:solidFill>
                <a:schemeClr val="bg1"/>
              </a:solidFill>
              <a:latin typeface="Arial" panose="020B0604020202020204" pitchFamily="34" charset="0"/>
              <a:cs typeface="Arial" panose="020B0604020202020204" pitchFamily="34" charset="0"/>
            </a:endParaRPr>
          </a:p>
        </p:txBody>
      </p:sp>
      <p:sp>
        <p:nvSpPr>
          <p:cNvPr id="21" name="Marcador de contenido 2">
            <a:extLst>
              <a:ext uri="{FF2B5EF4-FFF2-40B4-BE49-F238E27FC236}">
                <a16:creationId xmlns:a16="http://schemas.microsoft.com/office/drawing/2014/main" id="{9BB37546-3B81-22F5-D853-95F90AAE9BC7}"/>
              </a:ext>
            </a:extLst>
          </p:cNvPr>
          <p:cNvSpPr txBox="1">
            <a:spLocks/>
          </p:cNvSpPr>
          <p:nvPr/>
        </p:nvSpPr>
        <p:spPr>
          <a:xfrm>
            <a:off x="6764072" y="3773956"/>
            <a:ext cx="3903860" cy="551833"/>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400">
                <a:solidFill>
                  <a:schemeClr val="bg1"/>
                </a:solidFill>
                <a:latin typeface="Arial" panose="020B0604020202020204" pitchFamily="34" charset="0"/>
                <a:cs typeface="Arial" panose="020B0604020202020204" pitchFamily="34" charset="0"/>
              </a:rPr>
              <a:t>Ofrecemos soluciones ‘</a:t>
            </a:r>
            <a:r>
              <a:rPr lang="es-ES" sz="1400" err="1">
                <a:solidFill>
                  <a:schemeClr val="bg1"/>
                </a:solidFill>
                <a:latin typeface="Arial" panose="020B0604020202020204" pitchFamily="34" charset="0"/>
                <a:cs typeface="Arial" panose="020B0604020202020204" pitchFamily="34" charset="0"/>
              </a:rPr>
              <a:t>end</a:t>
            </a:r>
            <a:r>
              <a:rPr lang="es-ES" sz="1400">
                <a:solidFill>
                  <a:schemeClr val="bg1"/>
                </a:solidFill>
                <a:latin typeface="Arial" panose="020B0604020202020204" pitchFamily="34" charset="0"/>
                <a:cs typeface="Arial" panose="020B0604020202020204" pitchFamily="34" charset="0"/>
              </a:rPr>
              <a:t> </a:t>
            </a:r>
            <a:r>
              <a:rPr lang="es-ES" sz="1400" err="1">
                <a:solidFill>
                  <a:schemeClr val="bg1"/>
                </a:solidFill>
                <a:latin typeface="Arial" panose="020B0604020202020204" pitchFamily="34" charset="0"/>
                <a:cs typeface="Arial" panose="020B0604020202020204" pitchFamily="34" charset="0"/>
              </a:rPr>
              <a:t>to</a:t>
            </a:r>
            <a:r>
              <a:rPr lang="es-ES" sz="1400">
                <a:solidFill>
                  <a:schemeClr val="bg1"/>
                </a:solidFill>
                <a:latin typeface="Arial" panose="020B0604020202020204" pitchFamily="34" charset="0"/>
                <a:cs typeface="Arial" panose="020B0604020202020204" pitchFamily="34" charset="0"/>
              </a:rPr>
              <a:t> </a:t>
            </a:r>
            <a:r>
              <a:rPr lang="es-ES" sz="1400" err="1">
                <a:solidFill>
                  <a:schemeClr val="bg1"/>
                </a:solidFill>
                <a:latin typeface="Arial" panose="020B0604020202020204" pitchFamily="34" charset="0"/>
                <a:cs typeface="Arial" panose="020B0604020202020204" pitchFamily="34" charset="0"/>
              </a:rPr>
              <a:t>end</a:t>
            </a:r>
            <a:r>
              <a:rPr lang="es-ES" sz="1400">
                <a:solidFill>
                  <a:schemeClr val="bg1"/>
                </a:solidFill>
                <a:latin typeface="Arial" panose="020B0604020202020204" pitchFamily="34" charset="0"/>
                <a:cs typeface="Arial" panose="020B0604020202020204" pitchFamily="34" charset="0"/>
              </a:rPr>
              <a:t>’ en alianza con las empresas que forman parte del grupo América Móvil, y mantenemos fuertes negociaciones y alianzas con los fabricantes número uno de tecnología. ​</a:t>
            </a:r>
            <a:endParaRPr lang="es-CO" sz="1400">
              <a:solidFill>
                <a:schemeClr val="bg1"/>
              </a:solidFill>
              <a:latin typeface="Arial" panose="020B0604020202020204" pitchFamily="34" charset="0"/>
              <a:cs typeface="Arial" panose="020B0604020202020204" pitchFamily="34" charset="0"/>
            </a:endParaRPr>
          </a:p>
        </p:txBody>
      </p:sp>
      <p:sp>
        <p:nvSpPr>
          <p:cNvPr id="22" name="Marcador de contenido 2">
            <a:extLst>
              <a:ext uri="{FF2B5EF4-FFF2-40B4-BE49-F238E27FC236}">
                <a16:creationId xmlns:a16="http://schemas.microsoft.com/office/drawing/2014/main" id="{281942C1-FFCF-F478-D5E4-08FDE426627C}"/>
              </a:ext>
            </a:extLst>
          </p:cNvPr>
          <p:cNvSpPr txBox="1">
            <a:spLocks/>
          </p:cNvSpPr>
          <p:nvPr/>
        </p:nvSpPr>
        <p:spPr>
          <a:xfrm>
            <a:off x="5335536" y="5009938"/>
            <a:ext cx="2903177" cy="887905"/>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100">
                <a:solidFill>
                  <a:schemeClr val="bg1"/>
                </a:solidFill>
                <a:latin typeface="Arial" panose="020B0604020202020204" pitchFamily="34" charset="0"/>
                <a:cs typeface="Arial" panose="020B0604020202020204" pitchFamily="34" charset="0"/>
              </a:rPr>
              <a:t>Somos una empresa que valora el talento humano, la diversidad, la innovación y el compromiso con los resultados. Contamos con más de 10.500 colaboradores en 9 países de América Latina.</a:t>
            </a:r>
            <a:endParaRPr lang="es-CO" sz="1100">
              <a:solidFill>
                <a:schemeClr val="bg1"/>
              </a:solidFill>
              <a:latin typeface="Arial" panose="020B0604020202020204" pitchFamily="34" charset="0"/>
              <a:cs typeface="Arial" panose="020B0604020202020204" pitchFamily="34" charset="0"/>
            </a:endParaRPr>
          </a:p>
        </p:txBody>
      </p:sp>
      <p:cxnSp>
        <p:nvCxnSpPr>
          <p:cNvPr id="24" name="Conector recto 23">
            <a:extLst>
              <a:ext uri="{FF2B5EF4-FFF2-40B4-BE49-F238E27FC236}">
                <a16:creationId xmlns:a16="http://schemas.microsoft.com/office/drawing/2014/main" id="{F548836B-DB0D-8DC2-F204-B12084569E30}"/>
              </a:ext>
            </a:extLst>
          </p:cNvPr>
          <p:cNvCxnSpPr/>
          <p:nvPr/>
        </p:nvCxnSpPr>
        <p:spPr>
          <a:xfrm>
            <a:off x="8494741" y="5009939"/>
            <a:ext cx="0" cy="814755"/>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5" name="Marcador de contenido 2">
            <a:extLst>
              <a:ext uri="{FF2B5EF4-FFF2-40B4-BE49-F238E27FC236}">
                <a16:creationId xmlns:a16="http://schemas.microsoft.com/office/drawing/2014/main" id="{434C56B5-BE7B-447B-8FDF-449A1D88F0E4}"/>
              </a:ext>
            </a:extLst>
          </p:cNvPr>
          <p:cNvSpPr txBox="1">
            <a:spLocks/>
          </p:cNvSpPr>
          <p:nvPr/>
        </p:nvSpPr>
        <p:spPr>
          <a:xfrm>
            <a:off x="8666794" y="4986203"/>
            <a:ext cx="2903177" cy="887905"/>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100">
                <a:solidFill>
                  <a:schemeClr val="bg1"/>
                </a:solidFill>
                <a:latin typeface="Arial" panose="020B0604020202020204" pitchFamily="34" charset="0"/>
                <a:cs typeface="Arial" panose="020B0604020202020204" pitchFamily="34" charset="0"/>
              </a:rPr>
              <a:t>Entregamos a nuestros clientes desde la capa de comunicaciones y procesamiento con nuestros </a:t>
            </a:r>
            <a:r>
              <a:rPr lang="es-ES" sz="1100" err="1">
                <a:solidFill>
                  <a:schemeClr val="bg1"/>
                </a:solidFill>
                <a:latin typeface="Arial" panose="020B0604020202020204" pitchFamily="34" charset="0"/>
                <a:cs typeface="Arial" panose="020B0604020202020204" pitchFamily="34" charset="0"/>
              </a:rPr>
              <a:t>datacenters</a:t>
            </a:r>
            <a:r>
              <a:rPr lang="es-ES" sz="1100">
                <a:solidFill>
                  <a:schemeClr val="bg1"/>
                </a:solidFill>
                <a:latin typeface="Arial" panose="020B0604020202020204" pitchFamily="34" charset="0"/>
                <a:cs typeface="Arial" panose="020B0604020202020204" pitchFamily="34" charset="0"/>
              </a:rPr>
              <a:t>, hasta la fábrica de software y consultoría para entregar soluciones robustas para su empresa.​</a:t>
            </a:r>
            <a:endParaRPr lang="es-CO" sz="1100">
              <a:solidFill>
                <a:schemeClr val="bg1"/>
              </a:solidFill>
              <a:latin typeface="Arial" panose="020B0604020202020204" pitchFamily="34" charset="0"/>
              <a:cs typeface="Arial" panose="020B0604020202020204" pitchFamily="34" charset="0"/>
            </a:endParaRPr>
          </a:p>
        </p:txBody>
      </p:sp>
      <p:pic>
        <p:nvPicPr>
          <p:cNvPr id="27" name="Gráfico 26">
            <a:extLst>
              <a:ext uri="{FF2B5EF4-FFF2-40B4-BE49-F238E27FC236}">
                <a16:creationId xmlns:a16="http://schemas.microsoft.com/office/drawing/2014/main" id="{DF4E1704-BBB7-6614-E26D-AFF255BBE08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394971" y="6173431"/>
            <a:ext cx="1552552" cy="438144"/>
          </a:xfrm>
          <a:prstGeom prst="rect">
            <a:avLst/>
          </a:prstGeom>
        </p:spPr>
      </p:pic>
      <p:pic>
        <p:nvPicPr>
          <p:cNvPr id="29" name="Gráfico 28">
            <a:extLst>
              <a:ext uri="{FF2B5EF4-FFF2-40B4-BE49-F238E27FC236}">
                <a16:creationId xmlns:a16="http://schemas.microsoft.com/office/drawing/2014/main" id="{80246F28-6B2E-90C7-EA93-A6186630BD8F}"/>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402930" y="6302980"/>
            <a:ext cx="1249376" cy="319962"/>
          </a:xfrm>
          <a:prstGeom prst="rect">
            <a:avLst/>
          </a:prstGeom>
        </p:spPr>
      </p:pic>
      <p:pic>
        <p:nvPicPr>
          <p:cNvPr id="31" name="Gráfico 30">
            <a:extLst>
              <a:ext uri="{FF2B5EF4-FFF2-40B4-BE49-F238E27FC236}">
                <a16:creationId xmlns:a16="http://schemas.microsoft.com/office/drawing/2014/main" id="{2130F2B6-C61C-9BF0-A22F-7DD918D20BD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186708" y="6213685"/>
            <a:ext cx="859223" cy="485647"/>
          </a:xfrm>
          <a:prstGeom prst="rect">
            <a:avLst/>
          </a:prstGeom>
        </p:spPr>
      </p:pic>
      <p:pic>
        <p:nvPicPr>
          <p:cNvPr id="33" name="Gráfico 32">
            <a:extLst>
              <a:ext uri="{FF2B5EF4-FFF2-40B4-BE49-F238E27FC236}">
                <a16:creationId xmlns:a16="http://schemas.microsoft.com/office/drawing/2014/main" id="{86A809C2-74E4-E56C-73F7-DB775716D8AB}"/>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413493" y="6329828"/>
            <a:ext cx="1282843" cy="281746"/>
          </a:xfrm>
          <a:prstGeom prst="rect">
            <a:avLst/>
          </a:prstGeom>
        </p:spPr>
      </p:pic>
      <p:sp>
        <p:nvSpPr>
          <p:cNvPr id="35" name="Marcador de contenido 2">
            <a:extLst>
              <a:ext uri="{FF2B5EF4-FFF2-40B4-BE49-F238E27FC236}">
                <a16:creationId xmlns:a16="http://schemas.microsoft.com/office/drawing/2014/main" id="{F5660871-1084-24A9-1FB0-0FC227392884}"/>
              </a:ext>
            </a:extLst>
          </p:cNvPr>
          <p:cNvSpPr txBox="1">
            <a:spLocks/>
          </p:cNvSpPr>
          <p:nvPr/>
        </p:nvSpPr>
        <p:spPr>
          <a:xfrm>
            <a:off x="495666" y="2732211"/>
            <a:ext cx="1543508" cy="856412"/>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2400" b="1">
                <a:solidFill>
                  <a:schemeClr val="bg1"/>
                </a:solidFill>
                <a:latin typeface="Arial" panose="020B0604020202020204" pitchFamily="34" charset="0"/>
                <a:cs typeface="Arial" panose="020B0604020202020204" pitchFamily="34" charset="0"/>
              </a:rPr>
              <a:t>Más de +11,500:</a:t>
            </a:r>
          </a:p>
        </p:txBody>
      </p:sp>
      <p:sp>
        <p:nvSpPr>
          <p:cNvPr id="36" name="Marcador de contenido 2">
            <a:extLst>
              <a:ext uri="{FF2B5EF4-FFF2-40B4-BE49-F238E27FC236}">
                <a16:creationId xmlns:a16="http://schemas.microsoft.com/office/drawing/2014/main" id="{24B901A8-6873-7ACC-7F7A-9D9D32ADAE34}"/>
              </a:ext>
            </a:extLst>
          </p:cNvPr>
          <p:cNvSpPr txBox="1">
            <a:spLocks/>
          </p:cNvSpPr>
          <p:nvPr/>
        </p:nvSpPr>
        <p:spPr>
          <a:xfrm>
            <a:off x="436541" y="3379515"/>
            <a:ext cx="2175057" cy="281134"/>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r>
              <a:rPr lang="es-ES" sz="1800" b="1">
                <a:solidFill>
                  <a:schemeClr val="bg1"/>
                </a:solidFill>
                <a:latin typeface="Arial" panose="020B0604020202020204" pitchFamily="34" charset="0"/>
                <a:cs typeface="Arial" panose="020B0604020202020204" pitchFamily="34" charset="0"/>
              </a:rPr>
              <a:t>colaboradores en:</a:t>
            </a:r>
          </a:p>
        </p:txBody>
      </p:sp>
      <p:pic>
        <p:nvPicPr>
          <p:cNvPr id="43" name="Gráfico 42">
            <a:extLst>
              <a:ext uri="{FF2B5EF4-FFF2-40B4-BE49-F238E27FC236}">
                <a16:creationId xmlns:a16="http://schemas.microsoft.com/office/drawing/2014/main" id="{130EC048-5DB0-31BE-8156-8B0EC7570335}"/>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28142" y="356561"/>
            <a:ext cx="2038431" cy="1627244"/>
          </a:xfrm>
          <a:prstGeom prst="rect">
            <a:avLst/>
          </a:prstGeom>
        </p:spPr>
      </p:pic>
      <p:sp>
        <p:nvSpPr>
          <p:cNvPr id="48" name="Marcador de contenido 2">
            <a:extLst>
              <a:ext uri="{FF2B5EF4-FFF2-40B4-BE49-F238E27FC236}">
                <a16:creationId xmlns:a16="http://schemas.microsoft.com/office/drawing/2014/main" id="{6413140C-51CE-0538-5B58-2825A61B9F77}"/>
              </a:ext>
            </a:extLst>
          </p:cNvPr>
          <p:cNvSpPr txBox="1">
            <a:spLocks/>
          </p:cNvSpPr>
          <p:nvPr/>
        </p:nvSpPr>
        <p:spPr>
          <a:xfrm>
            <a:off x="190310" y="525546"/>
            <a:ext cx="1216736" cy="941185"/>
          </a:xfrm>
          <a:prstGeom prst="rect">
            <a:avLst/>
          </a:prstGeom>
        </p:spPr>
        <p:txBody>
          <a:bodyPr vert="horz" lIns="91439" tIns="45719" rIns="91439" bIns="45719" rtlCol="0">
            <a:no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lnSpc>
                <a:spcPct val="100000"/>
              </a:lnSpc>
            </a:pPr>
            <a:r>
              <a:rPr lang="es-ES" sz="2800" b="1">
                <a:solidFill>
                  <a:schemeClr val="bg1"/>
                </a:solidFill>
                <a:latin typeface="Arial" panose="020B0604020202020204" pitchFamily="34" charset="0"/>
                <a:cs typeface="Arial" panose="020B0604020202020204" pitchFamily="34" charset="0"/>
              </a:rPr>
              <a:t>36 años</a:t>
            </a:r>
          </a:p>
        </p:txBody>
      </p:sp>
      <p:sp>
        <p:nvSpPr>
          <p:cNvPr id="50" name="CuadroTexto 49">
            <a:extLst>
              <a:ext uri="{FF2B5EF4-FFF2-40B4-BE49-F238E27FC236}">
                <a16:creationId xmlns:a16="http://schemas.microsoft.com/office/drawing/2014/main" id="{8FC08FEF-F9C5-4EB0-5F54-A19B76C2C30F}"/>
              </a:ext>
            </a:extLst>
          </p:cNvPr>
          <p:cNvSpPr txBox="1"/>
          <p:nvPr/>
        </p:nvSpPr>
        <p:spPr>
          <a:xfrm>
            <a:off x="166075" y="1361413"/>
            <a:ext cx="1216736" cy="369327"/>
          </a:xfrm>
          <a:prstGeom prst="rect">
            <a:avLst/>
          </a:prstGeom>
          <a:noFill/>
        </p:spPr>
        <p:txBody>
          <a:bodyPr wrap="square">
            <a:spAutoFit/>
          </a:bodyPr>
          <a:lstStyle>
            <a:defPPr>
              <a:defRPr lang="en-US"/>
            </a:defPPr>
            <a:lvl1pPr marL="0" algn="l" defTabSz="469453" rtl="0" eaLnBrk="1" latinLnBrk="0" hangingPunct="1">
              <a:defRPr sz="1848" kern="1200">
                <a:solidFill>
                  <a:schemeClr val="tx1"/>
                </a:solidFill>
                <a:latin typeface="+mn-lt"/>
                <a:ea typeface="+mn-ea"/>
                <a:cs typeface="+mn-cs"/>
              </a:defRPr>
            </a:lvl1pPr>
            <a:lvl2pPr marL="469453" algn="l" defTabSz="469453" rtl="0" eaLnBrk="1" latinLnBrk="0" hangingPunct="1">
              <a:defRPr sz="1848" kern="1200">
                <a:solidFill>
                  <a:schemeClr val="tx1"/>
                </a:solidFill>
                <a:latin typeface="+mn-lt"/>
                <a:ea typeface="+mn-ea"/>
                <a:cs typeface="+mn-cs"/>
              </a:defRPr>
            </a:lvl2pPr>
            <a:lvl3pPr marL="938906" algn="l" defTabSz="469453" rtl="0" eaLnBrk="1" latinLnBrk="0" hangingPunct="1">
              <a:defRPr sz="1848" kern="1200">
                <a:solidFill>
                  <a:schemeClr val="tx1"/>
                </a:solidFill>
                <a:latin typeface="+mn-lt"/>
                <a:ea typeface="+mn-ea"/>
                <a:cs typeface="+mn-cs"/>
              </a:defRPr>
            </a:lvl3pPr>
            <a:lvl4pPr marL="1408359" algn="l" defTabSz="469453" rtl="0" eaLnBrk="1" latinLnBrk="0" hangingPunct="1">
              <a:defRPr sz="1848" kern="1200">
                <a:solidFill>
                  <a:schemeClr val="tx1"/>
                </a:solidFill>
                <a:latin typeface="+mn-lt"/>
                <a:ea typeface="+mn-ea"/>
                <a:cs typeface="+mn-cs"/>
              </a:defRPr>
            </a:lvl4pPr>
            <a:lvl5pPr marL="1877812" algn="l" defTabSz="469453" rtl="0" eaLnBrk="1" latinLnBrk="0" hangingPunct="1">
              <a:defRPr sz="1848" kern="1200">
                <a:solidFill>
                  <a:schemeClr val="tx1"/>
                </a:solidFill>
                <a:latin typeface="+mn-lt"/>
                <a:ea typeface="+mn-ea"/>
                <a:cs typeface="+mn-cs"/>
              </a:defRPr>
            </a:lvl5pPr>
            <a:lvl6pPr marL="2347265" algn="l" defTabSz="469453" rtl="0" eaLnBrk="1" latinLnBrk="0" hangingPunct="1">
              <a:defRPr sz="1848" kern="1200">
                <a:solidFill>
                  <a:schemeClr val="tx1"/>
                </a:solidFill>
                <a:latin typeface="+mn-lt"/>
                <a:ea typeface="+mn-ea"/>
                <a:cs typeface="+mn-cs"/>
              </a:defRPr>
            </a:lvl6pPr>
            <a:lvl7pPr marL="2816718" algn="l" defTabSz="469453" rtl="0" eaLnBrk="1" latinLnBrk="0" hangingPunct="1">
              <a:defRPr sz="1848" kern="1200">
                <a:solidFill>
                  <a:schemeClr val="tx1"/>
                </a:solidFill>
                <a:latin typeface="+mn-lt"/>
                <a:ea typeface="+mn-ea"/>
                <a:cs typeface="+mn-cs"/>
              </a:defRPr>
            </a:lvl7pPr>
            <a:lvl8pPr marL="3286171" algn="l" defTabSz="469453" rtl="0" eaLnBrk="1" latinLnBrk="0" hangingPunct="1">
              <a:defRPr sz="1848" kern="1200">
                <a:solidFill>
                  <a:schemeClr val="tx1"/>
                </a:solidFill>
                <a:latin typeface="+mn-lt"/>
                <a:ea typeface="+mn-ea"/>
                <a:cs typeface="+mn-cs"/>
              </a:defRPr>
            </a:lvl8pPr>
            <a:lvl9pPr marL="3755624" algn="l" defTabSz="469453" rtl="0" eaLnBrk="1" latinLnBrk="0" hangingPunct="1">
              <a:defRPr sz="1848" kern="1200">
                <a:solidFill>
                  <a:schemeClr val="tx1"/>
                </a:solidFill>
                <a:latin typeface="+mn-lt"/>
                <a:ea typeface="+mn-ea"/>
                <a:cs typeface="+mn-cs"/>
              </a:defRPr>
            </a:lvl9pPr>
          </a:lstStyle>
          <a:p>
            <a:pPr algn="l">
              <a:lnSpc>
                <a:spcPct val="100000"/>
              </a:lnSpc>
            </a:pPr>
            <a:r>
              <a:rPr lang="es-ES" sz="1800" b="1">
                <a:solidFill>
                  <a:schemeClr val="bg1"/>
                </a:solidFill>
                <a:latin typeface="Arial" panose="020B0604020202020204" pitchFamily="34" charset="0"/>
                <a:cs typeface="Arial" panose="020B0604020202020204" pitchFamily="34" charset="0"/>
              </a:rPr>
              <a:t>De </a:t>
            </a:r>
            <a:r>
              <a:rPr lang="es-ES" sz="1800" b="1" err="1">
                <a:solidFill>
                  <a:schemeClr val="bg1"/>
                </a:solidFill>
                <a:latin typeface="Arial" panose="020B0604020202020204" pitchFamily="34" charset="0"/>
                <a:cs typeface="Arial" panose="020B0604020202020204" pitchFamily="34" charset="0"/>
              </a:rPr>
              <a:t>Exp</a:t>
            </a:r>
            <a:r>
              <a:rPr lang="es-ES" sz="1800" b="1">
                <a:solidFill>
                  <a:schemeClr val="bg1"/>
                </a:solidFill>
                <a:latin typeface="Arial" panose="020B0604020202020204" pitchFamily="34" charset="0"/>
                <a:cs typeface="Arial" panose="020B0604020202020204" pitchFamily="34" charset="0"/>
              </a:rPr>
              <a:t>.</a:t>
            </a:r>
          </a:p>
        </p:txBody>
      </p:sp>
      <p:pic>
        <p:nvPicPr>
          <p:cNvPr id="52" name="Gráfico 51">
            <a:extLst>
              <a:ext uri="{FF2B5EF4-FFF2-40B4-BE49-F238E27FC236}">
                <a16:creationId xmlns:a16="http://schemas.microsoft.com/office/drawing/2014/main" id="{D2894AEA-D841-9FCB-14A0-E1A67E32DACA}"/>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436540" y="3830020"/>
            <a:ext cx="2050019" cy="1560740"/>
          </a:xfrm>
          <a:prstGeom prst="rect">
            <a:avLst/>
          </a:prstGeom>
        </p:spPr>
      </p:pic>
    </p:spTree>
    <p:extLst>
      <p:ext uri="{BB962C8B-B14F-4D97-AF65-F5344CB8AC3E}">
        <p14:creationId xmlns:p14="http://schemas.microsoft.com/office/powerpoint/2010/main" val="3808506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3" name="TextBox 3"/>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sp>
        <p:nvSpPr>
          <p:cNvPr id="5" name="TextBox 5"/>
          <p:cNvSpPr txBox="1"/>
          <p:nvPr/>
        </p:nvSpPr>
        <p:spPr>
          <a:xfrm>
            <a:off x="981752" y="4420608"/>
            <a:ext cx="1886693" cy="529760"/>
          </a:xfrm>
          <a:prstGeom prst="rect">
            <a:avLst/>
          </a:prstGeom>
        </p:spPr>
        <p:txBody>
          <a:bodyPr lIns="0" tIns="0" rIns="0" bIns="0" rtlCol="0" anchor="t">
            <a:spAutoFit/>
          </a:bodyPr>
          <a:lstStyle/>
          <a:p>
            <a:pPr algn="ctr">
              <a:lnSpc>
                <a:spcPts val="2219"/>
              </a:lnSpc>
            </a:pPr>
            <a:r>
              <a:rPr lang="en-US" sz="1233" b="1" spc="308">
                <a:solidFill>
                  <a:srgbClr val="44546A"/>
                </a:solidFill>
                <a:latin typeface="Arial Bold"/>
                <a:ea typeface="Arial Bold"/>
                <a:cs typeface="Arial Bold"/>
                <a:sym typeface="Arial Bold"/>
              </a:rPr>
              <a:t>ESTRATEGIA Y CONSULTORÍA</a:t>
            </a:r>
          </a:p>
        </p:txBody>
      </p:sp>
      <p:sp>
        <p:nvSpPr>
          <p:cNvPr id="6" name="TextBox 6"/>
          <p:cNvSpPr txBox="1"/>
          <p:nvPr/>
        </p:nvSpPr>
        <p:spPr>
          <a:xfrm>
            <a:off x="685800" y="5073180"/>
            <a:ext cx="2478597" cy="811889"/>
          </a:xfrm>
          <a:prstGeom prst="rect">
            <a:avLst/>
          </a:prstGeom>
        </p:spPr>
        <p:txBody>
          <a:bodyPr lIns="0" tIns="0" rIns="0" bIns="0" rtlCol="0" anchor="t">
            <a:spAutoFit/>
          </a:bodyPr>
          <a:lstStyle/>
          <a:p>
            <a:pPr algn="ctr">
              <a:lnSpc>
                <a:spcPts val="2157"/>
              </a:lnSpc>
            </a:pPr>
            <a:r>
              <a:rPr lang="en-US" sz="1233" spc="-5">
                <a:solidFill>
                  <a:srgbClr val="3A3838"/>
                </a:solidFill>
                <a:latin typeface="Arial"/>
                <a:ea typeface="Arial"/>
                <a:cs typeface="Arial"/>
                <a:sym typeface="Arial"/>
              </a:rPr>
              <a:t>Creamos Ecosistemas Digitales Integrados. Acompañamos y cocreamos soluciones.</a:t>
            </a:r>
          </a:p>
        </p:txBody>
      </p:sp>
      <p:sp>
        <p:nvSpPr>
          <p:cNvPr id="7" name="TextBox 7"/>
          <p:cNvSpPr txBox="1"/>
          <p:nvPr/>
        </p:nvSpPr>
        <p:spPr>
          <a:xfrm>
            <a:off x="4049306" y="4469619"/>
            <a:ext cx="1690740" cy="247632"/>
          </a:xfrm>
          <a:prstGeom prst="rect">
            <a:avLst/>
          </a:prstGeom>
        </p:spPr>
        <p:txBody>
          <a:bodyPr lIns="0" tIns="0" rIns="0" bIns="0" rtlCol="0" anchor="t">
            <a:spAutoFit/>
          </a:bodyPr>
          <a:lstStyle/>
          <a:p>
            <a:pPr algn="ctr">
              <a:lnSpc>
                <a:spcPts val="2219"/>
              </a:lnSpc>
            </a:pPr>
            <a:r>
              <a:rPr lang="en-US" sz="1233" b="1" spc="308">
                <a:solidFill>
                  <a:srgbClr val="44546A"/>
                </a:solidFill>
                <a:latin typeface="Arial Bold"/>
                <a:ea typeface="Arial Bold"/>
                <a:cs typeface="Arial Bold"/>
                <a:sym typeface="Arial Bold"/>
              </a:rPr>
              <a:t>ECOSISTEMA</a:t>
            </a:r>
          </a:p>
        </p:txBody>
      </p:sp>
      <p:sp>
        <p:nvSpPr>
          <p:cNvPr id="8" name="TextBox 8"/>
          <p:cNvSpPr txBox="1"/>
          <p:nvPr/>
        </p:nvSpPr>
        <p:spPr>
          <a:xfrm>
            <a:off x="3619397" y="5073180"/>
            <a:ext cx="2478597" cy="1094017"/>
          </a:xfrm>
          <a:prstGeom prst="rect">
            <a:avLst/>
          </a:prstGeom>
        </p:spPr>
        <p:txBody>
          <a:bodyPr lIns="0" tIns="0" rIns="0" bIns="0" rtlCol="0" anchor="t">
            <a:spAutoFit/>
          </a:bodyPr>
          <a:lstStyle/>
          <a:p>
            <a:pPr algn="ctr">
              <a:lnSpc>
                <a:spcPts val="2157"/>
              </a:lnSpc>
            </a:pPr>
            <a:r>
              <a:rPr lang="en-US" sz="1233" spc="-5">
                <a:solidFill>
                  <a:srgbClr val="3A3838"/>
                </a:solidFill>
                <a:latin typeface="Arial"/>
                <a:ea typeface="Arial"/>
                <a:cs typeface="Arial"/>
                <a:sym typeface="Arial"/>
              </a:rPr>
              <a:t>Contamos con capacidades de Telco, TI, Soluciones Digitales,</a:t>
            </a:r>
          </a:p>
          <a:p>
            <a:pPr algn="ctr">
              <a:lnSpc>
                <a:spcPts val="2157"/>
              </a:lnSpc>
            </a:pPr>
            <a:r>
              <a:rPr lang="en-US" sz="1233" spc="-5">
                <a:solidFill>
                  <a:srgbClr val="3A3838"/>
                </a:solidFill>
                <a:latin typeface="Arial"/>
                <a:ea typeface="Arial"/>
                <a:cs typeface="Arial"/>
                <a:sym typeface="Arial"/>
              </a:rPr>
              <a:t>y socios de negocios globales líderes.</a:t>
            </a:r>
          </a:p>
        </p:txBody>
      </p:sp>
      <p:sp>
        <p:nvSpPr>
          <p:cNvPr id="9" name="TextBox 9"/>
          <p:cNvSpPr txBox="1"/>
          <p:nvPr/>
        </p:nvSpPr>
        <p:spPr>
          <a:xfrm>
            <a:off x="6873634" y="4469619"/>
            <a:ext cx="1782541" cy="247632"/>
          </a:xfrm>
          <a:prstGeom prst="rect">
            <a:avLst/>
          </a:prstGeom>
        </p:spPr>
        <p:txBody>
          <a:bodyPr lIns="0" tIns="0" rIns="0" bIns="0" rtlCol="0" anchor="t">
            <a:spAutoFit/>
          </a:bodyPr>
          <a:lstStyle/>
          <a:p>
            <a:pPr algn="ctr">
              <a:lnSpc>
                <a:spcPts val="2219"/>
              </a:lnSpc>
            </a:pPr>
            <a:r>
              <a:rPr lang="en-US" sz="1233" b="1" spc="308">
                <a:solidFill>
                  <a:srgbClr val="44546A"/>
                </a:solidFill>
                <a:latin typeface="Arial Bold"/>
                <a:ea typeface="Arial Bold"/>
                <a:cs typeface="Arial Bold"/>
                <a:sym typeface="Arial Bold"/>
              </a:rPr>
              <a:t>INNOVACIÓN</a:t>
            </a:r>
          </a:p>
        </p:txBody>
      </p:sp>
      <p:sp>
        <p:nvSpPr>
          <p:cNvPr id="10" name="TextBox 10"/>
          <p:cNvSpPr txBox="1"/>
          <p:nvPr/>
        </p:nvSpPr>
        <p:spPr>
          <a:xfrm>
            <a:off x="6544760" y="5073180"/>
            <a:ext cx="2478597" cy="529760"/>
          </a:xfrm>
          <a:prstGeom prst="rect">
            <a:avLst/>
          </a:prstGeom>
        </p:spPr>
        <p:txBody>
          <a:bodyPr lIns="0" tIns="0" rIns="0" bIns="0" rtlCol="0" anchor="t">
            <a:spAutoFit/>
          </a:bodyPr>
          <a:lstStyle/>
          <a:p>
            <a:pPr algn="ctr">
              <a:lnSpc>
                <a:spcPts val="2157"/>
              </a:lnSpc>
            </a:pPr>
            <a:r>
              <a:rPr lang="en-US" sz="1233" spc="-5">
                <a:solidFill>
                  <a:srgbClr val="3A3838"/>
                </a:solidFill>
                <a:latin typeface="Arial"/>
                <a:ea typeface="Arial"/>
                <a:cs typeface="Arial"/>
                <a:sym typeface="Arial"/>
              </a:rPr>
              <a:t>Capturamos más oportunidades de negocios para nuestros clientes.</a:t>
            </a:r>
          </a:p>
        </p:txBody>
      </p:sp>
      <p:sp>
        <p:nvSpPr>
          <p:cNvPr id="11" name="TextBox 11"/>
          <p:cNvSpPr txBox="1"/>
          <p:nvPr/>
        </p:nvSpPr>
        <p:spPr>
          <a:xfrm>
            <a:off x="9702057" y="4420608"/>
            <a:ext cx="2258954" cy="529760"/>
          </a:xfrm>
          <a:prstGeom prst="rect">
            <a:avLst/>
          </a:prstGeom>
        </p:spPr>
        <p:txBody>
          <a:bodyPr lIns="0" tIns="0" rIns="0" bIns="0" rtlCol="0" anchor="t">
            <a:spAutoFit/>
          </a:bodyPr>
          <a:lstStyle/>
          <a:p>
            <a:pPr algn="ctr">
              <a:lnSpc>
                <a:spcPts val="2219"/>
              </a:lnSpc>
            </a:pPr>
            <a:r>
              <a:rPr lang="en-US" sz="1233" b="1" spc="308">
                <a:solidFill>
                  <a:srgbClr val="44546A"/>
                </a:solidFill>
                <a:latin typeface="Arial Bold"/>
                <a:ea typeface="Arial Bold"/>
                <a:cs typeface="Arial Bold"/>
                <a:sym typeface="Arial Bold"/>
              </a:rPr>
              <a:t>ORGANIZACIONES</a:t>
            </a:r>
          </a:p>
          <a:p>
            <a:pPr algn="ctr">
              <a:lnSpc>
                <a:spcPts val="2219"/>
              </a:lnSpc>
            </a:pPr>
            <a:r>
              <a:rPr lang="en-US" sz="1233" b="1" spc="308">
                <a:solidFill>
                  <a:srgbClr val="44546A"/>
                </a:solidFill>
                <a:latin typeface="Arial Bold"/>
                <a:ea typeface="Arial Bold"/>
                <a:cs typeface="Arial Bold"/>
                <a:sym typeface="Arial Bold"/>
              </a:rPr>
              <a:t>DIGITALES</a:t>
            </a:r>
          </a:p>
        </p:txBody>
      </p:sp>
      <p:sp>
        <p:nvSpPr>
          <p:cNvPr id="12" name="TextBox 12"/>
          <p:cNvSpPr txBox="1"/>
          <p:nvPr/>
        </p:nvSpPr>
        <p:spPr>
          <a:xfrm>
            <a:off x="9482414" y="5073180"/>
            <a:ext cx="2478597" cy="811889"/>
          </a:xfrm>
          <a:prstGeom prst="rect">
            <a:avLst/>
          </a:prstGeom>
        </p:spPr>
        <p:txBody>
          <a:bodyPr lIns="0" tIns="0" rIns="0" bIns="0" rtlCol="0" anchor="t">
            <a:spAutoFit/>
          </a:bodyPr>
          <a:lstStyle/>
          <a:p>
            <a:pPr algn="ctr">
              <a:lnSpc>
                <a:spcPts val="2157"/>
              </a:lnSpc>
            </a:pPr>
            <a:r>
              <a:rPr lang="en-US" sz="1233" spc="-5">
                <a:solidFill>
                  <a:srgbClr val="3A3838"/>
                </a:solidFill>
                <a:latin typeface="Arial"/>
                <a:ea typeface="Arial"/>
                <a:cs typeface="Arial"/>
                <a:sym typeface="Arial"/>
              </a:rPr>
              <a:t>Colaboramos en el ingreso exitoso de negocios e instituciones en el mundo digital.</a:t>
            </a:r>
          </a:p>
        </p:txBody>
      </p:sp>
      <p:sp>
        <p:nvSpPr>
          <p:cNvPr id="13" name="Freeform 13"/>
          <p:cNvSpPr/>
          <p:nvPr/>
        </p:nvSpPr>
        <p:spPr>
          <a:xfrm>
            <a:off x="978399" y="3724528"/>
            <a:ext cx="10671939" cy="759301"/>
          </a:xfrm>
          <a:custGeom>
            <a:avLst/>
            <a:gdLst/>
            <a:ahLst/>
            <a:cxnLst/>
            <a:rect l="l" t="t" r="r" b="b"/>
            <a:pathLst>
              <a:path w="16007909" h="1138952">
                <a:moveTo>
                  <a:pt x="0" y="0"/>
                </a:moveTo>
                <a:lnTo>
                  <a:pt x="16007909" y="0"/>
                </a:lnTo>
                <a:lnTo>
                  <a:pt x="16007909" y="1138952"/>
                </a:lnTo>
                <a:lnTo>
                  <a:pt x="0" y="1138952"/>
                </a:lnTo>
                <a:lnTo>
                  <a:pt x="0" y="0"/>
                </a:lnTo>
                <a:close/>
              </a:path>
            </a:pathLst>
          </a:custGeom>
          <a:blipFill>
            <a:blip r:embed="rId3"/>
            <a:stretch>
              <a:fillRect/>
            </a:stretch>
          </a:blipFill>
        </p:spPr>
        <p:txBody>
          <a:bodyPr/>
          <a:lstStyle/>
          <a:p>
            <a:endParaRPr lang="es-CO" sz="1200"/>
          </a:p>
        </p:txBody>
      </p:sp>
      <p:sp>
        <p:nvSpPr>
          <p:cNvPr id="14" name="Freeform 14"/>
          <p:cNvSpPr/>
          <p:nvPr/>
        </p:nvSpPr>
        <p:spPr>
          <a:xfrm>
            <a:off x="9813893" y="2115394"/>
            <a:ext cx="1753925" cy="1753925"/>
          </a:xfrm>
          <a:custGeom>
            <a:avLst/>
            <a:gdLst/>
            <a:ahLst/>
            <a:cxnLst/>
            <a:rect l="l" t="t" r="r" b="b"/>
            <a:pathLst>
              <a:path w="2630888" h="2630888">
                <a:moveTo>
                  <a:pt x="0" y="0"/>
                </a:moveTo>
                <a:lnTo>
                  <a:pt x="2630888" y="0"/>
                </a:lnTo>
                <a:lnTo>
                  <a:pt x="2630888" y="2630889"/>
                </a:lnTo>
                <a:lnTo>
                  <a:pt x="0" y="2630889"/>
                </a:lnTo>
                <a:lnTo>
                  <a:pt x="0" y="0"/>
                </a:lnTo>
                <a:close/>
              </a:path>
            </a:pathLst>
          </a:custGeom>
          <a:blipFill>
            <a:blip r:embed="rId4"/>
            <a:stretch>
              <a:fillRect/>
            </a:stretch>
          </a:blipFill>
        </p:spPr>
        <p:txBody>
          <a:bodyPr/>
          <a:lstStyle/>
          <a:p>
            <a:endParaRPr lang="es-CO" sz="1200"/>
          </a:p>
        </p:txBody>
      </p:sp>
      <p:sp>
        <p:nvSpPr>
          <p:cNvPr id="15" name="Freeform 15"/>
          <p:cNvSpPr/>
          <p:nvPr/>
        </p:nvSpPr>
        <p:spPr>
          <a:xfrm>
            <a:off x="6902250" y="2115394"/>
            <a:ext cx="1753925" cy="1753925"/>
          </a:xfrm>
          <a:custGeom>
            <a:avLst/>
            <a:gdLst/>
            <a:ahLst/>
            <a:cxnLst/>
            <a:rect l="l" t="t" r="r" b="b"/>
            <a:pathLst>
              <a:path w="2630888" h="2630888">
                <a:moveTo>
                  <a:pt x="0" y="0"/>
                </a:moveTo>
                <a:lnTo>
                  <a:pt x="2630889" y="0"/>
                </a:lnTo>
                <a:lnTo>
                  <a:pt x="2630889" y="2630889"/>
                </a:lnTo>
                <a:lnTo>
                  <a:pt x="0" y="2630889"/>
                </a:lnTo>
                <a:lnTo>
                  <a:pt x="0" y="0"/>
                </a:lnTo>
                <a:close/>
              </a:path>
            </a:pathLst>
          </a:custGeom>
          <a:blipFill>
            <a:blip r:embed="rId5"/>
            <a:stretch>
              <a:fillRect/>
            </a:stretch>
          </a:blipFill>
        </p:spPr>
        <p:txBody>
          <a:bodyPr/>
          <a:lstStyle/>
          <a:p>
            <a:endParaRPr lang="es-CO" sz="1200"/>
          </a:p>
        </p:txBody>
      </p:sp>
      <p:sp>
        <p:nvSpPr>
          <p:cNvPr id="16" name="Freeform 16"/>
          <p:cNvSpPr/>
          <p:nvPr/>
        </p:nvSpPr>
        <p:spPr>
          <a:xfrm>
            <a:off x="3986120" y="2115394"/>
            <a:ext cx="1753925" cy="1753925"/>
          </a:xfrm>
          <a:custGeom>
            <a:avLst/>
            <a:gdLst/>
            <a:ahLst/>
            <a:cxnLst/>
            <a:rect l="l" t="t" r="r" b="b"/>
            <a:pathLst>
              <a:path w="2630888" h="2630888">
                <a:moveTo>
                  <a:pt x="0" y="0"/>
                </a:moveTo>
                <a:lnTo>
                  <a:pt x="2630889" y="0"/>
                </a:lnTo>
                <a:lnTo>
                  <a:pt x="2630889" y="2630889"/>
                </a:lnTo>
                <a:lnTo>
                  <a:pt x="0" y="2630889"/>
                </a:lnTo>
                <a:lnTo>
                  <a:pt x="0" y="0"/>
                </a:lnTo>
                <a:close/>
              </a:path>
            </a:pathLst>
          </a:custGeom>
          <a:blipFill>
            <a:blip r:embed="rId6"/>
            <a:stretch>
              <a:fillRect/>
            </a:stretch>
          </a:blipFill>
        </p:spPr>
        <p:txBody>
          <a:bodyPr/>
          <a:lstStyle/>
          <a:p>
            <a:endParaRPr lang="es-CO" sz="1200"/>
          </a:p>
        </p:txBody>
      </p:sp>
      <p:sp>
        <p:nvSpPr>
          <p:cNvPr id="17" name="Freeform 17"/>
          <p:cNvSpPr/>
          <p:nvPr/>
        </p:nvSpPr>
        <p:spPr>
          <a:xfrm>
            <a:off x="1059176" y="2115112"/>
            <a:ext cx="1753925" cy="1753925"/>
          </a:xfrm>
          <a:custGeom>
            <a:avLst/>
            <a:gdLst/>
            <a:ahLst/>
            <a:cxnLst/>
            <a:rect l="l" t="t" r="r" b="b"/>
            <a:pathLst>
              <a:path w="2630888" h="2630888">
                <a:moveTo>
                  <a:pt x="0" y="0"/>
                </a:moveTo>
                <a:lnTo>
                  <a:pt x="2630889" y="0"/>
                </a:lnTo>
                <a:lnTo>
                  <a:pt x="2630889" y="2630889"/>
                </a:lnTo>
                <a:lnTo>
                  <a:pt x="0" y="2630889"/>
                </a:lnTo>
                <a:lnTo>
                  <a:pt x="0" y="0"/>
                </a:lnTo>
                <a:close/>
              </a:path>
            </a:pathLst>
          </a:custGeom>
          <a:blipFill>
            <a:blip r:embed="rId7"/>
            <a:stretch>
              <a:fillRect/>
            </a:stretch>
          </a:blipFill>
        </p:spPr>
        <p:txBody>
          <a:bodyPr/>
          <a:lstStyle/>
          <a:p>
            <a:endParaRPr lang="es-CO" sz="1200"/>
          </a:p>
        </p:txBody>
      </p:sp>
      <p:sp>
        <p:nvSpPr>
          <p:cNvPr id="18" name="TextBox 18"/>
          <p:cNvSpPr txBox="1"/>
          <p:nvPr/>
        </p:nvSpPr>
        <p:spPr>
          <a:xfrm>
            <a:off x="696498" y="1139257"/>
            <a:ext cx="6066322" cy="371897"/>
          </a:xfrm>
          <a:prstGeom prst="rect">
            <a:avLst/>
          </a:prstGeom>
        </p:spPr>
        <p:txBody>
          <a:bodyPr lIns="0" tIns="0" rIns="0" bIns="0" rtlCol="0" anchor="t">
            <a:spAutoFit/>
          </a:bodyPr>
          <a:lstStyle/>
          <a:p>
            <a:pPr>
              <a:lnSpc>
                <a:spcPts val="2879"/>
              </a:lnSpc>
            </a:pPr>
            <a:r>
              <a:rPr lang="en-US" sz="2666" b="1" spc="-13">
                <a:solidFill>
                  <a:srgbClr val="007881"/>
                </a:solidFill>
                <a:latin typeface="Arial Bold"/>
                <a:ea typeface="Arial Bold"/>
                <a:cs typeface="Arial Bold"/>
                <a:sym typeface="Arial Bold"/>
              </a:rPr>
              <a:t>Propuesta de Valor</a:t>
            </a:r>
          </a:p>
        </p:txBody>
      </p:sp>
      <p:pic>
        <p:nvPicPr>
          <p:cNvPr id="21" name="Imagen 20" descr="Forma&#10;&#10;Descripción generada automáticamente">
            <a:extLst>
              <a:ext uri="{FF2B5EF4-FFF2-40B4-BE49-F238E27FC236}">
                <a16:creationId xmlns:a16="http://schemas.microsoft.com/office/drawing/2014/main" id="{45FF1EC4-FB54-70FD-30AB-AF70AAF140C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059786" y="6719493"/>
            <a:ext cx="2132214" cy="146964"/>
          </a:xfrm>
          <a:prstGeom prst="rect">
            <a:avLst/>
          </a:prstGeom>
        </p:spPr>
      </p:pic>
      <p:pic>
        <p:nvPicPr>
          <p:cNvPr id="22" name="Imagen 21">
            <a:extLst>
              <a:ext uri="{FF2B5EF4-FFF2-40B4-BE49-F238E27FC236}">
                <a16:creationId xmlns:a16="http://schemas.microsoft.com/office/drawing/2014/main" id="{24853A24-09B6-878A-BEAD-109A4E792C97}"/>
              </a:ext>
            </a:extLst>
          </p:cNvPr>
          <p:cNvPicPr>
            <a:picLocks noChangeAspect="1"/>
          </p:cNvPicPr>
          <p:nvPr/>
        </p:nvPicPr>
        <p:blipFill>
          <a:blip r:embed="rId9"/>
          <a:stretch>
            <a:fillRect/>
          </a:stretch>
        </p:blipFill>
        <p:spPr>
          <a:xfrm>
            <a:off x="10063773" y="6231130"/>
            <a:ext cx="2135674" cy="540000"/>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369" r="-1369"/>
            </a:stretch>
          </a:blipFill>
        </p:spPr>
        <p:txBody>
          <a:bodyPr/>
          <a:lstStyle/>
          <a:p>
            <a:endParaRPr lang="es-CO" sz="1200"/>
          </a:p>
        </p:txBody>
      </p:sp>
      <p:grpSp>
        <p:nvGrpSpPr>
          <p:cNvPr id="3" name="Group 3"/>
          <p:cNvGrpSpPr/>
          <p:nvPr/>
        </p:nvGrpSpPr>
        <p:grpSpPr>
          <a:xfrm>
            <a:off x="-259237" y="-141402"/>
            <a:ext cx="12709688" cy="7265709"/>
            <a:chOff x="0" y="0"/>
            <a:chExt cx="5021111" cy="2870404"/>
          </a:xfrm>
        </p:grpSpPr>
        <p:sp>
          <p:nvSpPr>
            <p:cNvPr id="4" name="Freeform 4"/>
            <p:cNvSpPr/>
            <p:nvPr/>
          </p:nvSpPr>
          <p:spPr>
            <a:xfrm>
              <a:off x="0" y="0"/>
              <a:ext cx="5021111" cy="2870403"/>
            </a:xfrm>
            <a:custGeom>
              <a:avLst/>
              <a:gdLst/>
              <a:ahLst/>
              <a:cxnLst/>
              <a:rect l="l" t="t" r="r" b="b"/>
              <a:pathLst>
                <a:path w="5021111" h="2870403">
                  <a:moveTo>
                    <a:pt x="0" y="0"/>
                  </a:moveTo>
                  <a:lnTo>
                    <a:pt x="5021111" y="0"/>
                  </a:lnTo>
                  <a:lnTo>
                    <a:pt x="5021111" y="2870403"/>
                  </a:lnTo>
                  <a:lnTo>
                    <a:pt x="0" y="2870403"/>
                  </a:lnTo>
                  <a:close/>
                </a:path>
              </a:pathLst>
            </a:custGeom>
            <a:solidFill>
              <a:srgbClr val="1B2434">
                <a:alpha val="87843"/>
              </a:srgbClr>
            </a:solidFill>
          </p:spPr>
          <p:txBody>
            <a:bodyPr/>
            <a:lstStyle/>
            <a:p>
              <a:endParaRPr lang="es-CO" sz="1200"/>
            </a:p>
          </p:txBody>
        </p:sp>
        <p:sp>
          <p:nvSpPr>
            <p:cNvPr id="5" name="TextBox 5"/>
            <p:cNvSpPr txBox="1"/>
            <p:nvPr/>
          </p:nvSpPr>
          <p:spPr>
            <a:xfrm>
              <a:off x="0" y="-47625"/>
              <a:ext cx="5021111" cy="2918029"/>
            </a:xfrm>
            <a:prstGeom prst="rect">
              <a:avLst/>
            </a:prstGeom>
          </p:spPr>
          <p:txBody>
            <a:bodyPr lIns="33867" tIns="33867" rIns="33867" bIns="33867" rtlCol="0" anchor="ctr"/>
            <a:lstStyle/>
            <a:p>
              <a:pPr algn="ctr">
                <a:lnSpc>
                  <a:spcPts val="1773"/>
                </a:lnSpc>
              </a:pPr>
              <a:endParaRPr sz="1200"/>
            </a:p>
          </p:txBody>
        </p:sp>
      </p:grpSp>
      <p:grpSp>
        <p:nvGrpSpPr>
          <p:cNvPr id="6" name="Group 6"/>
          <p:cNvGrpSpPr/>
          <p:nvPr/>
        </p:nvGrpSpPr>
        <p:grpSpPr>
          <a:xfrm>
            <a:off x="9012572" y="4027729"/>
            <a:ext cx="1416815" cy="141681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7071" r="-27071"/>
              </a:stretch>
            </a:blipFill>
            <a:ln w="38100" cap="sq">
              <a:solidFill>
                <a:srgbClr val="FFFFFF"/>
              </a:solidFill>
              <a:prstDash val="solid"/>
              <a:miter/>
            </a:ln>
          </p:spPr>
          <p:txBody>
            <a:bodyPr/>
            <a:lstStyle/>
            <a:p>
              <a:endParaRPr lang="es-CO" sz="1200"/>
            </a:p>
          </p:txBody>
        </p:sp>
      </p:grpSp>
      <p:grpSp>
        <p:nvGrpSpPr>
          <p:cNvPr id="8" name="Group 8"/>
          <p:cNvGrpSpPr/>
          <p:nvPr/>
        </p:nvGrpSpPr>
        <p:grpSpPr>
          <a:xfrm>
            <a:off x="7221761" y="2859530"/>
            <a:ext cx="1790811" cy="179081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25046" r="-25046"/>
              </a:stretch>
            </a:blipFill>
            <a:ln w="47625" cap="sq">
              <a:solidFill>
                <a:srgbClr val="FFFFFF"/>
              </a:solidFill>
              <a:prstDash val="solid"/>
              <a:miter/>
            </a:ln>
          </p:spPr>
          <p:txBody>
            <a:bodyPr/>
            <a:lstStyle/>
            <a:p>
              <a:endParaRPr lang="es-CO" sz="1200"/>
            </a:p>
          </p:txBody>
        </p:sp>
      </p:grpSp>
      <p:sp>
        <p:nvSpPr>
          <p:cNvPr id="10" name="Freeform 10"/>
          <p:cNvSpPr/>
          <p:nvPr/>
        </p:nvSpPr>
        <p:spPr>
          <a:xfrm>
            <a:off x="6960144" y="4856232"/>
            <a:ext cx="1764153" cy="1811710"/>
          </a:xfrm>
          <a:custGeom>
            <a:avLst/>
            <a:gdLst/>
            <a:ahLst/>
            <a:cxnLst/>
            <a:rect l="l" t="t" r="r" b="b"/>
            <a:pathLst>
              <a:path w="2646229" h="2717565">
                <a:moveTo>
                  <a:pt x="0" y="0"/>
                </a:moveTo>
                <a:lnTo>
                  <a:pt x="2646229" y="0"/>
                </a:lnTo>
                <a:lnTo>
                  <a:pt x="2646229" y="2717565"/>
                </a:lnTo>
                <a:lnTo>
                  <a:pt x="0" y="271756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CO" sz="1200"/>
          </a:p>
        </p:txBody>
      </p:sp>
      <p:grpSp>
        <p:nvGrpSpPr>
          <p:cNvPr id="11" name="Group 11"/>
          <p:cNvGrpSpPr/>
          <p:nvPr/>
        </p:nvGrpSpPr>
        <p:grpSpPr>
          <a:xfrm>
            <a:off x="7193102" y="5112968"/>
            <a:ext cx="1298237" cy="1298237"/>
            <a:chOff x="0" y="0"/>
            <a:chExt cx="812800" cy="812800"/>
          </a:xfrm>
        </p:grpSpPr>
        <p:sp>
          <p:nvSpPr>
            <p:cNvPr id="12" name="Freeform 12"/>
            <p:cNvSpPr/>
            <p:nvPr/>
          </p:nvSpPr>
          <p:spPr>
            <a:xfrm flipH="1">
              <a:off x="0" y="0"/>
              <a:ext cx="812800" cy="812800"/>
            </a:xfrm>
            <a:custGeom>
              <a:avLst/>
              <a:gdLst/>
              <a:ahLst/>
              <a:cxnLst/>
              <a:rect l="l" t="t" r="r" b="b"/>
              <a:pathLst>
                <a:path w="812800" h="812800">
                  <a:moveTo>
                    <a:pt x="406400" y="0"/>
                  </a:moveTo>
                  <a:cubicBezTo>
                    <a:pt x="630849" y="0"/>
                    <a:pt x="812800" y="181951"/>
                    <a:pt x="812800" y="406400"/>
                  </a:cubicBezTo>
                  <a:cubicBezTo>
                    <a:pt x="812800" y="630849"/>
                    <a:pt x="630849" y="812800"/>
                    <a:pt x="406400" y="812800"/>
                  </a:cubicBezTo>
                  <a:cubicBezTo>
                    <a:pt x="181951" y="812800"/>
                    <a:pt x="0" y="630849"/>
                    <a:pt x="0" y="406400"/>
                  </a:cubicBezTo>
                  <a:cubicBezTo>
                    <a:pt x="0" y="181951"/>
                    <a:pt x="181951" y="0"/>
                    <a:pt x="406400" y="0"/>
                  </a:cubicBezTo>
                  <a:close/>
                </a:path>
              </a:pathLst>
            </a:custGeom>
            <a:blipFill>
              <a:blip r:embed="rId7"/>
              <a:stretch>
                <a:fillRect l="-25046" r="-25046"/>
              </a:stretch>
            </a:blipFill>
          </p:spPr>
          <p:txBody>
            <a:bodyPr/>
            <a:lstStyle/>
            <a:p>
              <a:endParaRPr lang="es-CO" sz="1200"/>
            </a:p>
          </p:txBody>
        </p:sp>
      </p:grpSp>
      <p:grpSp>
        <p:nvGrpSpPr>
          <p:cNvPr id="13" name="Group 13"/>
          <p:cNvGrpSpPr/>
          <p:nvPr/>
        </p:nvGrpSpPr>
        <p:grpSpPr>
          <a:xfrm>
            <a:off x="9012571" y="1388376"/>
            <a:ext cx="2270531" cy="2233210"/>
            <a:chOff x="0" y="0"/>
            <a:chExt cx="4541061" cy="4466420"/>
          </a:xfrm>
        </p:grpSpPr>
        <p:grpSp>
          <p:nvGrpSpPr>
            <p:cNvPr id="14" name="Group 14"/>
            <p:cNvGrpSpPr/>
            <p:nvPr/>
          </p:nvGrpSpPr>
          <p:grpSpPr>
            <a:xfrm>
              <a:off x="609612" y="534971"/>
              <a:ext cx="3931449" cy="393144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26045" r="-26045"/>
                </a:stretch>
              </a:blipFill>
            </p:spPr>
            <p:txBody>
              <a:bodyPr/>
              <a:lstStyle/>
              <a:p>
                <a:endParaRPr lang="es-CO" sz="1200"/>
              </a:p>
            </p:txBody>
          </p:sp>
        </p:grpSp>
        <p:sp>
          <p:nvSpPr>
            <p:cNvPr id="16" name="Freeform 16"/>
            <p:cNvSpPr/>
            <p:nvPr/>
          </p:nvSpPr>
          <p:spPr>
            <a:xfrm>
              <a:off x="0" y="0"/>
              <a:ext cx="2887469" cy="4081228"/>
            </a:xfrm>
            <a:custGeom>
              <a:avLst/>
              <a:gdLst/>
              <a:ahLst/>
              <a:cxnLst/>
              <a:rect l="l" t="t" r="r" b="b"/>
              <a:pathLst>
                <a:path w="2887469" h="4081228">
                  <a:moveTo>
                    <a:pt x="0" y="0"/>
                  </a:moveTo>
                  <a:lnTo>
                    <a:pt x="2887469" y="0"/>
                  </a:lnTo>
                  <a:lnTo>
                    <a:pt x="2887469" y="4081228"/>
                  </a:lnTo>
                  <a:lnTo>
                    <a:pt x="0" y="408122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CO" sz="1200"/>
            </a:p>
          </p:txBody>
        </p:sp>
      </p:grpSp>
      <p:sp>
        <p:nvSpPr>
          <p:cNvPr id="17" name="Freeform 17"/>
          <p:cNvSpPr/>
          <p:nvPr/>
        </p:nvSpPr>
        <p:spPr>
          <a:xfrm>
            <a:off x="1242745" y="4193265"/>
            <a:ext cx="4353330" cy="707416"/>
          </a:xfrm>
          <a:custGeom>
            <a:avLst/>
            <a:gdLst/>
            <a:ahLst/>
            <a:cxnLst/>
            <a:rect l="l" t="t" r="r" b="b"/>
            <a:pathLst>
              <a:path w="6529995" h="1061124">
                <a:moveTo>
                  <a:pt x="0" y="0"/>
                </a:moveTo>
                <a:lnTo>
                  <a:pt x="6529995" y="0"/>
                </a:lnTo>
                <a:lnTo>
                  <a:pt x="6529995" y="1061125"/>
                </a:lnTo>
                <a:lnTo>
                  <a:pt x="0" y="1061125"/>
                </a:lnTo>
                <a:lnTo>
                  <a:pt x="0" y="0"/>
                </a:lnTo>
                <a:close/>
              </a:path>
            </a:pathLst>
          </a:custGeom>
          <a:blipFill>
            <a:blip r:embed="rId11"/>
            <a:stretch>
              <a:fillRect/>
            </a:stretch>
          </a:blipFill>
        </p:spPr>
        <p:txBody>
          <a:bodyPr/>
          <a:lstStyle/>
          <a:p>
            <a:endParaRPr lang="es-CO" sz="1200"/>
          </a:p>
        </p:txBody>
      </p:sp>
      <p:sp>
        <p:nvSpPr>
          <p:cNvPr id="18" name="Freeform 18"/>
          <p:cNvSpPr/>
          <p:nvPr/>
        </p:nvSpPr>
        <p:spPr>
          <a:xfrm rot="5400000">
            <a:off x="-1869217" y="815461"/>
            <a:ext cx="4827741" cy="784508"/>
          </a:xfrm>
          <a:custGeom>
            <a:avLst/>
            <a:gdLst/>
            <a:ahLst/>
            <a:cxnLst/>
            <a:rect l="l" t="t" r="r" b="b"/>
            <a:pathLst>
              <a:path w="7241612" h="1176762">
                <a:moveTo>
                  <a:pt x="0" y="0"/>
                </a:moveTo>
                <a:lnTo>
                  <a:pt x="7241612" y="0"/>
                </a:lnTo>
                <a:lnTo>
                  <a:pt x="7241612" y="1176762"/>
                </a:lnTo>
                <a:lnTo>
                  <a:pt x="0" y="1176762"/>
                </a:lnTo>
                <a:lnTo>
                  <a:pt x="0" y="0"/>
                </a:lnTo>
                <a:close/>
              </a:path>
            </a:pathLst>
          </a:custGeom>
          <a:blipFill>
            <a:blip r:embed="rId11"/>
            <a:stretch>
              <a:fillRect/>
            </a:stretch>
          </a:blipFill>
        </p:spPr>
        <p:txBody>
          <a:bodyPr/>
          <a:lstStyle/>
          <a:p>
            <a:endParaRPr lang="es-CO" sz="1200"/>
          </a:p>
        </p:txBody>
      </p:sp>
      <p:grpSp>
        <p:nvGrpSpPr>
          <p:cNvPr id="19" name="Group 19"/>
          <p:cNvGrpSpPr/>
          <p:nvPr/>
        </p:nvGrpSpPr>
        <p:grpSpPr>
          <a:xfrm rot="-5399999">
            <a:off x="463432" y="-958428"/>
            <a:ext cx="5621068" cy="4644218"/>
            <a:chOff x="0" y="0"/>
            <a:chExt cx="2220669" cy="1834753"/>
          </a:xfrm>
        </p:grpSpPr>
        <p:sp>
          <p:nvSpPr>
            <p:cNvPr id="20" name="Freeform 20"/>
            <p:cNvSpPr/>
            <p:nvPr/>
          </p:nvSpPr>
          <p:spPr>
            <a:xfrm>
              <a:off x="0" y="0"/>
              <a:ext cx="2220669" cy="1834753"/>
            </a:xfrm>
            <a:custGeom>
              <a:avLst/>
              <a:gdLst/>
              <a:ahLst/>
              <a:cxnLst/>
              <a:rect l="l" t="t" r="r" b="b"/>
              <a:pathLst>
                <a:path w="2220669" h="1834753">
                  <a:moveTo>
                    <a:pt x="69783" y="0"/>
                  </a:moveTo>
                  <a:lnTo>
                    <a:pt x="2150885" y="0"/>
                  </a:lnTo>
                  <a:cubicBezTo>
                    <a:pt x="2189426" y="0"/>
                    <a:pt x="2220669" y="31243"/>
                    <a:pt x="2220669" y="69783"/>
                  </a:cubicBezTo>
                  <a:lnTo>
                    <a:pt x="2220669" y="1764969"/>
                  </a:lnTo>
                  <a:cubicBezTo>
                    <a:pt x="2220669" y="1803510"/>
                    <a:pt x="2189426" y="1834753"/>
                    <a:pt x="2150885" y="1834753"/>
                  </a:cubicBezTo>
                  <a:lnTo>
                    <a:pt x="69783" y="1834753"/>
                  </a:lnTo>
                  <a:cubicBezTo>
                    <a:pt x="51276" y="1834753"/>
                    <a:pt x="33526" y="1827401"/>
                    <a:pt x="20439" y="1814314"/>
                  </a:cubicBezTo>
                  <a:cubicBezTo>
                    <a:pt x="7352" y="1801227"/>
                    <a:pt x="0" y="1783477"/>
                    <a:pt x="0" y="1764969"/>
                  </a:cubicBezTo>
                  <a:lnTo>
                    <a:pt x="0" y="69783"/>
                  </a:lnTo>
                  <a:cubicBezTo>
                    <a:pt x="0" y="31243"/>
                    <a:pt x="31243" y="0"/>
                    <a:pt x="69783" y="0"/>
                  </a:cubicBezTo>
                  <a:close/>
                </a:path>
              </a:pathLst>
            </a:custGeom>
            <a:gradFill rotWithShape="1">
              <a:gsLst>
                <a:gs pos="0">
                  <a:srgbClr val="0097B2">
                    <a:alpha val="56000"/>
                  </a:srgbClr>
                </a:gs>
                <a:gs pos="100000">
                  <a:srgbClr val="7ED957">
                    <a:alpha val="56000"/>
                  </a:srgbClr>
                </a:gs>
              </a:gsLst>
              <a:lin ang="0"/>
            </a:gradFill>
          </p:spPr>
          <p:txBody>
            <a:bodyPr/>
            <a:lstStyle/>
            <a:p>
              <a:endParaRPr lang="es-CO" sz="1200"/>
            </a:p>
          </p:txBody>
        </p:sp>
        <p:sp>
          <p:nvSpPr>
            <p:cNvPr id="21" name="TextBox 21"/>
            <p:cNvSpPr txBox="1"/>
            <p:nvPr/>
          </p:nvSpPr>
          <p:spPr>
            <a:xfrm>
              <a:off x="0" y="0"/>
              <a:ext cx="2220669" cy="1834753"/>
            </a:xfrm>
            <a:prstGeom prst="rect">
              <a:avLst/>
            </a:prstGeom>
          </p:spPr>
          <p:txBody>
            <a:bodyPr lIns="33867" tIns="33867" rIns="33867" bIns="33867" rtlCol="0" anchor="ctr"/>
            <a:lstStyle/>
            <a:p>
              <a:pPr algn="ctr">
                <a:lnSpc>
                  <a:spcPts val="1839"/>
                </a:lnSpc>
              </a:pPr>
              <a:endParaRPr sz="1200"/>
            </a:p>
          </p:txBody>
        </p:sp>
      </p:grpSp>
      <p:sp>
        <p:nvSpPr>
          <p:cNvPr id="22" name="Freeform 22"/>
          <p:cNvSpPr/>
          <p:nvPr/>
        </p:nvSpPr>
        <p:spPr>
          <a:xfrm>
            <a:off x="1084238" y="1188821"/>
            <a:ext cx="4511837" cy="3007891"/>
          </a:xfrm>
          <a:custGeom>
            <a:avLst/>
            <a:gdLst/>
            <a:ahLst/>
            <a:cxnLst/>
            <a:rect l="l" t="t" r="r" b="b"/>
            <a:pathLst>
              <a:path w="6767755" h="4511837">
                <a:moveTo>
                  <a:pt x="0" y="0"/>
                </a:moveTo>
                <a:lnTo>
                  <a:pt x="6767755" y="0"/>
                </a:lnTo>
                <a:lnTo>
                  <a:pt x="6767755" y="4511837"/>
                </a:lnTo>
                <a:lnTo>
                  <a:pt x="0" y="4511837"/>
                </a:lnTo>
                <a:lnTo>
                  <a:pt x="0" y="0"/>
                </a:lnTo>
                <a:close/>
              </a:path>
            </a:pathLst>
          </a:custGeom>
          <a:blipFill>
            <a:blip r:embed="rId12"/>
            <a:stretch>
              <a:fillRect/>
            </a:stretch>
          </a:blipFill>
        </p:spPr>
        <p:txBody>
          <a:bodyPr/>
          <a:lstStyle/>
          <a:p>
            <a:endParaRPr lang="es-CO" sz="1200"/>
          </a:p>
        </p:txBody>
      </p:sp>
      <p:sp>
        <p:nvSpPr>
          <p:cNvPr id="23" name="TextBox 23"/>
          <p:cNvSpPr txBox="1"/>
          <p:nvPr/>
        </p:nvSpPr>
        <p:spPr>
          <a:xfrm>
            <a:off x="951858" y="4653586"/>
            <a:ext cx="4935105" cy="737446"/>
          </a:xfrm>
          <a:prstGeom prst="rect">
            <a:avLst/>
          </a:prstGeom>
        </p:spPr>
        <p:txBody>
          <a:bodyPr lIns="0" tIns="0" rIns="0" bIns="0" rtlCol="0" anchor="t">
            <a:spAutoFit/>
          </a:bodyPr>
          <a:lstStyle/>
          <a:p>
            <a:pPr algn="ctr">
              <a:lnSpc>
                <a:spcPts val="3035"/>
              </a:lnSpc>
            </a:pPr>
            <a:r>
              <a:rPr lang="en-US" sz="2199" spc="-10">
                <a:solidFill>
                  <a:srgbClr val="FFFFFF"/>
                </a:solidFill>
                <a:latin typeface="Arial"/>
                <a:ea typeface="Arial"/>
                <a:cs typeface="Arial"/>
                <a:sym typeface="Arial"/>
              </a:rPr>
              <a:t>+ de 10.000 profesionales especializados en Tecnología</a:t>
            </a:r>
          </a:p>
        </p:txBody>
      </p:sp>
      <p:sp>
        <p:nvSpPr>
          <p:cNvPr id="24" name="Freeform 24" descr="Google Shape;319;p6"/>
          <p:cNvSpPr/>
          <p:nvPr/>
        </p:nvSpPr>
        <p:spPr>
          <a:xfrm>
            <a:off x="7431485" y="256683"/>
            <a:ext cx="2169716" cy="604976"/>
          </a:xfrm>
          <a:custGeom>
            <a:avLst/>
            <a:gdLst/>
            <a:ahLst/>
            <a:cxnLst/>
            <a:rect l="l" t="t" r="r" b="b"/>
            <a:pathLst>
              <a:path w="6749908" h="828329">
                <a:moveTo>
                  <a:pt x="0" y="0"/>
                </a:moveTo>
                <a:lnTo>
                  <a:pt x="6749908" y="0"/>
                </a:lnTo>
                <a:lnTo>
                  <a:pt x="6749908" y="828329"/>
                </a:lnTo>
                <a:lnTo>
                  <a:pt x="0" y="828329"/>
                </a:lnTo>
                <a:lnTo>
                  <a:pt x="0" y="0"/>
                </a:lnTo>
                <a:close/>
              </a:path>
            </a:pathLst>
          </a:custGeom>
          <a:blipFill>
            <a:blip r:embed="rId13"/>
            <a:stretch>
              <a:fillRect l="-1874" r="-109273" b="8721"/>
            </a:stretch>
          </a:blipFill>
        </p:spPr>
        <p:txBody>
          <a:bodyPr/>
          <a:lstStyle/>
          <a:p>
            <a:endParaRPr lang="es-CO" sz="1200"/>
          </a:p>
        </p:txBody>
      </p:sp>
      <p:sp>
        <p:nvSpPr>
          <p:cNvPr id="26" name="TextBox 26"/>
          <p:cNvSpPr txBox="1"/>
          <p:nvPr/>
        </p:nvSpPr>
        <p:spPr>
          <a:xfrm>
            <a:off x="2025123" y="539497"/>
            <a:ext cx="2630067" cy="564257"/>
          </a:xfrm>
          <a:prstGeom prst="rect">
            <a:avLst/>
          </a:prstGeom>
        </p:spPr>
        <p:txBody>
          <a:bodyPr lIns="0" tIns="0" rIns="0" bIns="0" rtlCol="0" anchor="t">
            <a:spAutoFit/>
          </a:bodyPr>
          <a:lstStyle/>
          <a:p>
            <a:pPr algn="ctr">
              <a:lnSpc>
                <a:spcPts val="2160"/>
              </a:lnSpc>
            </a:pPr>
            <a:r>
              <a:rPr lang="en-US" sz="2000" b="1">
                <a:solidFill>
                  <a:srgbClr val="FFFFFF"/>
                </a:solidFill>
                <a:latin typeface="Arial Bold"/>
                <a:ea typeface="Arial Bold"/>
                <a:cs typeface="Arial Bold"/>
                <a:sym typeface="Arial Bold"/>
              </a:rPr>
              <a:t>Capacity</a:t>
            </a:r>
          </a:p>
          <a:p>
            <a:pPr algn="ctr">
              <a:lnSpc>
                <a:spcPts val="2160"/>
              </a:lnSpc>
            </a:pPr>
            <a:r>
              <a:rPr lang="en-US" sz="2000" b="1">
                <a:solidFill>
                  <a:srgbClr val="FFFFFF"/>
                </a:solidFill>
                <a:latin typeface="Arial Bold"/>
                <a:ea typeface="Arial Bold"/>
                <a:cs typeface="Arial Bold"/>
                <a:sym typeface="Arial Bold"/>
              </a:rPr>
              <a:t>Global Hitss</a:t>
            </a:r>
          </a:p>
        </p:txBody>
      </p:sp>
      <p:pic>
        <p:nvPicPr>
          <p:cNvPr id="29" name="Imagen 28" descr="Texto&#10;&#10;Descripción generada automáticamente">
            <a:extLst>
              <a:ext uri="{FF2B5EF4-FFF2-40B4-BE49-F238E27FC236}">
                <a16:creationId xmlns:a16="http://schemas.microsoft.com/office/drawing/2014/main" id="{09690B92-46D4-000D-CF7C-70FC26047E1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857022" y="6250056"/>
            <a:ext cx="2391999" cy="648000"/>
          </a:xfrm>
          <a:prstGeom prst="rect">
            <a:avLst/>
          </a:prstGeom>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3" name="TextBox 3"/>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grpSp>
        <p:nvGrpSpPr>
          <p:cNvPr id="5" name="Group 5"/>
          <p:cNvGrpSpPr/>
          <p:nvPr/>
        </p:nvGrpSpPr>
        <p:grpSpPr>
          <a:xfrm>
            <a:off x="2239315" y="1384989"/>
            <a:ext cx="1700667" cy="930029"/>
            <a:chOff x="0" y="0"/>
            <a:chExt cx="798874" cy="436873"/>
          </a:xfrm>
        </p:grpSpPr>
        <p:sp>
          <p:nvSpPr>
            <p:cNvPr id="6" name="Freeform 6"/>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A0B852">
                <a:alpha val="29804"/>
              </a:srgbClr>
            </a:solidFill>
            <a:ln cap="sq">
              <a:noFill/>
              <a:prstDash val="solid"/>
              <a:miter/>
            </a:ln>
          </p:spPr>
          <p:txBody>
            <a:bodyPr/>
            <a:lstStyle/>
            <a:p>
              <a:endParaRPr lang="es-CO" sz="1200"/>
            </a:p>
          </p:txBody>
        </p:sp>
        <p:sp>
          <p:nvSpPr>
            <p:cNvPr id="7" name="TextBox 7"/>
            <p:cNvSpPr txBox="1"/>
            <p:nvPr/>
          </p:nvSpPr>
          <p:spPr>
            <a:xfrm>
              <a:off x="0" y="-85725"/>
              <a:ext cx="798874" cy="522598"/>
            </a:xfrm>
            <a:prstGeom prst="rect">
              <a:avLst/>
            </a:prstGeom>
          </p:spPr>
          <p:txBody>
            <a:bodyPr lIns="33867" tIns="33867" rIns="33867" bIns="33867" rtlCol="0" anchor="ctr"/>
            <a:lstStyle/>
            <a:p>
              <a:pPr algn="ctr">
                <a:lnSpc>
                  <a:spcPts val="1867"/>
                </a:lnSpc>
              </a:pPr>
              <a:endParaRPr sz="1200"/>
            </a:p>
          </p:txBody>
        </p:sp>
      </p:grpSp>
      <p:grpSp>
        <p:nvGrpSpPr>
          <p:cNvPr id="8" name="Group 8"/>
          <p:cNvGrpSpPr/>
          <p:nvPr/>
        </p:nvGrpSpPr>
        <p:grpSpPr>
          <a:xfrm>
            <a:off x="9035432" y="2905341"/>
            <a:ext cx="1700667" cy="930029"/>
            <a:chOff x="0" y="0"/>
            <a:chExt cx="798874" cy="436873"/>
          </a:xfrm>
        </p:grpSpPr>
        <p:sp>
          <p:nvSpPr>
            <p:cNvPr id="9" name="Freeform 9"/>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11ADC3">
                <a:alpha val="24706"/>
              </a:srgbClr>
            </a:solidFill>
            <a:ln cap="sq">
              <a:noFill/>
              <a:prstDash val="solid"/>
              <a:miter/>
            </a:ln>
          </p:spPr>
          <p:txBody>
            <a:bodyPr/>
            <a:lstStyle/>
            <a:p>
              <a:endParaRPr lang="es-CO" sz="1200"/>
            </a:p>
          </p:txBody>
        </p:sp>
        <p:sp>
          <p:nvSpPr>
            <p:cNvPr id="10" name="TextBox 10"/>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11" name="Group 11"/>
          <p:cNvGrpSpPr/>
          <p:nvPr/>
        </p:nvGrpSpPr>
        <p:grpSpPr>
          <a:xfrm>
            <a:off x="4499560" y="1384989"/>
            <a:ext cx="1700667" cy="930029"/>
            <a:chOff x="0" y="0"/>
            <a:chExt cx="798874" cy="436873"/>
          </a:xfrm>
        </p:grpSpPr>
        <p:sp>
          <p:nvSpPr>
            <p:cNvPr id="12" name="Freeform 12"/>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D3F1FF"/>
            </a:solidFill>
            <a:ln cap="sq">
              <a:noFill/>
              <a:prstDash val="solid"/>
              <a:miter/>
            </a:ln>
          </p:spPr>
          <p:txBody>
            <a:bodyPr/>
            <a:lstStyle/>
            <a:p>
              <a:endParaRPr lang="es-CO" sz="1200"/>
            </a:p>
          </p:txBody>
        </p:sp>
        <p:sp>
          <p:nvSpPr>
            <p:cNvPr id="13" name="TextBox 13"/>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14" name="Group 14"/>
          <p:cNvGrpSpPr/>
          <p:nvPr/>
        </p:nvGrpSpPr>
        <p:grpSpPr>
          <a:xfrm>
            <a:off x="3496383" y="4451753"/>
            <a:ext cx="1700667" cy="930029"/>
            <a:chOff x="0" y="0"/>
            <a:chExt cx="798874" cy="436873"/>
          </a:xfrm>
        </p:grpSpPr>
        <p:sp>
          <p:nvSpPr>
            <p:cNvPr id="15" name="Freeform 15"/>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056661">
                <a:alpha val="24706"/>
              </a:srgbClr>
            </a:solidFill>
            <a:ln cap="sq">
              <a:noFill/>
              <a:prstDash val="solid"/>
              <a:miter/>
            </a:ln>
          </p:spPr>
          <p:txBody>
            <a:bodyPr/>
            <a:lstStyle/>
            <a:p>
              <a:endParaRPr lang="es-CO" sz="1200"/>
            </a:p>
          </p:txBody>
        </p:sp>
        <p:sp>
          <p:nvSpPr>
            <p:cNvPr id="16" name="TextBox 16"/>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17" name="Group 17"/>
          <p:cNvGrpSpPr/>
          <p:nvPr/>
        </p:nvGrpSpPr>
        <p:grpSpPr>
          <a:xfrm rot="5400000">
            <a:off x="1536502" y="1655223"/>
            <a:ext cx="1313757" cy="773288"/>
            <a:chOff x="0" y="0"/>
            <a:chExt cx="690443" cy="406400"/>
          </a:xfrm>
        </p:grpSpPr>
        <p:sp>
          <p:nvSpPr>
            <p:cNvPr id="18" name="Freeform 18"/>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gradFill rotWithShape="1">
              <a:gsLst>
                <a:gs pos="0">
                  <a:srgbClr val="8BC371">
                    <a:alpha val="100000"/>
                  </a:srgbClr>
                </a:gs>
                <a:gs pos="54000">
                  <a:srgbClr val="D7D93C">
                    <a:alpha val="100000"/>
                  </a:srgbClr>
                </a:gs>
                <a:gs pos="100000">
                  <a:srgbClr val="258390">
                    <a:alpha val="100000"/>
                  </a:srgbClr>
                </a:gs>
              </a:gsLst>
              <a:lin ang="0"/>
            </a:gradFill>
          </p:spPr>
          <p:txBody>
            <a:bodyPr/>
            <a:lstStyle/>
            <a:p>
              <a:endParaRPr lang="es-CO" sz="1200"/>
            </a:p>
          </p:txBody>
        </p:sp>
        <p:sp>
          <p:nvSpPr>
            <p:cNvPr id="19" name="TextBox 19"/>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20" name="Group 20"/>
          <p:cNvGrpSpPr/>
          <p:nvPr/>
        </p:nvGrpSpPr>
        <p:grpSpPr>
          <a:xfrm rot="5400000">
            <a:off x="8332620" y="3175575"/>
            <a:ext cx="1313757" cy="773288"/>
            <a:chOff x="0" y="0"/>
            <a:chExt cx="690443" cy="406400"/>
          </a:xfrm>
        </p:grpSpPr>
        <p:sp>
          <p:nvSpPr>
            <p:cNvPr id="21" name="Freeform 21"/>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11ADC3"/>
            </a:solidFill>
            <a:ln cap="sq">
              <a:noFill/>
              <a:prstDash val="solid"/>
              <a:miter/>
            </a:ln>
          </p:spPr>
          <p:txBody>
            <a:bodyPr/>
            <a:lstStyle/>
            <a:p>
              <a:endParaRPr lang="es-CO" sz="1200"/>
            </a:p>
          </p:txBody>
        </p:sp>
        <p:sp>
          <p:nvSpPr>
            <p:cNvPr id="22" name="TextBox 22"/>
            <p:cNvSpPr txBox="1"/>
            <p:nvPr/>
          </p:nvSpPr>
          <p:spPr>
            <a:xfrm>
              <a:off x="0" y="-85725"/>
              <a:ext cx="576143" cy="492125"/>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23" name="Group 23"/>
          <p:cNvGrpSpPr/>
          <p:nvPr/>
        </p:nvGrpSpPr>
        <p:grpSpPr>
          <a:xfrm rot="5400000">
            <a:off x="3796747" y="1655223"/>
            <a:ext cx="1313757" cy="773288"/>
            <a:chOff x="0" y="0"/>
            <a:chExt cx="690443" cy="406400"/>
          </a:xfrm>
        </p:grpSpPr>
        <p:sp>
          <p:nvSpPr>
            <p:cNvPr id="24" name="Freeform 24"/>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07BB3"/>
            </a:solidFill>
          </p:spPr>
          <p:txBody>
            <a:bodyPr/>
            <a:lstStyle/>
            <a:p>
              <a:endParaRPr lang="es-CO" sz="1200"/>
            </a:p>
          </p:txBody>
        </p:sp>
        <p:sp>
          <p:nvSpPr>
            <p:cNvPr id="25" name="TextBox 25"/>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26" name="Group 26"/>
          <p:cNvGrpSpPr/>
          <p:nvPr/>
        </p:nvGrpSpPr>
        <p:grpSpPr>
          <a:xfrm rot="5400000">
            <a:off x="2793570" y="4721987"/>
            <a:ext cx="1313757" cy="773288"/>
            <a:chOff x="0" y="0"/>
            <a:chExt cx="690443" cy="406400"/>
          </a:xfrm>
        </p:grpSpPr>
        <p:sp>
          <p:nvSpPr>
            <p:cNvPr id="27" name="Freeform 27"/>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56661"/>
            </a:solidFill>
            <a:ln cap="sq">
              <a:noFill/>
              <a:prstDash val="solid"/>
              <a:miter/>
            </a:ln>
          </p:spPr>
          <p:txBody>
            <a:bodyPr/>
            <a:lstStyle/>
            <a:p>
              <a:endParaRPr lang="es-CO" sz="1200"/>
            </a:p>
          </p:txBody>
        </p:sp>
        <p:sp>
          <p:nvSpPr>
            <p:cNvPr id="28" name="TextBox 28"/>
            <p:cNvSpPr txBox="1"/>
            <p:nvPr/>
          </p:nvSpPr>
          <p:spPr>
            <a:xfrm>
              <a:off x="0" y="-85725"/>
              <a:ext cx="576143" cy="492125"/>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29" name="Group 29"/>
          <p:cNvGrpSpPr/>
          <p:nvPr/>
        </p:nvGrpSpPr>
        <p:grpSpPr>
          <a:xfrm>
            <a:off x="6759805" y="1384989"/>
            <a:ext cx="1700667" cy="930029"/>
            <a:chOff x="0" y="0"/>
            <a:chExt cx="798874" cy="436873"/>
          </a:xfrm>
        </p:grpSpPr>
        <p:sp>
          <p:nvSpPr>
            <p:cNvPr id="30" name="Freeform 30"/>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00B4A0">
                <a:alpha val="24706"/>
              </a:srgbClr>
            </a:solidFill>
            <a:ln cap="sq">
              <a:noFill/>
              <a:prstDash val="solid"/>
              <a:miter/>
            </a:ln>
          </p:spPr>
          <p:txBody>
            <a:bodyPr/>
            <a:lstStyle/>
            <a:p>
              <a:endParaRPr lang="es-CO" sz="1200"/>
            </a:p>
          </p:txBody>
        </p:sp>
        <p:sp>
          <p:nvSpPr>
            <p:cNvPr id="31" name="TextBox 31"/>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32" name="Group 32"/>
          <p:cNvGrpSpPr/>
          <p:nvPr/>
        </p:nvGrpSpPr>
        <p:grpSpPr>
          <a:xfrm>
            <a:off x="5790246" y="4485370"/>
            <a:ext cx="1700667" cy="930029"/>
            <a:chOff x="0" y="0"/>
            <a:chExt cx="798874" cy="436873"/>
          </a:xfrm>
        </p:grpSpPr>
        <p:sp>
          <p:nvSpPr>
            <p:cNvPr id="33" name="Freeform 33"/>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A0B852">
                <a:alpha val="24706"/>
              </a:srgbClr>
            </a:solidFill>
            <a:ln cap="sq">
              <a:noFill/>
              <a:prstDash val="solid"/>
              <a:miter/>
            </a:ln>
          </p:spPr>
          <p:txBody>
            <a:bodyPr/>
            <a:lstStyle/>
            <a:p>
              <a:endParaRPr lang="es-CO" sz="1200"/>
            </a:p>
          </p:txBody>
        </p:sp>
        <p:sp>
          <p:nvSpPr>
            <p:cNvPr id="34" name="TextBox 34"/>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35" name="Group 35"/>
          <p:cNvGrpSpPr/>
          <p:nvPr/>
        </p:nvGrpSpPr>
        <p:grpSpPr>
          <a:xfrm rot="5400000">
            <a:off x="6056992" y="1655223"/>
            <a:ext cx="1313757" cy="773288"/>
            <a:chOff x="0" y="0"/>
            <a:chExt cx="690443" cy="406400"/>
          </a:xfrm>
        </p:grpSpPr>
        <p:sp>
          <p:nvSpPr>
            <p:cNvPr id="36" name="Freeform 36"/>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0B4A0"/>
            </a:solidFill>
          </p:spPr>
          <p:txBody>
            <a:bodyPr/>
            <a:lstStyle/>
            <a:p>
              <a:endParaRPr lang="es-CO" sz="1200"/>
            </a:p>
          </p:txBody>
        </p:sp>
        <p:sp>
          <p:nvSpPr>
            <p:cNvPr id="37" name="TextBox 37"/>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38" name="Group 38"/>
          <p:cNvGrpSpPr/>
          <p:nvPr/>
        </p:nvGrpSpPr>
        <p:grpSpPr>
          <a:xfrm rot="5400000">
            <a:off x="5087433" y="4755604"/>
            <a:ext cx="1313757" cy="773288"/>
            <a:chOff x="0" y="0"/>
            <a:chExt cx="690443" cy="406400"/>
          </a:xfrm>
        </p:grpSpPr>
        <p:sp>
          <p:nvSpPr>
            <p:cNvPr id="39" name="Freeform 39"/>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gradFill rotWithShape="1">
              <a:gsLst>
                <a:gs pos="0">
                  <a:srgbClr val="8BC371">
                    <a:alpha val="100000"/>
                  </a:srgbClr>
                </a:gs>
                <a:gs pos="54000">
                  <a:srgbClr val="D7D93C">
                    <a:alpha val="100000"/>
                  </a:srgbClr>
                </a:gs>
                <a:gs pos="100000">
                  <a:srgbClr val="258390">
                    <a:alpha val="100000"/>
                  </a:srgbClr>
                </a:gs>
              </a:gsLst>
              <a:lin ang="0"/>
            </a:gradFill>
            <a:ln cap="sq">
              <a:noFill/>
              <a:prstDash val="solid"/>
              <a:miter/>
            </a:ln>
          </p:spPr>
          <p:txBody>
            <a:bodyPr/>
            <a:lstStyle/>
            <a:p>
              <a:endParaRPr lang="es-CO" sz="1200"/>
            </a:p>
          </p:txBody>
        </p:sp>
        <p:sp>
          <p:nvSpPr>
            <p:cNvPr id="40" name="TextBox 40"/>
            <p:cNvSpPr txBox="1"/>
            <p:nvPr/>
          </p:nvSpPr>
          <p:spPr>
            <a:xfrm>
              <a:off x="0" y="-85725"/>
              <a:ext cx="576143" cy="492125"/>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41" name="Group 41"/>
          <p:cNvGrpSpPr/>
          <p:nvPr/>
        </p:nvGrpSpPr>
        <p:grpSpPr>
          <a:xfrm>
            <a:off x="9020050" y="1384989"/>
            <a:ext cx="1700667" cy="930029"/>
            <a:chOff x="0" y="0"/>
            <a:chExt cx="798874" cy="436873"/>
          </a:xfrm>
        </p:grpSpPr>
        <p:sp>
          <p:nvSpPr>
            <p:cNvPr id="42" name="Freeform 42"/>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00B050">
                <a:alpha val="28627"/>
              </a:srgbClr>
            </a:solidFill>
            <a:ln cap="sq">
              <a:noFill/>
              <a:prstDash val="solid"/>
              <a:miter/>
            </a:ln>
          </p:spPr>
          <p:txBody>
            <a:bodyPr/>
            <a:lstStyle/>
            <a:p>
              <a:endParaRPr lang="es-CO" sz="1200"/>
            </a:p>
          </p:txBody>
        </p:sp>
        <p:sp>
          <p:nvSpPr>
            <p:cNvPr id="43" name="TextBox 43"/>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44" name="Group 44"/>
          <p:cNvGrpSpPr/>
          <p:nvPr/>
        </p:nvGrpSpPr>
        <p:grpSpPr>
          <a:xfrm>
            <a:off x="4502759" y="2921457"/>
            <a:ext cx="1700667" cy="930029"/>
            <a:chOff x="0" y="0"/>
            <a:chExt cx="798874" cy="436873"/>
          </a:xfrm>
        </p:grpSpPr>
        <p:sp>
          <p:nvSpPr>
            <p:cNvPr id="45" name="Freeform 45"/>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4C50A9">
                <a:alpha val="24706"/>
              </a:srgbClr>
            </a:solidFill>
            <a:ln cap="sq">
              <a:noFill/>
              <a:prstDash val="solid"/>
              <a:miter/>
            </a:ln>
          </p:spPr>
          <p:txBody>
            <a:bodyPr/>
            <a:lstStyle/>
            <a:p>
              <a:endParaRPr lang="es-CO" sz="1200"/>
            </a:p>
          </p:txBody>
        </p:sp>
        <p:sp>
          <p:nvSpPr>
            <p:cNvPr id="46" name="TextBox 46"/>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47" name="Group 47"/>
          <p:cNvGrpSpPr/>
          <p:nvPr/>
        </p:nvGrpSpPr>
        <p:grpSpPr>
          <a:xfrm rot="5400000">
            <a:off x="8317237" y="1655223"/>
            <a:ext cx="1313757" cy="773288"/>
            <a:chOff x="0" y="0"/>
            <a:chExt cx="690443" cy="406400"/>
          </a:xfrm>
        </p:grpSpPr>
        <p:sp>
          <p:nvSpPr>
            <p:cNvPr id="48" name="Freeform 48"/>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0B050"/>
            </a:solidFill>
          </p:spPr>
          <p:txBody>
            <a:bodyPr/>
            <a:lstStyle/>
            <a:p>
              <a:endParaRPr lang="es-CO" sz="1200"/>
            </a:p>
          </p:txBody>
        </p:sp>
        <p:sp>
          <p:nvSpPr>
            <p:cNvPr id="49" name="TextBox 49"/>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50" name="Group 50"/>
          <p:cNvGrpSpPr/>
          <p:nvPr/>
        </p:nvGrpSpPr>
        <p:grpSpPr>
          <a:xfrm rot="5400000">
            <a:off x="3799947" y="3191692"/>
            <a:ext cx="1313757" cy="773288"/>
            <a:chOff x="0" y="0"/>
            <a:chExt cx="690443" cy="406400"/>
          </a:xfrm>
        </p:grpSpPr>
        <p:sp>
          <p:nvSpPr>
            <p:cNvPr id="51" name="Freeform 51"/>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322E64"/>
            </a:solidFill>
            <a:ln cap="sq">
              <a:noFill/>
              <a:prstDash val="solid"/>
              <a:miter/>
            </a:ln>
          </p:spPr>
          <p:txBody>
            <a:bodyPr/>
            <a:lstStyle/>
            <a:p>
              <a:endParaRPr lang="es-CO" sz="1200"/>
            </a:p>
          </p:txBody>
        </p:sp>
        <p:sp>
          <p:nvSpPr>
            <p:cNvPr id="52" name="TextBox 52"/>
            <p:cNvSpPr txBox="1"/>
            <p:nvPr/>
          </p:nvSpPr>
          <p:spPr>
            <a:xfrm>
              <a:off x="0" y="-85725"/>
              <a:ext cx="576143" cy="492125"/>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53" name="Group 53"/>
          <p:cNvGrpSpPr/>
          <p:nvPr/>
        </p:nvGrpSpPr>
        <p:grpSpPr>
          <a:xfrm>
            <a:off x="2242515" y="2956919"/>
            <a:ext cx="1700667" cy="930029"/>
            <a:chOff x="0" y="0"/>
            <a:chExt cx="798874" cy="436873"/>
          </a:xfrm>
        </p:grpSpPr>
        <p:sp>
          <p:nvSpPr>
            <p:cNvPr id="54" name="Freeform 54"/>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1B2434">
                <a:alpha val="24706"/>
              </a:srgbClr>
            </a:solidFill>
            <a:ln cap="sq">
              <a:noFill/>
              <a:prstDash val="solid"/>
              <a:miter/>
            </a:ln>
          </p:spPr>
          <p:txBody>
            <a:bodyPr/>
            <a:lstStyle/>
            <a:p>
              <a:endParaRPr lang="es-CO" sz="1200"/>
            </a:p>
          </p:txBody>
        </p:sp>
        <p:sp>
          <p:nvSpPr>
            <p:cNvPr id="55" name="TextBox 55"/>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56" name="Group 56"/>
          <p:cNvGrpSpPr/>
          <p:nvPr/>
        </p:nvGrpSpPr>
        <p:grpSpPr>
          <a:xfrm>
            <a:off x="8029270" y="4501486"/>
            <a:ext cx="1700667" cy="930029"/>
            <a:chOff x="0" y="0"/>
            <a:chExt cx="798874" cy="436873"/>
          </a:xfrm>
        </p:grpSpPr>
        <p:sp>
          <p:nvSpPr>
            <p:cNvPr id="57" name="Freeform 57"/>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D3F1FF"/>
            </a:solidFill>
            <a:ln cap="sq">
              <a:noFill/>
              <a:prstDash val="solid"/>
              <a:miter/>
            </a:ln>
          </p:spPr>
          <p:txBody>
            <a:bodyPr/>
            <a:lstStyle/>
            <a:p>
              <a:endParaRPr lang="es-CO" sz="1200"/>
            </a:p>
          </p:txBody>
        </p:sp>
        <p:sp>
          <p:nvSpPr>
            <p:cNvPr id="58" name="TextBox 58"/>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59" name="Group 59"/>
          <p:cNvGrpSpPr/>
          <p:nvPr/>
        </p:nvGrpSpPr>
        <p:grpSpPr>
          <a:xfrm rot="5400000">
            <a:off x="1539702" y="3227153"/>
            <a:ext cx="1313757" cy="773288"/>
            <a:chOff x="0" y="0"/>
            <a:chExt cx="690443" cy="406400"/>
          </a:xfrm>
        </p:grpSpPr>
        <p:sp>
          <p:nvSpPr>
            <p:cNvPr id="60" name="Freeform 60"/>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1B2434"/>
            </a:solidFill>
          </p:spPr>
          <p:txBody>
            <a:bodyPr/>
            <a:lstStyle/>
            <a:p>
              <a:endParaRPr lang="es-CO" sz="1200"/>
            </a:p>
          </p:txBody>
        </p:sp>
        <p:sp>
          <p:nvSpPr>
            <p:cNvPr id="61" name="TextBox 61"/>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62" name="Group 62"/>
          <p:cNvGrpSpPr/>
          <p:nvPr/>
        </p:nvGrpSpPr>
        <p:grpSpPr>
          <a:xfrm rot="5400000">
            <a:off x="7326457" y="4771721"/>
            <a:ext cx="1313757" cy="773288"/>
            <a:chOff x="0" y="0"/>
            <a:chExt cx="690443" cy="406400"/>
          </a:xfrm>
        </p:grpSpPr>
        <p:sp>
          <p:nvSpPr>
            <p:cNvPr id="63" name="Freeform 63"/>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07BB3"/>
            </a:solidFill>
            <a:ln cap="sq">
              <a:noFill/>
              <a:prstDash val="solid"/>
              <a:miter/>
            </a:ln>
          </p:spPr>
          <p:txBody>
            <a:bodyPr/>
            <a:lstStyle/>
            <a:p>
              <a:endParaRPr lang="es-CO" sz="1200"/>
            </a:p>
          </p:txBody>
        </p:sp>
        <p:sp>
          <p:nvSpPr>
            <p:cNvPr id="64" name="TextBox 64"/>
            <p:cNvSpPr txBox="1"/>
            <p:nvPr/>
          </p:nvSpPr>
          <p:spPr>
            <a:xfrm>
              <a:off x="0" y="-85725"/>
              <a:ext cx="576143" cy="492125"/>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65" name="Group 65"/>
          <p:cNvGrpSpPr/>
          <p:nvPr/>
        </p:nvGrpSpPr>
        <p:grpSpPr>
          <a:xfrm>
            <a:off x="2012162" y="2195241"/>
            <a:ext cx="362436" cy="355441"/>
            <a:chOff x="0" y="0"/>
            <a:chExt cx="724872" cy="710883"/>
          </a:xfrm>
        </p:grpSpPr>
        <p:grpSp>
          <p:nvGrpSpPr>
            <p:cNvPr id="66" name="Group 66"/>
            <p:cNvGrpSpPr/>
            <p:nvPr/>
          </p:nvGrpSpPr>
          <p:grpSpPr>
            <a:xfrm>
              <a:off x="6995" y="0"/>
              <a:ext cx="710883" cy="710883"/>
              <a:chOff x="0" y="0"/>
              <a:chExt cx="812800" cy="812800"/>
            </a:xfrm>
          </p:grpSpPr>
          <p:sp>
            <p:nvSpPr>
              <p:cNvPr id="67" name="Freeform 6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68" name="TextBox 68"/>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69" name="TextBox 69"/>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01</a:t>
              </a:r>
            </a:p>
          </p:txBody>
        </p:sp>
      </p:grpSp>
      <p:grpSp>
        <p:nvGrpSpPr>
          <p:cNvPr id="70" name="Group 70"/>
          <p:cNvGrpSpPr/>
          <p:nvPr/>
        </p:nvGrpSpPr>
        <p:grpSpPr>
          <a:xfrm>
            <a:off x="8808279" y="3714800"/>
            <a:ext cx="362436" cy="355441"/>
            <a:chOff x="0" y="0"/>
            <a:chExt cx="724872" cy="710883"/>
          </a:xfrm>
        </p:grpSpPr>
        <p:grpSp>
          <p:nvGrpSpPr>
            <p:cNvPr id="71" name="Group 71"/>
            <p:cNvGrpSpPr/>
            <p:nvPr/>
          </p:nvGrpSpPr>
          <p:grpSpPr>
            <a:xfrm>
              <a:off x="6995" y="0"/>
              <a:ext cx="710883" cy="710883"/>
              <a:chOff x="0" y="0"/>
              <a:chExt cx="812800" cy="812800"/>
            </a:xfrm>
          </p:grpSpPr>
          <p:sp>
            <p:nvSpPr>
              <p:cNvPr id="72" name="Freeform 7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73" name="TextBox 73"/>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74" name="TextBox 74"/>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05</a:t>
              </a:r>
            </a:p>
          </p:txBody>
        </p:sp>
      </p:grpSp>
      <p:grpSp>
        <p:nvGrpSpPr>
          <p:cNvPr id="75" name="Group 75"/>
          <p:cNvGrpSpPr/>
          <p:nvPr/>
        </p:nvGrpSpPr>
        <p:grpSpPr>
          <a:xfrm>
            <a:off x="4272407" y="2195241"/>
            <a:ext cx="362436" cy="355441"/>
            <a:chOff x="0" y="0"/>
            <a:chExt cx="724872" cy="710883"/>
          </a:xfrm>
        </p:grpSpPr>
        <p:grpSp>
          <p:nvGrpSpPr>
            <p:cNvPr id="76" name="Group 76"/>
            <p:cNvGrpSpPr/>
            <p:nvPr/>
          </p:nvGrpSpPr>
          <p:grpSpPr>
            <a:xfrm>
              <a:off x="6995" y="0"/>
              <a:ext cx="710883" cy="710883"/>
              <a:chOff x="0" y="0"/>
              <a:chExt cx="812800" cy="812800"/>
            </a:xfrm>
          </p:grpSpPr>
          <p:sp>
            <p:nvSpPr>
              <p:cNvPr id="77" name="Freeform 7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78" name="TextBox 78"/>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79" name="TextBox 79"/>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02</a:t>
              </a:r>
            </a:p>
          </p:txBody>
        </p:sp>
      </p:grpSp>
      <p:grpSp>
        <p:nvGrpSpPr>
          <p:cNvPr id="80" name="Group 80"/>
          <p:cNvGrpSpPr/>
          <p:nvPr/>
        </p:nvGrpSpPr>
        <p:grpSpPr>
          <a:xfrm>
            <a:off x="3269231" y="5307696"/>
            <a:ext cx="362436" cy="355441"/>
            <a:chOff x="0" y="0"/>
            <a:chExt cx="724872" cy="710883"/>
          </a:xfrm>
        </p:grpSpPr>
        <p:grpSp>
          <p:nvGrpSpPr>
            <p:cNvPr id="81" name="Group 81"/>
            <p:cNvGrpSpPr/>
            <p:nvPr/>
          </p:nvGrpSpPr>
          <p:grpSpPr>
            <a:xfrm>
              <a:off x="6995" y="0"/>
              <a:ext cx="710883" cy="710883"/>
              <a:chOff x="0" y="0"/>
              <a:chExt cx="812800" cy="812800"/>
            </a:xfrm>
          </p:grpSpPr>
          <p:sp>
            <p:nvSpPr>
              <p:cNvPr id="82" name="Freeform 8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83" name="TextBox 83"/>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84" name="TextBox 84"/>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06</a:t>
              </a:r>
            </a:p>
          </p:txBody>
        </p:sp>
      </p:grpSp>
      <p:grpSp>
        <p:nvGrpSpPr>
          <p:cNvPr id="85" name="Group 85"/>
          <p:cNvGrpSpPr/>
          <p:nvPr/>
        </p:nvGrpSpPr>
        <p:grpSpPr>
          <a:xfrm>
            <a:off x="6532652" y="2195241"/>
            <a:ext cx="362436" cy="355441"/>
            <a:chOff x="0" y="0"/>
            <a:chExt cx="724872" cy="710883"/>
          </a:xfrm>
        </p:grpSpPr>
        <p:grpSp>
          <p:nvGrpSpPr>
            <p:cNvPr id="86" name="Group 86"/>
            <p:cNvGrpSpPr/>
            <p:nvPr/>
          </p:nvGrpSpPr>
          <p:grpSpPr>
            <a:xfrm>
              <a:off x="6995" y="0"/>
              <a:ext cx="710883" cy="710883"/>
              <a:chOff x="0" y="0"/>
              <a:chExt cx="812800" cy="812800"/>
            </a:xfrm>
          </p:grpSpPr>
          <p:sp>
            <p:nvSpPr>
              <p:cNvPr id="87" name="Freeform 8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88" name="TextBox 88"/>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89" name="TextBox 89"/>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03</a:t>
              </a:r>
            </a:p>
          </p:txBody>
        </p:sp>
      </p:grpSp>
      <p:grpSp>
        <p:nvGrpSpPr>
          <p:cNvPr id="90" name="Group 90"/>
          <p:cNvGrpSpPr/>
          <p:nvPr/>
        </p:nvGrpSpPr>
        <p:grpSpPr>
          <a:xfrm>
            <a:off x="5563093" y="5326565"/>
            <a:ext cx="362436" cy="355441"/>
            <a:chOff x="0" y="0"/>
            <a:chExt cx="724872" cy="710883"/>
          </a:xfrm>
        </p:grpSpPr>
        <p:grpSp>
          <p:nvGrpSpPr>
            <p:cNvPr id="91" name="Group 91"/>
            <p:cNvGrpSpPr/>
            <p:nvPr/>
          </p:nvGrpSpPr>
          <p:grpSpPr>
            <a:xfrm>
              <a:off x="6995" y="0"/>
              <a:ext cx="710883" cy="710883"/>
              <a:chOff x="0" y="0"/>
              <a:chExt cx="812800" cy="812800"/>
            </a:xfrm>
          </p:grpSpPr>
          <p:sp>
            <p:nvSpPr>
              <p:cNvPr id="92" name="Freeform 9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93" name="TextBox 93"/>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94" name="TextBox 94"/>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07</a:t>
              </a:r>
            </a:p>
          </p:txBody>
        </p:sp>
      </p:grpSp>
      <p:grpSp>
        <p:nvGrpSpPr>
          <p:cNvPr id="95" name="Group 95"/>
          <p:cNvGrpSpPr/>
          <p:nvPr/>
        </p:nvGrpSpPr>
        <p:grpSpPr>
          <a:xfrm>
            <a:off x="8792897" y="2195241"/>
            <a:ext cx="362436" cy="355441"/>
            <a:chOff x="0" y="0"/>
            <a:chExt cx="724872" cy="710883"/>
          </a:xfrm>
        </p:grpSpPr>
        <p:grpSp>
          <p:nvGrpSpPr>
            <p:cNvPr id="96" name="Group 96"/>
            <p:cNvGrpSpPr/>
            <p:nvPr/>
          </p:nvGrpSpPr>
          <p:grpSpPr>
            <a:xfrm>
              <a:off x="6995" y="0"/>
              <a:ext cx="710883" cy="710883"/>
              <a:chOff x="0" y="0"/>
              <a:chExt cx="812800" cy="812800"/>
            </a:xfrm>
          </p:grpSpPr>
          <p:sp>
            <p:nvSpPr>
              <p:cNvPr id="97" name="Freeform 9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98" name="TextBox 98"/>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99" name="TextBox 99"/>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04</a:t>
              </a:r>
            </a:p>
          </p:txBody>
        </p:sp>
      </p:grpSp>
      <p:grpSp>
        <p:nvGrpSpPr>
          <p:cNvPr id="100" name="Group 100"/>
          <p:cNvGrpSpPr/>
          <p:nvPr/>
        </p:nvGrpSpPr>
        <p:grpSpPr>
          <a:xfrm>
            <a:off x="4275607" y="3730916"/>
            <a:ext cx="362436" cy="355441"/>
            <a:chOff x="0" y="0"/>
            <a:chExt cx="724872" cy="710883"/>
          </a:xfrm>
        </p:grpSpPr>
        <p:grpSp>
          <p:nvGrpSpPr>
            <p:cNvPr id="101" name="Group 101"/>
            <p:cNvGrpSpPr/>
            <p:nvPr/>
          </p:nvGrpSpPr>
          <p:grpSpPr>
            <a:xfrm>
              <a:off x="6995" y="0"/>
              <a:ext cx="710883" cy="710883"/>
              <a:chOff x="0" y="0"/>
              <a:chExt cx="812800" cy="812800"/>
            </a:xfrm>
          </p:grpSpPr>
          <p:sp>
            <p:nvSpPr>
              <p:cNvPr id="102" name="Freeform 10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103" name="TextBox 103"/>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104" name="TextBox 104"/>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10</a:t>
              </a:r>
            </a:p>
          </p:txBody>
        </p:sp>
      </p:grpSp>
      <p:grpSp>
        <p:nvGrpSpPr>
          <p:cNvPr id="105" name="Group 105"/>
          <p:cNvGrpSpPr/>
          <p:nvPr/>
        </p:nvGrpSpPr>
        <p:grpSpPr>
          <a:xfrm>
            <a:off x="2015362" y="3767171"/>
            <a:ext cx="362436" cy="355441"/>
            <a:chOff x="0" y="0"/>
            <a:chExt cx="724872" cy="710883"/>
          </a:xfrm>
        </p:grpSpPr>
        <p:grpSp>
          <p:nvGrpSpPr>
            <p:cNvPr id="106" name="Group 106"/>
            <p:cNvGrpSpPr/>
            <p:nvPr/>
          </p:nvGrpSpPr>
          <p:grpSpPr>
            <a:xfrm>
              <a:off x="6995" y="0"/>
              <a:ext cx="710883" cy="710883"/>
              <a:chOff x="0" y="0"/>
              <a:chExt cx="812800" cy="812800"/>
            </a:xfrm>
          </p:grpSpPr>
          <p:sp>
            <p:nvSpPr>
              <p:cNvPr id="107" name="Freeform 10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108" name="TextBox 108"/>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109" name="TextBox 109"/>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09</a:t>
              </a:r>
            </a:p>
          </p:txBody>
        </p:sp>
      </p:grpSp>
      <p:grpSp>
        <p:nvGrpSpPr>
          <p:cNvPr id="110" name="Group 110"/>
          <p:cNvGrpSpPr/>
          <p:nvPr/>
        </p:nvGrpSpPr>
        <p:grpSpPr>
          <a:xfrm>
            <a:off x="7802117" y="5357429"/>
            <a:ext cx="362436" cy="355441"/>
            <a:chOff x="0" y="0"/>
            <a:chExt cx="724872" cy="710883"/>
          </a:xfrm>
        </p:grpSpPr>
        <p:grpSp>
          <p:nvGrpSpPr>
            <p:cNvPr id="111" name="Group 111"/>
            <p:cNvGrpSpPr/>
            <p:nvPr/>
          </p:nvGrpSpPr>
          <p:grpSpPr>
            <a:xfrm>
              <a:off x="6995" y="0"/>
              <a:ext cx="710883" cy="710883"/>
              <a:chOff x="0" y="0"/>
              <a:chExt cx="812800" cy="812800"/>
            </a:xfrm>
          </p:grpSpPr>
          <p:sp>
            <p:nvSpPr>
              <p:cNvPr id="112" name="Freeform 1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113" name="TextBox 113"/>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114" name="TextBox 114"/>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11</a:t>
              </a:r>
            </a:p>
          </p:txBody>
        </p:sp>
      </p:grpSp>
      <p:sp>
        <p:nvSpPr>
          <p:cNvPr id="115" name="Freeform 115"/>
          <p:cNvSpPr/>
          <p:nvPr/>
        </p:nvSpPr>
        <p:spPr>
          <a:xfrm>
            <a:off x="1936545" y="1612892"/>
            <a:ext cx="474223" cy="474223"/>
          </a:xfrm>
          <a:custGeom>
            <a:avLst/>
            <a:gdLst/>
            <a:ahLst/>
            <a:cxnLst/>
            <a:rect l="l" t="t" r="r" b="b"/>
            <a:pathLst>
              <a:path w="711335" h="711335">
                <a:moveTo>
                  <a:pt x="0" y="0"/>
                </a:moveTo>
                <a:lnTo>
                  <a:pt x="711335" y="0"/>
                </a:lnTo>
                <a:lnTo>
                  <a:pt x="711335" y="711334"/>
                </a:lnTo>
                <a:lnTo>
                  <a:pt x="0" y="71133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sz="1200"/>
          </a:p>
        </p:txBody>
      </p:sp>
      <p:sp>
        <p:nvSpPr>
          <p:cNvPr id="116" name="Freeform 116"/>
          <p:cNvSpPr/>
          <p:nvPr/>
        </p:nvSpPr>
        <p:spPr>
          <a:xfrm>
            <a:off x="4217913" y="1550824"/>
            <a:ext cx="471425" cy="471425"/>
          </a:xfrm>
          <a:custGeom>
            <a:avLst/>
            <a:gdLst/>
            <a:ahLst/>
            <a:cxnLst/>
            <a:rect l="l" t="t" r="r" b="b"/>
            <a:pathLst>
              <a:path w="707138" h="707138">
                <a:moveTo>
                  <a:pt x="0" y="0"/>
                </a:moveTo>
                <a:lnTo>
                  <a:pt x="707138" y="0"/>
                </a:lnTo>
                <a:lnTo>
                  <a:pt x="707138" y="707137"/>
                </a:lnTo>
                <a:lnTo>
                  <a:pt x="0" y="7071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CO" sz="1200"/>
          </a:p>
        </p:txBody>
      </p:sp>
      <p:sp>
        <p:nvSpPr>
          <p:cNvPr id="117" name="Freeform 117"/>
          <p:cNvSpPr/>
          <p:nvPr/>
        </p:nvSpPr>
        <p:spPr>
          <a:xfrm>
            <a:off x="6466851" y="1561541"/>
            <a:ext cx="494039" cy="525574"/>
          </a:xfrm>
          <a:custGeom>
            <a:avLst/>
            <a:gdLst/>
            <a:ahLst/>
            <a:cxnLst/>
            <a:rect l="l" t="t" r="r" b="b"/>
            <a:pathLst>
              <a:path w="741059" h="788361">
                <a:moveTo>
                  <a:pt x="0" y="0"/>
                </a:moveTo>
                <a:lnTo>
                  <a:pt x="741059" y="0"/>
                </a:lnTo>
                <a:lnTo>
                  <a:pt x="741059" y="788360"/>
                </a:lnTo>
                <a:lnTo>
                  <a:pt x="0" y="78836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O" sz="1200"/>
          </a:p>
        </p:txBody>
      </p:sp>
      <p:sp>
        <p:nvSpPr>
          <p:cNvPr id="118" name="Freeform 118"/>
          <p:cNvSpPr/>
          <p:nvPr/>
        </p:nvSpPr>
        <p:spPr>
          <a:xfrm>
            <a:off x="8753572" y="1499651"/>
            <a:ext cx="441087" cy="573771"/>
          </a:xfrm>
          <a:custGeom>
            <a:avLst/>
            <a:gdLst/>
            <a:ahLst/>
            <a:cxnLst/>
            <a:rect l="l" t="t" r="r" b="b"/>
            <a:pathLst>
              <a:path w="661630" h="860657">
                <a:moveTo>
                  <a:pt x="0" y="0"/>
                </a:moveTo>
                <a:lnTo>
                  <a:pt x="661630" y="0"/>
                </a:lnTo>
                <a:lnTo>
                  <a:pt x="661630" y="860657"/>
                </a:lnTo>
                <a:lnTo>
                  <a:pt x="0" y="86065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CO" sz="1200"/>
          </a:p>
        </p:txBody>
      </p:sp>
      <p:sp>
        <p:nvSpPr>
          <p:cNvPr id="119" name="Freeform 119"/>
          <p:cNvSpPr/>
          <p:nvPr/>
        </p:nvSpPr>
        <p:spPr>
          <a:xfrm>
            <a:off x="1975036" y="3156095"/>
            <a:ext cx="424488" cy="480326"/>
          </a:xfrm>
          <a:custGeom>
            <a:avLst/>
            <a:gdLst/>
            <a:ahLst/>
            <a:cxnLst/>
            <a:rect l="l" t="t" r="r" b="b"/>
            <a:pathLst>
              <a:path w="636732" h="720489">
                <a:moveTo>
                  <a:pt x="0" y="0"/>
                </a:moveTo>
                <a:lnTo>
                  <a:pt x="636733" y="0"/>
                </a:lnTo>
                <a:lnTo>
                  <a:pt x="636733" y="720490"/>
                </a:lnTo>
                <a:lnTo>
                  <a:pt x="0" y="72049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s-CO" sz="1200"/>
          </a:p>
        </p:txBody>
      </p:sp>
      <p:sp>
        <p:nvSpPr>
          <p:cNvPr id="120" name="Freeform 120"/>
          <p:cNvSpPr/>
          <p:nvPr/>
        </p:nvSpPr>
        <p:spPr>
          <a:xfrm>
            <a:off x="8689769" y="3007676"/>
            <a:ext cx="560010" cy="508209"/>
          </a:xfrm>
          <a:custGeom>
            <a:avLst/>
            <a:gdLst/>
            <a:ahLst/>
            <a:cxnLst/>
            <a:rect l="l" t="t" r="r" b="b"/>
            <a:pathLst>
              <a:path w="840015" h="762314">
                <a:moveTo>
                  <a:pt x="0" y="0"/>
                </a:moveTo>
                <a:lnTo>
                  <a:pt x="840015" y="0"/>
                </a:lnTo>
                <a:lnTo>
                  <a:pt x="840015" y="762314"/>
                </a:lnTo>
                <a:lnTo>
                  <a:pt x="0" y="762314"/>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s-CO" sz="1200"/>
          </a:p>
        </p:txBody>
      </p:sp>
      <p:sp>
        <p:nvSpPr>
          <p:cNvPr id="121" name="Freeform 121"/>
          <p:cNvSpPr/>
          <p:nvPr/>
        </p:nvSpPr>
        <p:spPr>
          <a:xfrm>
            <a:off x="3180006" y="4599377"/>
            <a:ext cx="461763" cy="462920"/>
          </a:xfrm>
          <a:custGeom>
            <a:avLst/>
            <a:gdLst/>
            <a:ahLst/>
            <a:cxnLst/>
            <a:rect l="l" t="t" r="r" b="b"/>
            <a:pathLst>
              <a:path w="692644" h="694380">
                <a:moveTo>
                  <a:pt x="0" y="0"/>
                </a:moveTo>
                <a:lnTo>
                  <a:pt x="692644" y="0"/>
                </a:lnTo>
                <a:lnTo>
                  <a:pt x="692644" y="694380"/>
                </a:lnTo>
                <a:lnTo>
                  <a:pt x="0" y="69438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s-CO" sz="1200"/>
          </a:p>
        </p:txBody>
      </p:sp>
      <p:sp>
        <p:nvSpPr>
          <p:cNvPr id="122" name="Freeform 122"/>
          <p:cNvSpPr/>
          <p:nvPr/>
        </p:nvSpPr>
        <p:spPr>
          <a:xfrm>
            <a:off x="5459268" y="4632994"/>
            <a:ext cx="583207" cy="462920"/>
          </a:xfrm>
          <a:custGeom>
            <a:avLst/>
            <a:gdLst/>
            <a:ahLst/>
            <a:cxnLst/>
            <a:rect l="l" t="t" r="r" b="b"/>
            <a:pathLst>
              <a:path w="874810" h="694380">
                <a:moveTo>
                  <a:pt x="0" y="0"/>
                </a:moveTo>
                <a:lnTo>
                  <a:pt x="874809" y="0"/>
                </a:lnTo>
                <a:lnTo>
                  <a:pt x="874809" y="694380"/>
                </a:lnTo>
                <a:lnTo>
                  <a:pt x="0" y="694380"/>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txBody>
          <a:bodyPr/>
          <a:lstStyle/>
          <a:p>
            <a:endParaRPr lang="es-CO" sz="1200"/>
          </a:p>
        </p:txBody>
      </p:sp>
      <p:sp>
        <p:nvSpPr>
          <p:cNvPr id="123" name="Freeform 123"/>
          <p:cNvSpPr/>
          <p:nvPr/>
        </p:nvSpPr>
        <p:spPr>
          <a:xfrm>
            <a:off x="4170662" y="3069081"/>
            <a:ext cx="572326" cy="558018"/>
          </a:xfrm>
          <a:custGeom>
            <a:avLst/>
            <a:gdLst/>
            <a:ahLst/>
            <a:cxnLst/>
            <a:rect l="l" t="t" r="r" b="b"/>
            <a:pathLst>
              <a:path w="858489" h="837027">
                <a:moveTo>
                  <a:pt x="0" y="0"/>
                </a:moveTo>
                <a:lnTo>
                  <a:pt x="858489" y="0"/>
                </a:lnTo>
                <a:lnTo>
                  <a:pt x="858489" y="837027"/>
                </a:lnTo>
                <a:lnTo>
                  <a:pt x="0" y="837027"/>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txBody>
          <a:bodyPr/>
          <a:lstStyle/>
          <a:p>
            <a:endParaRPr lang="es-CO" sz="1200"/>
          </a:p>
        </p:txBody>
      </p:sp>
      <p:sp>
        <p:nvSpPr>
          <p:cNvPr id="124" name="Freeform 124"/>
          <p:cNvSpPr/>
          <p:nvPr/>
        </p:nvSpPr>
        <p:spPr>
          <a:xfrm>
            <a:off x="7659086" y="4603822"/>
            <a:ext cx="629899" cy="590005"/>
          </a:xfrm>
          <a:custGeom>
            <a:avLst/>
            <a:gdLst/>
            <a:ahLst/>
            <a:cxnLst/>
            <a:rect l="l" t="t" r="r" b="b"/>
            <a:pathLst>
              <a:path w="944848" h="885007">
                <a:moveTo>
                  <a:pt x="0" y="0"/>
                </a:moveTo>
                <a:lnTo>
                  <a:pt x="944848" y="0"/>
                </a:lnTo>
                <a:lnTo>
                  <a:pt x="944848" y="885007"/>
                </a:lnTo>
                <a:lnTo>
                  <a:pt x="0" y="88500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s-CO" sz="1200"/>
          </a:p>
        </p:txBody>
      </p:sp>
      <p:grpSp>
        <p:nvGrpSpPr>
          <p:cNvPr id="125" name="Group 125"/>
          <p:cNvGrpSpPr/>
          <p:nvPr/>
        </p:nvGrpSpPr>
        <p:grpSpPr>
          <a:xfrm>
            <a:off x="6756462" y="2926242"/>
            <a:ext cx="1700667" cy="930029"/>
            <a:chOff x="0" y="0"/>
            <a:chExt cx="798874" cy="436873"/>
          </a:xfrm>
        </p:grpSpPr>
        <p:sp>
          <p:nvSpPr>
            <p:cNvPr id="126" name="Freeform 126"/>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007881">
                <a:alpha val="28627"/>
              </a:srgbClr>
            </a:solidFill>
            <a:ln cap="sq">
              <a:noFill/>
              <a:prstDash val="solid"/>
              <a:miter/>
            </a:ln>
          </p:spPr>
          <p:txBody>
            <a:bodyPr/>
            <a:lstStyle/>
            <a:p>
              <a:endParaRPr lang="es-CO" sz="1200"/>
            </a:p>
          </p:txBody>
        </p:sp>
        <p:sp>
          <p:nvSpPr>
            <p:cNvPr id="127" name="TextBox 127"/>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grpSp>
        <p:nvGrpSpPr>
          <p:cNvPr id="128" name="Group 128"/>
          <p:cNvGrpSpPr/>
          <p:nvPr/>
        </p:nvGrpSpPr>
        <p:grpSpPr>
          <a:xfrm rot="5400000">
            <a:off x="6053649" y="3196476"/>
            <a:ext cx="1313757" cy="773288"/>
            <a:chOff x="0" y="0"/>
            <a:chExt cx="690443" cy="406400"/>
          </a:xfrm>
        </p:grpSpPr>
        <p:sp>
          <p:nvSpPr>
            <p:cNvPr id="129" name="Freeform 129"/>
            <p:cNvSpPr/>
            <p:nvPr/>
          </p:nvSpPr>
          <p:spPr>
            <a:xfrm>
              <a:off x="0" y="0"/>
              <a:ext cx="690443" cy="406400"/>
            </a:xfrm>
            <a:custGeom>
              <a:avLst/>
              <a:gdLst/>
              <a:ahLst/>
              <a:cxnLst/>
              <a:rect l="l" t="t" r="r" b="b"/>
              <a:pathLst>
                <a:path w="690443" h="406400">
                  <a:moveTo>
                    <a:pt x="487243" y="0"/>
                  </a:moveTo>
                  <a:lnTo>
                    <a:pt x="0" y="0"/>
                  </a:lnTo>
                  <a:lnTo>
                    <a:pt x="0" y="406400"/>
                  </a:lnTo>
                  <a:lnTo>
                    <a:pt x="487243" y="406400"/>
                  </a:lnTo>
                  <a:lnTo>
                    <a:pt x="690443" y="203200"/>
                  </a:lnTo>
                  <a:lnTo>
                    <a:pt x="487243" y="0"/>
                  </a:lnTo>
                  <a:close/>
                </a:path>
              </a:pathLst>
            </a:custGeom>
            <a:solidFill>
              <a:srgbClr val="007881"/>
            </a:solidFill>
          </p:spPr>
          <p:txBody>
            <a:bodyPr/>
            <a:lstStyle/>
            <a:p>
              <a:endParaRPr lang="es-CO" sz="1200"/>
            </a:p>
          </p:txBody>
        </p:sp>
        <p:sp>
          <p:nvSpPr>
            <p:cNvPr id="130" name="TextBox 130"/>
            <p:cNvSpPr txBox="1"/>
            <p:nvPr/>
          </p:nvSpPr>
          <p:spPr>
            <a:xfrm>
              <a:off x="0" y="-85725"/>
              <a:ext cx="576143" cy="492125"/>
            </a:xfrm>
            <a:prstGeom prst="rect">
              <a:avLst/>
            </a:prstGeom>
          </p:spPr>
          <p:txBody>
            <a:bodyPr lIns="33867" tIns="33867" rIns="33867" bIns="33867" rtlCol="0" anchor="ctr"/>
            <a:lstStyle/>
            <a:p>
              <a:pPr algn="ctr">
                <a:lnSpc>
                  <a:spcPts val="1867"/>
                </a:lnSpc>
              </a:pPr>
              <a:endParaRPr sz="1200"/>
            </a:p>
          </p:txBody>
        </p:sp>
      </p:grpSp>
      <p:grpSp>
        <p:nvGrpSpPr>
          <p:cNvPr id="131" name="Group 131"/>
          <p:cNvGrpSpPr/>
          <p:nvPr/>
        </p:nvGrpSpPr>
        <p:grpSpPr>
          <a:xfrm>
            <a:off x="6529309" y="3736495"/>
            <a:ext cx="362436" cy="355441"/>
            <a:chOff x="0" y="0"/>
            <a:chExt cx="724872" cy="710883"/>
          </a:xfrm>
        </p:grpSpPr>
        <p:grpSp>
          <p:nvGrpSpPr>
            <p:cNvPr id="132" name="Group 132"/>
            <p:cNvGrpSpPr/>
            <p:nvPr/>
          </p:nvGrpSpPr>
          <p:grpSpPr>
            <a:xfrm>
              <a:off x="6995" y="0"/>
              <a:ext cx="710883" cy="710883"/>
              <a:chOff x="0" y="0"/>
              <a:chExt cx="812800" cy="812800"/>
            </a:xfrm>
          </p:grpSpPr>
          <p:sp>
            <p:nvSpPr>
              <p:cNvPr id="133" name="Freeform 1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alpha val="40000"/>
                </a:srgbClr>
              </a:solidFill>
            </p:spPr>
            <p:txBody>
              <a:bodyPr/>
              <a:lstStyle/>
              <a:p>
                <a:endParaRPr lang="es-CO" sz="1200"/>
              </a:p>
            </p:txBody>
          </p:sp>
          <p:sp>
            <p:nvSpPr>
              <p:cNvPr id="134" name="TextBox 134"/>
              <p:cNvSpPr txBox="1"/>
              <p:nvPr/>
            </p:nvSpPr>
            <p:spPr>
              <a:xfrm>
                <a:off x="76200" y="28575"/>
                <a:ext cx="660400" cy="708025"/>
              </a:xfrm>
              <a:prstGeom prst="rect">
                <a:avLst/>
              </a:prstGeom>
            </p:spPr>
            <p:txBody>
              <a:bodyPr lIns="33867" tIns="33867" rIns="33867" bIns="33867" rtlCol="0" anchor="ctr"/>
              <a:lstStyle/>
              <a:p>
                <a:pPr algn="ctr">
                  <a:lnSpc>
                    <a:spcPts val="1773"/>
                  </a:lnSpc>
                </a:pPr>
                <a:endParaRPr sz="1200"/>
              </a:p>
            </p:txBody>
          </p:sp>
        </p:grpSp>
        <p:sp>
          <p:nvSpPr>
            <p:cNvPr id="135" name="TextBox 135"/>
            <p:cNvSpPr txBox="1"/>
            <p:nvPr/>
          </p:nvSpPr>
          <p:spPr>
            <a:xfrm>
              <a:off x="0" y="141876"/>
              <a:ext cx="724872" cy="398059"/>
            </a:xfrm>
            <a:prstGeom prst="rect">
              <a:avLst/>
            </a:prstGeom>
          </p:spPr>
          <p:txBody>
            <a:bodyPr lIns="0" tIns="0" rIns="0" bIns="0" rtlCol="0" anchor="t">
              <a:spAutoFit/>
            </a:bodyPr>
            <a:lstStyle/>
            <a:p>
              <a:pPr algn="ctr">
                <a:lnSpc>
                  <a:spcPts val="1703"/>
                </a:lnSpc>
              </a:pPr>
              <a:r>
                <a:rPr lang="en-US" sz="1217" b="1">
                  <a:solidFill>
                    <a:srgbClr val="FFFFFF"/>
                  </a:solidFill>
                  <a:latin typeface="Canva Sans Bold"/>
                  <a:ea typeface="Canva Sans Bold"/>
                  <a:cs typeface="Canva Sans Bold"/>
                  <a:sym typeface="Canva Sans Bold"/>
                </a:rPr>
                <a:t>08</a:t>
              </a:r>
            </a:p>
          </p:txBody>
        </p:sp>
      </p:grpSp>
      <p:sp>
        <p:nvSpPr>
          <p:cNvPr id="136" name="Freeform 136"/>
          <p:cNvSpPr/>
          <p:nvPr/>
        </p:nvSpPr>
        <p:spPr>
          <a:xfrm>
            <a:off x="6480094" y="3151056"/>
            <a:ext cx="450977" cy="480401"/>
          </a:xfrm>
          <a:custGeom>
            <a:avLst/>
            <a:gdLst/>
            <a:ahLst/>
            <a:cxnLst/>
            <a:rect l="l" t="t" r="r" b="b"/>
            <a:pathLst>
              <a:path w="676465" h="720601">
                <a:moveTo>
                  <a:pt x="0" y="0"/>
                </a:moveTo>
                <a:lnTo>
                  <a:pt x="676465" y="0"/>
                </a:lnTo>
                <a:lnTo>
                  <a:pt x="676465" y="720601"/>
                </a:lnTo>
                <a:lnTo>
                  <a:pt x="0" y="720601"/>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txBody>
          <a:bodyPr/>
          <a:lstStyle/>
          <a:p>
            <a:endParaRPr lang="es-CO" sz="1200"/>
          </a:p>
        </p:txBody>
      </p:sp>
      <p:sp>
        <p:nvSpPr>
          <p:cNvPr id="137" name="TextBox 137"/>
          <p:cNvSpPr txBox="1"/>
          <p:nvPr/>
        </p:nvSpPr>
        <p:spPr>
          <a:xfrm>
            <a:off x="551025" y="771530"/>
            <a:ext cx="6066322" cy="371897"/>
          </a:xfrm>
          <a:prstGeom prst="rect">
            <a:avLst/>
          </a:prstGeom>
        </p:spPr>
        <p:txBody>
          <a:bodyPr lIns="0" tIns="0" rIns="0" bIns="0" rtlCol="0" anchor="t">
            <a:spAutoFit/>
          </a:bodyPr>
          <a:lstStyle/>
          <a:p>
            <a:pPr>
              <a:lnSpc>
                <a:spcPts val="2879"/>
              </a:lnSpc>
            </a:pPr>
            <a:r>
              <a:rPr lang="en-US" sz="2666" b="1" spc="-13">
                <a:solidFill>
                  <a:srgbClr val="007881"/>
                </a:solidFill>
                <a:latin typeface="Arial Bold"/>
                <a:ea typeface="Arial Bold"/>
                <a:cs typeface="Arial Bold"/>
                <a:sym typeface="Arial Bold"/>
              </a:rPr>
              <a:t>Staff para Soluciones Digitales en:</a:t>
            </a:r>
          </a:p>
        </p:txBody>
      </p:sp>
      <p:sp>
        <p:nvSpPr>
          <p:cNvPr id="138" name="TextBox 138"/>
          <p:cNvSpPr txBox="1"/>
          <p:nvPr/>
        </p:nvSpPr>
        <p:spPr>
          <a:xfrm>
            <a:off x="2683818" y="1493674"/>
            <a:ext cx="1183075" cy="465320"/>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Fábrica de Software</a:t>
            </a:r>
          </a:p>
        </p:txBody>
      </p:sp>
      <p:sp>
        <p:nvSpPr>
          <p:cNvPr id="139" name="TextBox 139"/>
          <p:cNvSpPr txBox="1"/>
          <p:nvPr/>
        </p:nvSpPr>
        <p:spPr>
          <a:xfrm>
            <a:off x="9479935" y="3014026"/>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Integración</a:t>
            </a:r>
          </a:p>
        </p:txBody>
      </p:sp>
      <p:sp>
        <p:nvSpPr>
          <p:cNvPr id="140" name="TextBox 140"/>
          <p:cNvSpPr txBox="1"/>
          <p:nvPr/>
        </p:nvSpPr>
        <p:spPr>
          <a:xfrm>
            <a:off x="4932858" y="1493674"/>
            <a:ext cx="1183075" cy="465320"/>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Fábrica de pruebas</a:t>
            </a:r>
          </a:p>
        </p:txBody>
      </p:sp>
      <p:sp>
        <p:nvSpPr>
          <p:cNvPr id="141" name="TextBox 141"/>
          <p:cNvSpPr txBox="1"/>
          <p:nvPr/>
        </p:nvSpPr>
        <p:spPr>
          <a:xfrm>
            <a:off x="3940886" y="4560438"/>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DXP</a:t>
            </a:r>
          </a:p>
        </p:txBody>
      </p:sp>
      <p:sp>
        <p:nvSpPr>
          <p:cNvPr id="142" name="TextBox 142"/>
          <p:cNvSpPr txBox="1"/>
          <p:nvPr/>
        </p:nvSpPr>
        <p:spPr>
          <a:xfrm>
            <a:off x="7204308" y="1493674"/>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Analítica</a:t>
            </a:r>
          </a:p>
        </p:txBody>
      </p:sp>
      <p:sp>
        <p:nvSpPr>
          <p:cNvPr id="143" name="TextBox 143"/>
          <p:cNvSpPr txBox="1"/>
          <p:nvPr/>
        </p:nvSpPr>
        <p:spPr>
          <a:xfrm>
            <a:off x="6234749" y="4594055"/>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Cloud</a:t>
            </a:r>
          </a:p>
        </p:txBody>
      </p:sp>
      <p:sp>
        <p:nvSpPr>
          <p:cNvPr id="144" name="TextBox 144"/>
          <p:cNvSpPr txBox="1"/>
          <p:nvPr/>
        </p:nvSpPr>
        <p:spPr>
          <a:xfrm>
            <a:off x="9464553" y="1493674"/>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ERP</a:t>
            </a:r>
          </a:p>
        </p:txBody>
      </p:sp>
      <p:sp>
        <p:nvSpPr>
          <p:cNvPr id="145" name="TextBox 145"/>
          <p:cNvSpPr txBox="1"/>
          <p:nvPr/>
        </p:nvSpPr>
        <p:spPr>
          <a:xfrm>
            <a:off x="4947263" y="2966643"/>
            <a:ext cx="1183075" cy="465320"/>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Inteligencia </a:t>
            </a:r>
          </a:p>
          <a:p>
            <a:pPr>
              <a:lnSpc>
                <a:spcPts val="1867"/>
              </a:lnSpc>
            </a:pPr>
            <a:r>
              <a:rPr lang="en-US" sz="1333" b="1">
                <a:solidFill>
                  <a:srgbClr val="000000"/>
                </a:solidFill>
                <a:latin typeface="Arial Bold"/>
                <a:ea typeface="Arial Bold"/>
                <a:cs typeface="Arial Bold"/>
                <a:sym typeface="Arial Bold"/>
              </a:rPr>
              <a:t>Artificial</a:t>
            </a:r>
          </a:p>
        </p:txBody>
      </p:sp>
      <p:sp>
        <p:nvSpPr>
          <p:cNvPr id="146" name="TextBox 146"/>
          <p:cNvSpPr txBox="1"/>
          <p:nvPr/>
        </p:nvSpPr>
        <p:spPr>
          <a:xfrm>
            <a:off x="2644063" y="3065604"/>
            <a:ext cx="1383163"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Automatización</a:t>
            </a:r>
          </a:p>
        </p:txBody>
      </p:sp>
      <p:sp>
        <p:nvSpPr>
          <p:cNvPr id="147" name="TextBox 147"/>
          <p:cNvSpPr txBox="1"/>
          <p:nvPr/>
        </p:nvSpPr>
        <p:spPr>
          <a:xfrm>
            <a:off x="8446878" y="4610171"/>
            <a:ext cx="1492671"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Ciberseguridad</a:t>
            </a:r>
          </a:p>
        </p:txBody>
      </p:sp>
      <p:sp>
        <p:nvSpPr>
          <p:cNvPr id="148" name="TextBox 148"/>
          <p:cNvSpPr txBox="1"/>
          <p:nvPr/>
        </p:nvSpPr>
        <p:spPr>
          <a:xfrm>
            <a:off x="7200965" y="3034926"/>
            <a:ext cx="1183075" cy="221664"/>
          </a:xfrm>
          <a:prstGeom prst="rect">
            <a:avLst/>
          </a:prstGeom>
        </p:spPr>
        <p:txBody>
          <a:bodyPr lIns="0" tIns="0" rIns="0" bIns="0" rtlCol="0" anchor="t">
            <a:spAutoFit/>
          </a:bodyPr>
          <a:lstStyle/>
          <a:p>
            <a:pPr>
              <a:lnSpc>
                <a:spcPts val="1867"/>
              </a:lnSpc>
            </a:pPr>
            <a:r>
              <a:rPr lang="en-US" sz="1333" b="1">
                <a:solidFill>
                  <a:srgbClr val="000000"/>
                </a:solidFill>
                <a:latin typeface="Arial Bold"/>
                <a:ea typeface="Arial Bold"/>
                <a:cs typeface="Arial Bold"/>
                <a:sym typeface="Arial Bold"/>
              </a:rPr>
              <a:t>AMS</a:t>
            </a:r>
          </a:p>
        </p:txBody>
      </p:sp>
      <p:grpSp>
        <p:nvGrpSpPr>
          <p:cNvPr id="151" name="Group 53">
            <a:extLst>
              <a:ext uri="{FF2B5EF4-FFF2-40B4-BE49-F238E27FC236}">
                <a16:creationId xmlns:a16="http://schemas.microsoft.com/office/drawing/2014/main" id="{3E100E34-FCDA-8CC6-9681-456E7BEA87C7}"/>
              </a:ext>
            </a:extLst>
          </p:cNvPr>
          <p:cNvGrpSpPr/>
          <p:nvPr/>
        </p:nvGrpSpPr>
        <p:grpSpPr>
          <a:xfrm>
            <a:off x="-9867" y="5937480"/>
            <a:ext cx="12202413" cy="225833"/>
            <a:chOff x="0" y="-85725"/>
            <a:chExt cx="798874" cy="522598"/>
          </a:xfrm>
        </p:grpSpPr>
        <p:sp>
          <p:nvSpPr>
            <p:cNvPr id="152" name="Freeform 54">
              <a:extLst>
                <a:ext uri="{FF2B5EF4-FFF2-40B4-BE49-F238E27FC236}">
                  <a16:creationId xmlns:a16="http://schemas.microsoft.com/office/drawing/2014/main" id="{A6C83186-C9C6-3AA7-D54F-57DD2D0C419F}"/>
                </a:ext>
              </a:extLst>
            </p:cNvPr>
            <p:cNvSpPr/>
            <p:nvPr/>
          </p:nvSpPr>
          <p:spPr>
            <a:xfrm>
              <a:off x="0" y="0"/>
              <a:ext cx="798874" cy="436873"/>
            </a:xfrm>
            <a:custGeom>
              <a:avLst/>
              <a:gdLst/>
              <a:ahLst/>
              <a:cxnLst/>
              <a:rect l="l" t="t" r="r" b="b"/>
              <a:pathLst>
                <a:path w="798874" h="436873">
                  <a:moveTo>
                    <a:pt x="0" y="0"/>
                  </a:moveTo>
                  <a:lnTo>
                    <a:pt x="798874" y="0"/>
                  </a:lnTo>
                  <a:lnTo>
                    <a:pt x="798874" y="436873"/>
                  </a:lnTo>
                  <a:lnTo>
                    <a:pt x="0" y="436873"/>
                  </a:lnTo>
                  <a:close/>
                </a:path>
              </a:pathLst>
            </a:custGeom>
            <a:solidFill>
              <a:srgbClr val="1B2434">
                <a:alpha val="24706"/>
              </a:srgbClr>
            </a:solidFill>
            <a:ln cap="sq">
              <a:noFill/>
              <a:prstDash val="solid"/>
              <a:miter/>
            </a:ln>
          </p:spPr>
          <p:txBody>
            <a:bodyPr/>
            <a:lstStyle/>
            <a:p>
              <a:endParaRPr lang="es-CO" sz="1200"/>
            </a:p>
          </p:txBody>
        </p:sp>
        <p:sp>
          <p:nvSpPr>
            <p:cNvPr id="153" name="TextBox 55">
              <a:extLst>
                <a:ext uri="{FF2B5EF4-FFF2-40B4-BE49-F238E27FC236}">
                  <a16:creationId xmlns:a16="http://schemas.microsoft.com/office/drawing/2014/main" id="{4B5789BE-DBF9-A2B7-CE5D-395D571B36CA}"/>
                </a:ext>
              </a:extLst>
            </p:cNvPr>
            <p:cNvSpPr txBox="1"/>
            <p:nvPr/>
          </p:nvSpPr>
          <p:spPr>
            <a:xfrm>
              <a:off x="0" y="-85725"/>
              <a:ext cx="798874" cy="522598"/>
            </a:xfrm>
            <a:prstGeom prst="rect">
              <a:avLst/>
            </a:prstGeom>
          </p:spPr>
          <p:txBody>
            <a:bodyPr lIns="33867" tIns="33867" rIns="33867" bIns="33867" rtlCol="0" anchor="ctr"/>
            <a:lstStyle/>
            <a:p>
              <a:pPr algn="ctr">
                <a:lnSpc>
                  <a:spcPts val="1867"/>
                </a:lnSpc>
                <a:spcBef>
                  <a:spcPct val="0"/>
                </a:spcBef>
              </a:pPr>
              <a:endParaRPr sz="1200"/>
            </a:p>
          </p:txBody>
        </p:sp>
      </p:grpSp>
      <p:sp>
        <p:nvSpPr>
          <p:cNvPr id="161" name="CuadroTexto 160">
            <a:extLst>
              <a:ext uri="{FF2B5EF4-FFF2-40B4-BE49-F238E27FC236}">
                <a16:creationId xmlns:a16="http://schemas.microsoft.com/office/drawing/2014/main" id="{66010085-CD57-AF1F-5197-4C5CE1549021}"/>
              </a:ext>
            </a:extLst>
          </p:cNvPr>
          <p:cNvSpPr txBox="1"/>
          <p:nvPr/>
        </p:nvSpPr>
        <p:spPr>
          <a:xfrm>
            <a:off x="4835236" y="5925494"/>
            <a:ext cx="2743200" cy="2923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300" b="1">
                <a:latin typeface="Arial Bold"/>
              </a:rPr>
              <a:t>Capacity</a:t>
            </a:r>
            <a:endParaRPr lang="es-ES"/>
          </a:p>
        </p:txBody>
      </p:sp>
      <p:pic>
        <p:nvPicPr>
          <p:cNvPr id="154" name="Imagen 153" descr="Forma&#10;&#10;Descripción generada automáticamente">
            <a:extLst>
              <a:ext uri="{FF2B5EF4-FFF2-40B4-BE49-F238E27FC236}">
                <a16:creationId xmlns:a16="http://schemas.microsoft.com/office/drawing/2014/main" id="{127E1BD2-607C-64F0-4923-0642AE74777C}"/>
              </a:ext>
            </a:extLst>
          </p:cNvPr>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10165398" y="6733816"/>
            <a:ext cx="2056097" cy="141717"/>
          </a:xfrm>
          <a:prstGeom prst="rect">
            <a:avLst/>
          </a:prstGeom>
        </p:spPr>
      </p:pic>
      <p:pic>
        <p:nvPicPr>
          <p:cNvPr id="155" name="Imagen 154">
            <a:extLst>
              <a:ext uri="{FF2B5EF4-FFF2-40B4-BE49-F238E27FC236}">
                <a16:creationId xmlns:a16="http://schemas.microsoft.com/office/drawing/2014/main" id="{2784009D-646B-B90F-C04B-DAA876DDD361}"/>
              </a:ext>
            </a:extLst>
          </p:cNvPr>
          <p:cNvPicPr>
            <a:picLocks noChangeAspect="1"/>
          </p:cNvPicPr>
          <p:nvPr/>
        </p:nvPicPr>
        <p:blipFill>
          <a:blip r:embed="rId26"/>
          <a:stretch>
            <a:fillRect/>
          </a:stretch>
        </p:blipFill>
        <p:spPr>
          <a:xfrm>
            <a:off x="10130828" y="6203384"/>
            <a:ext cx="2135671" cy="54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3" name="TextBox 3"/>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grpSp>
        <p:nvGrpSpPr>
          <p:cNvPr id="5" name="Group 5"/>
          <p:cNvGrpSpPr/>
          <p:nvPr/>
        </p:nvGrpSpPr>
        <p:grpSpPr>
          <a:xfrm>
            <a:off x="283822" y="1904165"/>
            <a:ext cx="768141" cy="7681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49AF"/>
            </a:solidFill>
          </p:spPr>
          <p:txBody>
            <a:bodyPr/>
            <a:lstStyle/>
            <a:p>
              <a:endParaRPr lang="es-CO" sz="1200"/>
            </a:p>
          </p:txBody>
        </p:sp>
        <p:sp>
          <p:nvSpPr>
            <p:cNvPr id="7" name="TextBox 7"/>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grpSp>
        <p:nvGrpSpPr>
          <p:cNvPr id="8" name="Group 8"/>
          <p:cNvGrpSpPr/>
          <p:nvPr/>
        </p:nvGrpSpPr>
        <p:grpSpPr>
          <a:xfrm>
            <a:off x="3332564" y="1877283"/>
            <a:ext cx="768141" cy="768141"/>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97CA"/>
            </a:solidFill>
          </p:spPr>
          <p:txBody>
            <a:bodyPr/>
            <a:lstStyle/>
            <a:p>
              <a:endParaRPr lang="es-CO" sz="1200"/>
            </a:p>
          </p:txBody>
        </p:sp>
        <p:sp>
          <p:nvSpPr>
            <p:cNvPr id="10" name="TextBox 10"/>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grpSp>
        <p:nvGrpSpPr>
          <p:cNvPr id="11" name="Group 11"/>
          <p:cNvGrpSpPr/>
          <p:nvPr/>
        </p:nvGrpSpPr>
        <p:grpSpPr>
          <a:xfrm>
            <a:off x="6094963" y="1848707"/>
            <a:ext cx="768141" cy="76814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C195"/>
            </a:solidFill>
          </p:spPr>
          <p:txBody>
            <a:bodyPr/>
            <a:lstStyle/>
            <a:p>
              <a:endParaRPr lang="es-CO" sz="1200"/>
            </a:p>
          </p:txBody>
        </p:sp>
        <p:sp>
          <p:nvSpPr>
            <p:cNvPr id="13" name="TextBox 13"/>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grpSp>
        <p:nvGrpSpPr>
          <p:cNvPr id="14" name="Group 14"/>
          <p:cNvGrpSpPr/>
          <p:nvPr/>
        </p:nvGrpSpPr>
        <p:grpSpPr>
          <a:xfrm>
            <a:off x="1083554" y="4825661"/>
            <a:ext cx="768141" cy="768141"/>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73C5"/>
            </a:solidFill>
          </p:spPr>
          <p:txBody>
            <a:bodyPr/>
            <a:lstStyle/>
            <a:p>
              <a:endParaRPr lang="es-CO" sz="1200"/>
            </a:p>
          </p:txBody>
        </p:sp>
        <p:sp>
          <p:nvSpPr>
            <p:cNvPr id="16" name="TextBox 16"/>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grpSp>
        <p:nvGrpSpPr>
          <p:cNvPr id="17" name="Group 17"/>
          <p:cNvGrpSpPr/>
          <p:nvPr/>
        </p:nvGrpSpPr>
        <p:grpSpPr>
          <a:xfrm>
            <a:off x="5203883" y="4993282"/>
            <a:ext cx="768141" cy="76814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BAC7"/>
            </a:solidFill>
          </p:spPr>
          <p:txBody>
            <a:bodyPr/>
            <a:lstStyle/>
            <a:p>
              <a:endParaRPr lang="es-CO" sz="1200"/>
            </a:p>
          </p:txBody>
        </p:sp>
        <p:sp>
          <p:nvSpPr>
            <p:cNvPr id="19" name="TextBox 19"/>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grpSp>
        <p:nvGrpSpPr>
          <p:cNvPr id="20" name="Group 20"/>
          <p:cNvGrpSpPr/>
          <p:nvPr/>
        </p:nvGrpSpPr>
        <p:grpSpPr>
          <a:xfrm>
            <a:off x="8323802" y="4837416"/>
            <a:ext cx="768141" cy="768141"/>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5C740"/>
            </a:solidFill>
          </p:spPr>
          <p:txBody>
            <a:bodyPr/>
            <a:lstStyle/>
            <a:p>
              <a:endParaRPr lang="es-CO" sz="1200"/>
            </a:p>
          </p:txBody>
        </p:sp>
        <p:sp>
          <p:nvSpPr>
            <p:cNvPr id="22" name="TextBox 22"/>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sp>
        <p:nvSpPr>
          <p:cNvPr id="23" name="Freeform 23"/>
          <p:cNvSpPr/>
          <p:nvPr/>
        </p:nvSpPr>
        <p:spPr>
          <a:xfrm>
            <a:off x="426265" y="2005438"/>
            <a:ext cx="483255" cy="483255"/>
          </a:xfrm>
          <a:custGeom>
            <a:avLst/>
            <a:gdLst/>
            <a:ahLst/>
            <a:cxnLst/>
            <a:rect l="l" t="t" r="r" b="b"/>
            <a:pathLst>
              <a:path w="724882" h="724882">
                <a:moveTo>
                  <a:pt x="0" y="0"/>
                </a:moveTo>
                <a:lnTo>
                  <a:pt x="724882" y="0"/>
                </a:lnTo>
                <a:lnTo>
                  <a:pt x="724882" y="724883"/>
                </a:lnTo>
                <a:lnTo>
                  <a:pt x="0" y="72488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sz="1200"/>
          </a:p>
        </p:txBody>
      </p:sp>
      <p:sp>
        <p:nvSpPr>
          <p:cNvPr id="24" name="Freeform 24"/>
          <p:cNvSpPr/>
          <p:nvPr/>
        </p:nvSpPr>
        <p:spPr>
          <a:xfrm>
            <a:off x="1180411" y="4990720"/>
            <a:ext cx="635033" cy="457223"/>
          </a:xfrm>
          <a:custGeom>
            <a:avLst/>
            <a:gdLst/>
            <a:ahLst/>
            <a:cxnLst/>
            <a:rect l="l" t="t" r="r" b="b"/>
            <a:pathLst>
              <a:path w="952549" h="685835">
                <a:moveTo>
                  <a:pt x="0" y="0"/>
                </a:moveTo>
                <a:lnTo>
                  <a:pt x="952549" y="0"/>
                </a:lnTo>
                <a:lnTo>
                  <a:pt x="952549" y="685835"/>
                </a:lnTo>
                <a:lnTo>
                  <a:pt x="0" y="68583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CO" sz="1200"/>
          </a:p>
        </p:txBody>
      </p:sp>
      <p:sp>
        <p:nvSpPr>
          <p:cNvPr id="25" name="Freeform 25"/>
          <p:cNvSpPr/>
          <p:nvPr/>
        </p:nvSpPr>
        <p:spPr>
          <a:xfrm>
            <a:off x="3442042" y="2035556"/>
            <a:ext cx="558969" cy="527527"/>
          </a:xfrm>
          <a:custGeom>
            <a:avLst/>
            <a:gdLst/>
            <a:ahLst/>
            <a:cxnLst/>
            <a:rect l="l" t="t" r="r" b="b"/>
            <a:pathLst>
              <a:path w="838454" h="791291">
                <a:moveTo>
                  <a:pt x="0" y="0"/>
                </a:moveTo>
                <a:lnTo>
                  <a:pt x="838454" y="0"/>
                </a:lnTo>
                <a:lnTo>
                  <a:pt x="838454" y="791291"/>
                </a:lnTo>
                <a:lnTo>
                  <a:pt x="0" y="79129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O" sz="1200"/>
          </a:p>
        </p:txBody>
      </p:sp>
      <p:sp>
        <p:nvSpPr>
          <p:cNvPr id="26" name="Freeform 26"/>
          <p:cNvSpPr/>
          <p:nvPr/>
        </p:nvSpPr>
        <p:spPr>
          <a:xfrm>
            <a:off x="5267005" y="5056404"/>
            <a:ext cx="641897" cy="641897"/>
          </a:xfrm>
          <a:custGeom>
            <a:avLst/>
            <a:gdLst/>
            <a:ahLst/>
            <a:cxnLst/>
            <a:rect l="l" t="t" r="r" b="b"/>
            <a:pathLst>
              <a:path w="962846" h="962846">
                <a:moveTo>
                  <a:pt x="0" y="0"/>
                </a:moveTo>
                <a:lnTo>
                  <a:pt x="962846" y="0"/>
                </a:lnTo>
                <a:lnTo>
                  <a:pt x="962846" y="962846"/>
                </a:lnTo>
                <a:lnTo>
                  <a:pt x="0" y="96284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CO" sz="1200"/>
          </a:p>
        </p:txBody>
      </p:sp>
      <p:sp>
        <p:nvSpPr>
          <p:cNvPr id="27" name="Freeform 27"/>
          <p:cNvSpPr/>
          <p:nvPr/>
        </p:nvSpPr>
        <p:spPr>
          <a:xfrm>
            <a:off x="6119914" y="1961186"/>
            <a:ext cx="649611" cy="657834"/>
          </a:xfrm>
          <a:custGeom>
            <a:avLst/>
            <a:gdLst/>
            <a:ahLst/>
            <a:cxnLst/>
            <a:rect l="l" t="t" r="r" b="b"/>
            <a:pathLst>
              <a:path w="974416" h="986751">
                <a:moveTo>
                  <a:pt x="0" y="0"/>
                </a:moveTo>
                <a:lnTo>
                  <a:pt x="974417" y="0"/>
                </a:lnTo>
                <a:lnTo>
                  <a:pt x="974417" y="986751"/>
                </a:lnTo>
                <a:lnTo>
                  <a:pt x="0" y="98675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s-CO" sz="1200"/>
          </a:p>
        </p:txBody>
      </p:sp>
      <p:sp>
        <p:nvSpPr>
          <p:cNvPr id="28" name="Freeform 28"/>
          <p:cNvSpPr/>
          <p:nvPr/>
        </p:nvSpPr>
        <p:spPr>
          <a:xfrm>
            <a:off x="8448646" y="4931948"/>
            <a:ext cx="643297" cy="673610"/>
          </a:xfrm>
          <a:custGeom>
            <a:avLst/>
            <a:gdLst/>
            <a:ahLst/>
            <a:cxnLst/>
            <a:rect l="l" t="t" r="r" b="b"/>
            <a:pathLst>
              <a:path w="964946" h="1010415">
                <a:moveTo>
                  <a:pt x="0" y="0"/>
                </a:moveTo>
                <a:lnTo>
                  <a:pt x="964946" y="0"/>
                </a:lnTo>
                <a:lnTo>
                  <a:pt x="964946" y="1010415"/>
                </a:lnTo>
                <a:lnTo>
                  <a:pt x="0" y="1010415"/>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s-CO" sz="1200"/>
          </a:p>
        </p:txBody>
      </p:sp>
      <p:sp>
        <p:nvSpPr>
          <p:cNvPr id="29" name="Freeform 29"/>
          <p:cNvSpPr/>
          <p:nvPr/>
        </p:nvSpPr>
        <p:spPr>
          <a:xfrm>
            <a:off x="336764" y="2967624"/>
            <a:ext cx="1798203" cy="908092"/>
          </a:xfrm>
          <a:custGeom>
            <a:avLst/>
            <a:gdLst/>
            <a:ahLst/>
            <a:cxnLst/>
            <a:rect l="l" t="t" r="r" b="b"/>
            <a:pathLst>
              <a:path w="2697304" h="1362138">
                <a:moveTo>
                  <a:pt x="0" y="0"/>
                </a:moveTo>
                <a:lnTo>
                  <a:pt x="2697303" y="0"/>
                </a:lnTo>
                <a:lnTo>
                  <a:pt x="2697303" y="1362138"/>
                </a:lnTo>
                <a:lnTo>
                  <a:pt x="0" y="1362138"/>
                </a:lnTo>
                <a:lnTo>
                  <a:pt x="0" y="0"/>
                </a:lnTo>
                <a:close/>
              </a:path>
            </a:pathLst>
          </a:custGeom>
          <a:blipFill>
            <a:blip r:embed="rId15">
              <a:extLst>
                <a:ext uri="{96DAC541-7B7A-43D3-8B79-37D633B846F1}">
                  <asvg:svgBlip xmlns:asvg="http://schemas.microsoft.com/office/drawing/2016/SVG/main" r:embed="rId16"/>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0" name="Freeform 30"/>
          <p:cNvSpPr/>
          <p:nvPr/>
        </p:nvSpPr>
        <p:spPr>
          <a:xfrm rot="10738223">
            <a:off x="1841607" y="3828299"/>
            <a:ext cx="1798203" cy="908092"/>
          </a:xfrm>
          <a:custGeom>
            <a:avLst/>
            <a:gdLst/>
            <a:ahLst/>
            <a:cxnLst/>
            <a:rect l="l" t="t" r="r" b="b"/>
            <a:pathLst>
              <a:path w="2697304" h="1362138">
                <a:moveTo>
                  <a:pt x="0" y="0"/>
                </a:moveTo>
                <a:lnTo>
                  <a:pt x="2697304" y="0"/>
                </a:lnTo>
                <a:lnTo>
                  <a:pt x="2697304" y="1362139"/>
                </a:lnTo>
                <a:lnTo>
                  <a:pt x="0" y="1362139"/>
                </a:lnTo>
                <a:lnTo>
                  <a:pt x="0" y="0"/>
                </a:lnTo>
                <a:close/>
              </a:path>
            </a:pathLst>
          </a:custGeom>
          <a:blipFill>
            <a:blip r:embed="rId17">
              <a:extLst>
                <a:ext uri="{96DAC541-7B7A-43D3-8B79-37D633B846F1}">
                  <asvg:svgBlip xmlns:asvg="http://schemas.microsoft.com/office/drawing/2016/SVG/main" r:embed="rId18"/>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1" name="Freeform 31"/>
          <p:cNvSpPr/>
          <p:nvPr/>
        </p:nvSpPr>
        <p:spPr>
          <a:xfrm>
            <a:off x="3332563" y="2942016"/>
            <a:ext cx="1798203" cy="908092"/>
          </a:xfrm>
          <a:custGeom>
            <a:avLst/>
            <a:gdLst/>
            <a:ahLst/>
            <a:cxnLst/>
            <a:rect l="l" t="t" r="r" b="b"/>
            <a:pathLst>
              <a:path w="2697304" h="1362138">
                <a:moveTo>
                  <a:pt x="0" y="0"/>
                </a:moveTo>
                <a:lnTo>
                  <a:pt x="2697303" y="0"/>
                </a:lnTo>
                <a:lnTo>
                  <a:pt x="2697303" y="1362139"/>
                </a:lnTo>
                <a:lnTo>
                  <a:pt x="0" y="1362139"/>
                </a:lnTo>
                <a:lnTo>
                  <a:pt x="0" y="0"/>
                </a:lnTo>
                <a:close/>
              </a:path>
            </a:pathLst>
          </a:custGeom>
          <a:blipFill>
            <a:blip r:embed="rId19">
              <a:extLst>
                <a:ext uri="{96DAC541-7B7A-43D3-8B79-37D633B846F1}">
                  <asvg:svgBlip xmlns:asvg="http://schemas.microsoft.com/office/drawing/2016/SVG/main" r:embed="rId20"/>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2" name="Freeform 32"/>
          <p:cNvSpPr/>
          <p:nvPr/>
        </p:nvSpPr>
        <p:spPr>
          <a:xfrm rot="10738223">
            <a:off x="4838683" y="3802692"/>
            <a:ext cx="1798203" cy="908092"/>
          </a:xfrm>
          <a:custGeom>
            <a:avLst/>
            <a:gdLst/>
            <a:ahLst/>
            <a:cxnLst/>
            <a:rect l="l" t="t" r="r" b="b"/>
            <a:pathLst>
              <a:path w="2697304" h="1362138">
                <a:moveTo>
                  <a:pt x="0" y="0"/>
                </a:moveTo>
                <a:lnTo>
                  <a:pt x="2697304" y="0"/>
                </a:lnTo>
                <a:lnTo>
                  <a:pt x="2697304" y="1362138"/>
                </a:lnTo>
                <a:lnTo>
                  <a:pt x="0" y="1362138"/>
                </a:lnTo>
                <a:lnTo>
                  <a:pt x="0" y="0"/>
                </a:lnTo>
                <a:close/>
              </a:path>
            </a:pathLst>
          </a:custGeom>
          <a:blipFill>
            <a:blip r:embed="rId21">
              <a:extLst>
                <a:ext uri="{96DAC541-7B7A-43D3-8B79-37D633B846F1}">
                  <asvg:svgBlip xmlns:asvg="http://schemas.microsoft.com/office/drawing/2016/SVG/main" r:embed="rId22"/>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3" name="Freeform 33"/>
          <p:cNvSpPr/>
          <p:nvPr/>
        </p:nvSpPr>
        <p:spPr>
          <a:xfrm>
            <a:off x="6330915" y="2897359"/>
            <a:ext cx="1798203" cy="908092"/>
          </a:xfrm>
          <a:custGeom>
            <a:avLst/>
            <a:gdLst/>
            <a:ahLst/>
            <a:cxnLst/>
            <a:rect l="l" t="t" r="r" b="b"/>
            <a:pathLst>
              <a:path w="2697304" h="1362138">
                <a:moveTo>
                  <a:pt x="0" y="0"/>
                </a:moveTo>
                <a:lnTo>
                  <a:pt x="2697304" y="0"/>
                </a:lnTo>
                <a:lnTo>
                  <a:pt x="2697304" y="1362138"/>
                </a:lnTo>
                <a:lnTo>
                  <a:pt x="0" y="1362138"/>
                </a:lnTo>
                <a:lnTo>
                  <a:pt x="0" y="0"/>
                </a:lnTo>
                <a:close/>
              </a:path>
            </a:pathLst>
          </a:custGeom>
          <a:blipFill>
            <a:blip r:embed="rId23">
              <a:extLst>
                <a:ext uri="{96DAC541-7B7A-43D3-8B79-37D633B846F1}">
                  <asvg:svgBlip xmlns:asvg="http://schemas.microsoft.com/office/drawing/2016/SVG/main" r:embed="rId24"/>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4" name="Freeform 34"/>
          <p:cNvSpPr/>
          <p:nvPr/>
        </p:nvSpPr>
        <p:spPr>
          <a:xfrm rot="10738223">
            <a:off x="7840521" y="3758034"/>
            <a:ext cx="1798203" cy="908092"/>
          </a:xfrm>
          <a:custGeom>
            <a:avLst/>
            <a:gdLst/>
            <a:ahLst/>
            <a:cxnLst/>
            <a:rect l="l" t="t" r="r" b="b"/>
            <a:pathLst>
              <a:path w="2697304" h="1362138">
                <a:moveTo>
                  <a:pt x="0" y="0"/>
                </a:moveTo>
                <a:lnTo>
                  <a:pt x="2697304" y="0"/>
                </a:lnTo>
                <a:lnTo>
                  <a:pt x="2697304" y="1362139"/>
                </a:lnTo>
                <a:lnTo>
                  <a:pt x="0" y="1362139"/>
                </a:lnTo>
                <a:lnTo>
                  <a:pt x="0" y="0"/>
                </a:lnTo>
                <a:close/>
              </a:path>
            </a:pathLst>
          </a:custGeom>
          <a:blipFill>
            <a:blip r:embed="rId25">
              <a:extLst>
                <a:ext uri="{96DAC541-7B7A-43D3-8B79-37D633B846F1}">
                  <asvg:svgBlip xmlns:asvg="http://schemas.microsoft.com/office/drawing/2016/SVG/main" r:embed="rId26"/>
                </a:ext>
              </a:extLst>
            </a:blip>
            <a:stretch>
              <a:fillRect/>
            </a:stretch>
          </a:blipFill>
          <a:effectLst>
            <a:outerShdw blurRad="50800" dist="38100" dir="8100000" algn="tr" rotWithShape="0">
              <a:prstClr val="black">
                <a:alpha val="40000"/>
              </a:prstClr>
            </a:outerShdw>
          </a:effectLst>
        </p:spPr>
        <p:txBody>
          <a:bodyPr/>
          <a:lstStyle/>
          <a:p>
            <a:endParaRPr lang="es-CO" sz="1200"/>
          </a:p>
        </p:txBody>
      </p:sp>
      <p:sp>
        <p:nvSpPr>
          <p:cNvPr id="35" name="Freeform 35"/>
          <p:cNvSpPr/>
          <p:nvPr/>
        </p:nvSpPr>
        <p:spPr>
          <a:xfrm>
            <a:off x="9329268" y="2859259"/>
            <a:ext cx="1798203" cy="908092"/>
          </a:xfrm>
          <a:custGeom>
            <a:avLst/>
            <a:gdLst/>
            <a:ahLst/>
            <a:cxnLst/>
            <a:rect l="l" t="t" r="r" b="b"/>
            <a:pathLst>
              <a:path w="2697304" h="1362138">
                <a:moveTo>
                  <a:pt x="0" y="0"/>
                </a:moveTo>
                <a:lnTo>
                  <a:pt x="2697304" y="0"/>
                </a:lnTo>
                <a:lnTo>
                  <a:pt x="2697304" y="1362138"/>
                </a:lnTo>
                <a:lnTo>
                  <a:pt x="0" y="1362138"/>
                </a:lnTo>
                <a:lnTo>
                  <a:pt x="0" y="0"/>
                </a:lnTo>
                <a:close/>
              </a:path>
            </a:pathLst>
          </a:custGeom>
          <a:blipFill>
            <a:blip r:embed="rId27">
              <a:extLst>
                <a:ext uri="{96DAC541-7B7A-43D3-8B79-37D633B846F1}">
                  <asvg:svgBlip xmlns:asvg="http://schemas.microsoft.com/office/drawing/2016/SVG/main" r:embed="rId28"/>
                </a:ext>
              </a:extLst>
            </a:blip>
            <a:stretch>
              <a:fillRect/>
            </a:stretch>
          </a:blipFill>
          <a:effectLst>
            <a:outerShdw blurRad="50800" dist="38100" dir="8100000" algn="tr" rotWithShape="0">
              <a:prstClr val="black">
                <a:alpha val="40000"/>
              </a:prstClr>
            </a:outerShdw>
          </a:effectLst>
        </p:spPr>
        <p:txBody>
          <a:bodyPr/>
          <a:lstStyle/>
          <a:p>
            <a:endParaRPr lang="es-CO" sz="1200"/>
          </a:p>
        </p:txBody>
      </p:sp>
      <p:grpSp>
        <p:nvGrpSpPr>
          <p:cNvPr id="36" name="Group 36"/>
          <p:cNvGrpSpPr/>
          <p:nvPr/>
        </p:nvGrpSpPr>
        <p:grpSpPr>
          <a:xfrm>
            <a:off x="9329268" y="1877283"/>
            <a:ext cx="768141" cy="768141"/>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E83F"/>
            </a:solidFill>
          </p:spPr>
          <p:txBody>
            <a:bodyPr/>
            <a:lstStyle/>
            <a:p>
              <a:endParaRPr lang="es-CO" sz="1200"/>
            </a:p>
          </p:txBody>
        </p:sp>
        <p:sp>
          <p:nvSpPr>
            <p:cNvPr id="38" name="TextBox 38"/>
            <p:cNvSpPr txBox="1"/>
            <p:nvPr/>
          </p:nvSpPr>
          <p:spPr>
            <a:xfrm>
              <a:off x="76200" y="0"/>
              <a:ext cx="660400" cy="736600"/>
            </a:xfrm>
            <a:prstGeom prst="rect">
              <a:avLst/>
            </a:prstGeom>
          </p:spPr>
          <p:txBody>
            <a:bodyPr lIns="33867" tIns="33867" rIns="33867" bIns="33867" rtlCol="0" anchor="ctr"/>
            <a:lstStyle/>
            <a:p>
              <a:pPr algn="ctr">
                <a:lnSpc>
                  <a:spcPts val="1866"/>
                </a:lnSpc>
              </a:pPr>
              <a:endParaRPr sz="1200"/>
            </a:p>
          </p:txBody>
        </p:sp>
      </p:grpSp>
      <p:sp>
        <p:nvSpPr>
          <p:cNvPr id="39" name="Freeform 39"/>
          <p:cNvSpPr/>
          <p:nvPr/>
        </p:nvSpPr>
        <p:spPr>
          <a:xfrm>
            <a:off x="9497302" y="1938451"/>
            <a:ext cx="515249" cy="557779"/>
          </a:xfrm>
          <a:custGeom>
            <a:avLst/>
            <a:gdLst/>
            <a:ahLst/>
            <a:cxnLst/>
            <a:rect l="l" t="t" r="r" b="b"/>
            <a:pathLst>
              <a:path w="772873" h="836669">
                <a:moveTo>
                  <a:pt x="0" y="0"/>
                </a:moveTo>
                <a:lnTo>
                  <a:pt x="772874" y="0"/>
                </a:lnTo>
                <a:lnTo>
                  <a:pt x="772874" y="836670"/>
                </a:lnTo>
                <a:lnTo>
                  <a:pt x="0" y="836670"/>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txBody>
          <a:bodyPr/>
          <a:lstStyle/>
          <a:p>
            <a:endParaRPr lang="es-CO" sz="1200"/>
          </a:p>
        </p:txBody>
      </p:sp>
      <p:sp>
        <p:nvSpPr>
          <p:cNvPr id="40" name="TextBox 40"/>
          <p:cNvSpPr txBox="1"/>
          <p:nvPr/>
        </p:nvSpPr>
        <p:spPr>
          <a:xfrm>
            <a:off x="688366" y="875544"/>
            <a:ext cx="6066322" cy="371897"/>
          </a:xfrm>
          <a:prstGeom prst="rect">
            <a:avLst/>
          </a:prstGeom>
        </p:spPr>
        <p:txBody>
          <a:bodyPr lIns="0" tIns="0" rIns="0" bIns="0" rtlCol="0" anchor="t">
            <a:spAutoFit/>
          </a:bodyPr>
          <a:lstStyle/>
          <a:p>
            <a:pPr>
              <a:lnSpc>
                <a:spcPts val="2879"/>
              </a:lnSpc>
            </a:pPr>
            <a:r>
              <a:rPr lang="en-US" sz="2666" b="1" spc="-13">
                <a:solidFill>
                  <a:srgbClr val="007881"/>
                </a:solidFill>
                <a:latin typeface="Arial Bold"/>
                <a:ea typeface="Arial Bold"/>
                <a:cs typeface="Arial Bold"/>
                <a:sym typeface="Arial Bold"/>
              </a:rPr>
              <a:t>Roadmap del servicio</a:t>
            </a:r>
          </a:p>
        </p:txBody>
      </p:sp>
      <p:sp>
        <p:nvSpPr>
          <p:cNvPr id="41" name="TextBox 41"/>
          <p:cNvSpPr txBox="1"/>
          <p:nvPr/>
        </p:nvSpPr>
        <p:spPr>
          <a:xfrm>
            <a:off x="1229780" y="1870755"/>
            <a:ext cx="1810374" cy="603178"/>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Levantamiento necesidad del cliente y negociación</a:t>
            </a:r>
          </a:p>
        </p:txBody>
      </p:sp>
      <p:sp>
        <p:nvSpPr>
          <p:cNvPr id="42" name="TextBox 42"/>
          <p:cNvSpPr txBox="1"/>
          <p:nvPr/>
        </p:nvSpPr>
        <p:spPr>
          <a:xfrm>
            <a:off x="2091846" y="5032575"/>
            <a:ext cx="2737387" cy="603178"/>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Búsqueda del talento especializado</a:t>
            </a:r>
          </a:p>
          <a:p>
            <a:pPr>
              <a:lnSpc>
                <a:spcPts val="1599"/>
              </a:lnSpc>
            </a:pPr>
            <a:r>
              <a:rPr lang="en-US" sz="1333">
                <a:solidFill>
                  <a:srgbClr val="697477"/>
                </a:solidFill>
                <a:latin typeface="Arial"/>
                <a:ea typeface="Arial"/>
                <a:cs typeface="Arial"/>
                <a:sym typeface="Arial"/>
              </a:rPr>
              <a:t>envió de las hvs + entrevistas + pruebas técnicas y psicotécnicas </a:t>
            </a:r>
          </a:p>
        </p:txBody>
      </p:sp>
      <p:sp>
        <p:nvSpPr>
          <p:cNvPr id="43" name="TextBox 43"/>
          <p:cNvSpPr txBox="1"/>
          <p:nvPr/>
        </p:nvSpPr>
        <p:spPr>
          <a:xfrm>
            <a:off x="4310255" y="1899507"/>
            <a:ext cx="1431015" cy="603178"/>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Asignación de coordinador de personal </a:t>
            </a:r>
          </a:p>
        </p:txBody>
      </p:sp>
      <p:sp>
        <p:nvSpPr>
          <p:cNvPr id="44" name="TextBox 44"/>
          <p:cNvSpPr txBox="1"/>
          <p:nvPr/>
        </p:nvSpPr>
        <p:spPr>
          <a:xfrm>
            <a:off x="6200624" y="5213737"/>
            <a:ext cx="1543015" cy="192810"/>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OnBoarding al staff</a:t>
            </a:r>
          </a:p>
        </p:txBody>
      </p:sp>
      <p:sp>
        <p:nvSpPr>
          <p:cNvPr id="45" name="TextBox 45"/>
          <p:cNvSpPr txBox="1"/>
          <p:nvPr/>
        </p:nvSpPr>
        <p:spPr>
          <a:xfrm>
            <a:off x="9331256" y="4980772"/>
            <a:ext cx="2067705" cy="603178"/>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Acompañamiento y Evaluaciones de desempeño</a:t>
            </a:r>
          </a:p>
        </p:txBody>
      </p:sp>
      <p:sp>
        <p:nvSpPr>
          <p:cNvPr id="46" name="TextBox 46"/>
          <p:cNvSpPr txBox="1"/>
          <p:nvPr/>
        </p:nvSpPr>
        <p:spPr>
          <a:xfrm>
            <a:off x="10249810" y="1730838"/>
            <a:ext cx="2138917" cy="808363"/>
          </a:xfrm>
          <a:prstGeom prst="rect">
            <a:avLst/>
          </a:prstGeom>
        </p:spPr>
        <p:txBody>
          <a:bodyPr lIns="0" tIns="0" rIns="0" bIns="0" rtlCol="0" anchor="t">
            <a:spAutoFit/>
          </a:bodyPr>
          <a:lstStyle/>
          <a:p>
            <a:pPr>
              <a:lnSpc>
                <a:spcPts val="1599"/>
              </a:lnSpc>
            </a:pPr>
            <a:r>
              <a:rPr lang="en-US" sz="1333">
                <a:solidFill>
                  <a:srgbClr val="697477"/>
                </a:solidFill>
                <a:latin typeface="Arial"/>
                <a:ea typeface="Arial"/>
                <a:cs typeface="Arial"/>
                <a:sym typeface="Arial"/>
              </a:rPr>
              <a:t>Gestión del </a:t>
            </a:r>
          </a:p>
          <a:p>
            <a:pPr>
              <a:lnSpc>
                <a:spcPts val="1599"/>
              </a:lnSpc>
            </a:pPr>
            <a:r>
              <a:rPr lang="en-US" sz="1333">
                <a:solidFill>
                  <a:srgbClr val="697477"/>
                </a:solidFill>
                <a:latin typeface="Arial"/>
                <a:ea typeface="Arial"/>
                <a:cs typeface="Arial"/>
                <a:sym typeface="Arial"/>
              </a:rPr>
              <a:t>servicio</a:t>
            </a:r>
          </a:p>
          <a:p>
            <a:pPr>
              <a:lnSpc>
                <a:spcPts val="1599"/>
              </a:lnSpc>
            </a:pPr>
            <a:r>
              <a:rPr lang="en-US" sz="1333">
                <a:solidFill>
                  <a:srgbClr val="697477"/>
                </a:solidFill>
                <a:latin typeface="Arial"/>
                <a:ea typeface="Arial"/>
                <a:cs typeface="Arial"/>
                <a:sym typeface="Arial"/>
              </a:rPr>
              <a:t>y seguimiento </a:t>
            </a:r>
          </a:p>
          <a:p>
            <a:pPr>
              <a:lnSpc>
                <a:spcPts val="1599"/>
              </a:lnSpc>
            </a:pPr>
            <a:r>
              <a:rPr lang="en-US" sz="1333">
                <a:solidFill>
                  <a:srgbClr val="697477"/>
                </a:solidFill>
                <a:latin typeface="Arial"/>
                <a:ea typeface="Arial"/>
                <a:cs typeface="Arial"/>
                <a:sym typeface="Arial"/>
              </a:rPr>
              <a:t>NPS</a:t>
            </a:r>
          </a:p>
        </p:txBody>
      </p:sp>
      <p:sp>
        <p:nvSpPr>
          <p:cNvPr id="47" name="TextBox 47"/>
          <p:cNvSpPr txBox="1"/>
          <p:nvPr/>
        </p:nvSpPr>
        <p:spPr>
          <a:xfrm>
            <a:off x="6925988" y="1917252"/>
            <a:ext cx="2296229" cy="603178"/>
          </a:xfrm>
          <a:prstGeom prst="rect">
            <a:avLst/>
          </a:prstGeom>
        </p:spPr>
        <p:txBody>
          <a:bodyPr wrap="square" lIns="0" tIns="0" rIns="0" bIns="0" rtlCol="0" anchor="t">
            <a:spAutoFit/>
          </a:bodyPr>
          <a:lstStyle/>
          <a:p>
            <a:pPr>
              <a:lnSpc>
                <a:spcPts val="1599"/>
              </a:lnSpc>
            </a:pPr>
            <a:r>
              <a:rPr lang="en-US" sz="1333">
                <a:solidFill>
                  <a:srgbClr val="697477"/>
                </a:solidFill>
                <a:latin typeface="Arial"/>
                <a:ea typeface="Arial"/>
                <a:cs typeface="Arial"/>
                <a:sym typeface="Arial"/>
              </a:rPr>
              <a:t>Presentación del colaborador al cliente y entrega de responsabilidades y funciones </a:t>
            </a:r>
          </a:p>
        </p:txBody>
      </p:sp>
      <p:sp>
        <p:nvSpPr>
          <p:cNvPr id="51" name="Elipse 50">
            <a:extLst>
              <a:ext uri="{FF2B5EF4-FFF2-40B4-BE49-F238E27FC236}">
                <a16:creationId xmlns:a16="http://schemas.microsoft.com/office/drawing/2014/main" id="{A493B239-61F1-F663-B63A-CAA3CB5252E2}"/>
              </a:ext>
            </a:extLst>
          </p:cNvPr>
          <p:cNvSpPr/>
          <p:nvPr/>
        </p:nvSpPr>
        <p:spPr>
          <a:xfrm>
            <a:off x="551574" y="2502103"/>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CuadroTexto 51">
            <a:extLst>
              <a:ext uri="{FF2B5EF4-FFF2-40B4-BE49-F238E27FC236}">
                <a16:creationId xmlns:a16="http://schemas.microsoft.com/office/drawing/2014/main" id="{B1F6B568-B59F-B441-4F6C-E7F4C09B77FB}"/>
              </a:ext>
            </a:extLst>
          </p:cNvPr>
          <p:cNvSpPr txBox="1"/>
          <p:nvPr/>
        </p:nvSpPr>
        <p:spPr>
          <a:xfrm>
            <a:off x="575413" y="2503011"/>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1</a:t>
            </a:r>
          </a:p>
        </p:txBody>
      </p:sp>
      <p:sp>
        <p:nvSpPr>
          <p:cNvPr id="53" name="Elipse 52">
            <a:extLst>
              <a:ext uri="{FF2B5EF4-FFF2-40B4-BE49-F238E27FC236}">
                <a16:creationId xmlns:a16="http://schemas.microsoft.com/office/drawing/2014/main" id="{FF877DBC-D3FC-A8AF-CDFE-43AB27E1BC4A}"/>
              </a:ext>
            </a:extLst>
          </p:cNvPr>
          <p:cNvSpPr/>
          <p:nvPr/>
        </p:nvSpPr>
        <p:spPr>
          <a:xfrm>
            <a:off x="1019468" y="5443155"/>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4" name="CuadroTexto 53">
            <a:extLst>
              <a:ext uri="{FF2B5EF4-FFF2-40B4-BE49-F238E27FC236}">
                <a16:creationId xmlns:a16="http://schemas.microsoft.com/office/drawing/2014/main" id="{5B9E51D0-B65B-89C4-D75F-E9A06158AB94}"/>
              </a:ext>
            </a:extLst>
          </p:cNvPr>
          <p:cNvSpPr txBox="1"/>
          <p:nvPr/>
        </p:nvSpPr>
        <p:spPr>
          <a:xfrm>
            <a:off x="1043307" y="5444064"/>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2</a:t>
            </a:r>
          </a:p>
        </p:txBody>
      </p:sp>
      <p:sp>
        <p:nvSpPr>
          <p:cNvPr id="55" name="Elipse 54">
            <a:extLst>
              <a:ext uri="{FF2B5EF4-FFF2-40B4-BE49-F238E27FC236}">
                <a16:creationId xmlns:a16="http://schemas.microsoft.com/office/drawing/2014/main" id="{4FAD87CE-FF74-B1B5-FEBC-047D07A08735}"/>
              </a:ext>
            </a:extLst>
          </p:cNvPr>
          <p:cNvSpPr/>
          <p:nvPr/>
        </p:nvSpPr>
        <p:spPr>
          <a:xfrm>
            <a:off x="3759994" y="2502102"/>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6" name="CuadroTexto 55">
            <a:extLst>
              <a:ext uri="{FF2B5EF4-FFF2-40B4-BE49-F238E27FC236}">
                <a16:creationId xmlns:a16="http://schemas.microsoft.com/office/drawing/2014/main" id="{766FFEF2-FEDF-A041-4554-8AA4DDD69923}"/>
              </a:ext>
            </a:extLst>
          </p:cNvPr>
          <p:cNvSpPr txBox="1"/>
          <p:nvPr/>
        </p:nvSpPr>
        <p:spPr>
          <a:xfrm>
            <a:off x="3783833" y="2503011"/>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3</a:t>
            </a:r>
          </a:p>
        </p:txBody>
      </p:sp>
      <p:sp>
        <p:nvSpPr>
          <p:cNvPr id="57" name="Elipse 56">
            <a:extLst>
              <a:ext uri="{FF2B5EF4-FFF2-40B4-BE49-F238E27FC236}">
                <a16:creationId xmlns:a16="http://schemas.microsoft.com/office/drawing/2014/main" id="{1312B4DE-8AEF-9B9A-C782-4BC2E754F9A9}"/>
              </a:ext>
            </a:extLst>
          </p:cNvPr>
          <p:cNvSpPr/>
          <p:nvPr/>
        </p:nvSpPr>
        <p:spPr>
          <a:xfrm>
            <a:off x="5711784" y="5523366"/>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8" name="CuadroTexto 57">
            <a:extLst>
              <a:ext uri="{FF2B5EF4-FFF2-40B4-BE49-F238E27FC236}">
                <a16:creationId xmlns:a16="http://schemas.microsoft.com/office/drawing/2014/main" id="{81CF3D29-5620-B77B-FB7A-3C3C9BA830A5}"/>
              </a:ext>
            </a:extLst>
          </p:cNvPr>
          <p:cNvSpPr txBox="1"/>
          <p:nvPr/>
        </p:nvSpPr>
        <p:spPr>
          <a:xfrm>
            <a:off x="5735623" y="5524274"/>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4</a:t>
            </a:r>
          </a:p>
        </p:txBody>
      </p:sp>
      <p:sp>
        <p:nvSpPr>
          <p:cNvPr id="59" name="Elipse 58">
            <a:extLst>
              <a:ext uri="{FF2B5EF4-FFF2-40B4-BE49-F238E27FC236}">
                <a16:creationId xmlns:a16="http://schemas.microsoft.com/office/drawing/2014/main" id="{000E21A0-9528-1AC1-0DFE-545E86F1A86C}"/>
              </a:ext>
            </a:extLst>
          </p:cNvPr>
          <p:cNvSpPr/>
          <p:nvPr/>
        </p:nvSpPr>
        <p:spPr>
          <a:xfrm>
            <a:off x="6500520" y="2475365"/>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0" name="CuadroTexto 59">
            <a:extLst>
              <a:ext uri="{FF2B5EF4-FFF2-40B4-BE49-F238E27FC236}">
                <a16:creationId xmlns:a16="http://schemas.microsoft.com/office/drawing/2014/main" id="{B8D5DD52-B308-9A06-2E35-DE604259E898}"/>
              </a:ext>
            </a:extLst>
          </p:cNvPr>
          <p:cNvSpPr txBox="1"/>
          <p:nvPr/>
        </p:nvSpPr>
        <p:spPr>
          <a:xfrm>
            <a:off x="6524359" y="2476274"/>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5</a:t>
            </a:r>
          </a:p>
        </p:txBody>
      </p:sp>
      <p:sp>
        <p:nvSpPr>
          <p:cNvPr id="61" name="Elipse 60">
            <a:extLst>
              <a:ext uri="{FF2B5EF4-FFF2-40B4-BE49-F238E27FC236}">
                <a16:creationId xmlns:a16="http://schemas.microsoft.com/office/drawing/2014/main" id="{C2DC53BE-2C6E-0950-0CC1-FFBE5C454D2F}"/>
              </a:ext>
            </a:extLst>
          </p:cNvPr>
          <p:cNvSpPr/>
          <p:nvPr/>
        </p:nvSpPr>
        <p:spPr>
          <a:xfrm>
            <a:off x="8746415" y="5456523"/>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2" name="CuadroTexto 61">
            <a:extLst>
              <a:ext uri="{FF2B5EF4-FFF2-40B4-BE49-F238E27FC236}">
                <a16:creationId xmlns:a16="http://schemas.microsoft.com/office/drawing/2014/main" id="{D8505647-DEA0-8975-A1CC-E7514BF81EA1}"/>
              </a:ext>
            </a:extLst>
          </p:cNvPr>
          <p:cNvSpPr txBox="1"/>
          <p:nvPr/>
        </p:nvSpPr>
        <p:spPr>
          <a:xfrm>
            <a:off x="8770254" y="5457432"/>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6</a:t>
            </a:r>
          </a:p>
        </p:txBody>
      </p:sp>
      <p:sp>
        <p:nvSpPr>
          <p:cNvPr id="63" name="Elipse 62">
            <a:extLst>
              <a:ext uri="{FF2B5EF4-FFF2-40B4-BE49-F238E27FC236}">
                <a16:creationId xmlns:a16="http://schemas.microsoft.com/office/drawing/2014/main" id="{9E213D0B-7F90-694C-F693-BA1585326536}"/>
              </a:ext>
            </a:extLst>
          </p:cNvPr>
          <p:cNvSpPr/>
          <p:nvPr/>
        </p:nvSpPr>
        <p:spPr>
          <a:xfrm>
            <a:off x="9722310" y="2381787"/>
            <a:ext cx="366553" cy="346683"/>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4" name="CuadroTexto 63">
            <a:extLst>
              <a:ext uri="{FF2B5EF4-FFF2-40B4-BE49-F238E27FC236}">
                <a16:creationId xmlns:a16="http://schemas.microsoft.com/office/drawing/2014/main" id="{1CB38B47-7EA6-C3B8-3BEF-6D0D4156F33A}"/>
              </a:ext>
            </a:extLst>
          </p:cNvPr>
          <p:cNvSpPr txBox="1"/>
          <p:nvPr/>
        </p:nvSpPr>
        <p:spPr>
          <a:xfrm>
            <a:off x="9746149" y="2382696"/>
            <a:ext cx="32273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s-ES" b="1">
                <a:solidFill>
                  <a:srgbClr val="002060"/>
                </a:solidFill>
              </a:rPr>
              <a:t>7</a:t>
            </a:r>
          </a:p>
        </p:txBody>
      </p:sp>
      <p:pic>
        <p:nvPicPr>
          <p:cNvPr id="50" name="Imagen 49" descr="Forma&#10;&#10;Descripción generada automáticamente">
            <a:extLst>
              <a:ext uri="{FF2B5EF4-FFF2-40B4-BE49-F238E27FC236}">
                <a16:creationId xmlns:a16="http://schemas.microsoft.com/office/drawing/2014/main" id="{A30C9658-A529-6B04-292D-F3F554D110AD}"/>
              </a:ext>
            </a:extLst>
          </p:cNvPr>
          <p:cNvPicPr>
            <a:picLocks noChangeAspect="1"/>
          </p:cNvPicPr>
          <p:nvPr/>
        </p:nvPicPr>
        <p:blipFill>
          <a:blip r:embed="rId31" cstate="print">
            <a:extLst>
              <a:ext uri="{28A0092B-C50C-407E-A947-70E740481C1C}">
                <a14:useLocalDpi xmlns:a14="http://schemas.microsoft.com/office/drawing/2010/main" val="0"/>
              </a:ext>
            </a:extLst>
          </a:blip>
          <a:stretch>
            <a:fillRect/>
          </a:stretch>
        </p:blipFill>
        <p:spPr>
          <a:xfrm>
            <a:off x="10260847" y="6751310"/>
            <a:ext cx="1945901" cy="134121"/>
          </a:xfrm>
          <a:prstGeom prst="rect">
            <a:avLst/>
          </a:prstGeom>
        </p:spPr>
      </p:pic>
      <p:pic>
        <p:nvPicPr>
          <p:cNvPr id="65" name="Imagen 64">
            <a:extLst>
              <a:ext uri="{FF2B5EF4-FFF2-40B4-BE49-F238E27FC236}">
                <a16:creationId xmlns:a16="http://schemas.microsoft.com/office/drawing/2014/main" id="{CFE4ADA5-0C68-6CAF-0DAE-F5A2EA1C8F3E}"/>
              </a:ext>
            </a:extLst>
          </p:cNvPr>
          <p:cNvPicPr>
            <a:picLocks noChangeAspect="1"/>
          </p:cNvPicPr>
          <p:nvPr/>
        </p:nvPicPr>
        <p:blipFill>
          <a:blip r:embed="rId32"/>
          <a:stretch>
            <a:fillRect/>
          </a:stretch>
        </p:blipFill>
        <p:spPr>
          <a:xfrm>
            <a:off x="10157990" y="6218560"/>
            <a:ext cx="2135676" cy="54000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10" name="TextBox 10"/>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sp>
        <p:nvSpPr>
          <p:cNvPr id="11" name="TextBox 11"/>
          <p:cNvSpPr txBox="1"/>
          <p:nvPr/>
        </p:nvSpPr>
        <p:spPr>
          <a:xfrm>
            <a:off x="604915" y="908075"/>
            <a:ext cx="6066322" cy="371897"/>
          </a:xfrm>
          <a:prstGeom prst="rect">
            <a:avLst/>
          </a:prstGeom>
        </p:spPr>
        <p:txBody>
          <a:bodyPr lIns="0" tIns="0" rIns="0" bIns="0" rtlCol="0" anchor="t">
            <a:spAutoFit/>
          </a:bodyPr>
          <a:lstStyle/>
          <a:p>
            <a:pPr>
              <a:lnSpc>
                <a:spcPts val="2879"/>
              </a:lnSpc>
            </a:pPr>
            <a:r>
              <a:rPr lang="en-US" sz="2666" b="1" spc="-13">
                <a:solidFill>
                  <a:srgbClr val="007881"/>
                </a:solidFill>
                <a:latin typeface="Arial Bold"/>
                <a:ea typeface="Arial Bold"/>
                <a:cs typeface="Arial Bold"/>
                <a:sym typeface="Arial Bold"/>
              </a:rPr>
              <a:t>Formación continua</a:t>
            </a:r>
          </a:p>
        </p:txBody>
      </p:sp>
      <p:sp>
        <p:nvSpPr>
          <p:cNvPr id="12" name="TextBox 12"/>
          <p:cNvSpPr txBox="1"/>
          <p:nvPr/>
        </p:nvSpPr>
        <p:spPr>
          <a:xfrm>
            <a:off x="1231284" y="4651484"/>
            <a:ext cx="9898541" cy="1010405"/>
          </a:xfrm>
          <a:prstGeom prst="rect">
            <a:avLst/>
          </a:prstGeom>
        </p:spPr>
        <p:txBody>
          <a:bodyPr wrap="square" lIns="0" tIns="0" rIns="0" bIns="0" rtlCol="0" anchor="t">
            <a:spAutoFit/>
          </a:bodyPr>
          <a:lstStyle/>
          <a:p>
            <a:pPr algn="just">
              <a:lnSpc>
                <a:spcPts val="1999"/>
              </a:lnSpc>
              <a:spcBef>
                <a:spcPct val="0"/>
              </a:spcBef>
            </a:pPr>
            <a:r>
              <a:rPr lang="es-CO" sz="1666" noProof="0">
                <a:solidFill>
                  <a:srgbClr val="000000"/>
                </a:solidFill>
                <a:latin typeface="Arial"/>
                <a:ea typeface="Arial"/>
                <a:cs typeface="Arial"/>
                <a:sym typeface="Arial"/>
              </a:rPr>
              <a:t>En Hitss, garantizamos un acompañamiento y formación continua a nuestros profesionales, asegurando que nuestros equipos estén siempre actualizados y alineados con las mejores prácticas del sector. Mediante la utilización de herramientas tecnológicas de vanguardia potenciamos sus habilidades blandas y promovemos su constante actualización. ¡Estamos siempre listos para enfrentar los desafíos del futuro!</a:t>
            </a:r>
          </a:p>
        </p:txBody>
      </p:sp>
      <p:sp>
        <p:nvSpPr>
          <p:cNvPr id="7" name="Rectángulo 6">
            <a:extLst>
              <a:ext uri="{FF2B5EF4-FFF2-40B4-BE49-F238E27FC236}">
                <a16:creationId xmlns:a16="http://schemas.microsoft.com/office/drawing/2014/main" id="{74A1B79D-7451-0B95-CE89-02E232881474}"/>
              </a:ext>
            </a:extLst>
          </p:cNvPr>
          <p:cNvSpPr/>
          <p:nvPr/>
        </p:nvSpPr>
        <p:spPr>
          <a:xfrm>
            <a:off x="-14851" y="3501588"/>
            <a:ext cx="12228134" cy="87336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b="1">
              <a:solidFill>
                <a:schemeClr val="bg1"/>
              </a:solidFill>
            </a:endParaRPr>
          </a:p>
          <a:p>
            <a:pPr algn="ctr"/>
            <a:r>
              <a:rPr lang="es-ES" b="1">
                <a:solidFill>
                  <a:schemeClr val="bg1"/>
                </a:solidFill>
              </a:rPr>
              <a:t>Plan de Formación y Capacitación</a:t>
            </a:r>
            <a:endParaRPr lang="es-ES">
              <a:solidFill>
                <a:schemeClr val="bg1"/>
              </a:solidFill>
            </a:endParaRPr>
          </a:p>
          <a:p>
            <a:endParaRPr lang="es-ES">
              <a:solidFill>
                <a:srgbClr val="000000"/>
              </a:solidFill>
            </a:endParaRPr>
          </a:p>
        </p:txBody>
      </p:sp>
      <p:sp>
        <p:nvSpPr>
          <p:cNvPr id="17" name="Elipse 16">
            <a:extLst>
              <a:ext uri="{FF2B5EF4-FFF2-40B4-BE49-F238E27FC236}">
                <a16:creationId xmlns:a16="http://schemas.microsoft.com/office/drawing/2014/main" id="{A09335E1-2677-7EB6-CAB0-CF1EFE7ACFBA}"/>
              </a:ext>
            </a:extLst>
          </p:cNvPr>
          <p:cNvSpPr/>
          <p:nvPr/>
        </p:nvSpPr>
        <p:spPr>
          <a:xfrm>
            <a:off x="1231284" y="3259489"/>
            <a:ext cx="353491" cy="35349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Elipse 17">
            <a:extLst>
              <a:ext uri="{FF2B5EF4-FFF2-40B4-BE49-F238E27FC236}">
                <a16:creationId xmlns:a16="http://schemas.microsoft.com/office/drawing/2014/main" id="{A0F2D28E-B929-6C44-61A4-88B9BB45F81B}"/>
              </a:ext>
            </a:extLst>
          </p:cNvPr>
          <p:cNvSpPr/>
          <p:nvPr/>
        </p:nvSpPr>
        <p:spPr>
          <a:xfrm>
            <a:off x="4493178" y="3259488"/>
            <a:ext cx="353491" cy="35349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Elipse 18">
            <a:extLst>
              <a:ext uri="{FF2B5EF4-FFF2-40B4-BE49-F238E27FC236}">
                <a16:creationId xmlns:a16="http://schemas.microsoft.com/office/drawing/2014/main" id="{3C24F8B4-56BB-D4AA-77F3-177D4006C142}"/>
              </a:ext>
            </a:extLst>
          </p:cNvPr>
          <p:cNvSpPr/>
          <p:nvPr/>
        </p:nvSpPr>
        <p:spPr>
          <a:xfrm>
            <a:off x="8156125" y="3312961"/>
            <a:ext cx="353491" cy="35349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0" name="Elipse 19">
            <a:extLst>
              <a:ext uri="{FF2B5EF4-FFF2-40B4-BE49-F238E27FC236}">
                <a16:creationId xmlns:a16="http://schemas.microsoft.com/office/drawing/2014/main" id="{98620AA4-FF19-65AA-D40F-A62F25061608}"/>
              </a:ext>
            </a:extLst>
          </p:cNvPr>
          <p:cNvSpPr/>
          <p:nvPr/>
        </p:nvSpPr>
        <p:spPr>
          <a:xfrm>
            <a:off x="10776335" y="3312960"/>
            <a:ext cx="353491" cy="353491"/>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2" name="Imagen 21" descr="Forma&#10;&#10;Descripción generada automáticamente">
            <a:extLst>
              <a:ext uri="{FF2B5EF4-FFF2-40B4-BE49-F238E27FC236}">
                <a16:creationId xmlns:a16="http://schemas.microsoft.com/office/drawing/2014/main" id="{698FB293-05DB-1373-977F-92228B23F2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7087" y="6747278"/>
            <a:ext cx="2004409" cy="138154"/>
          </a:xfrm>
          <a:prstGeom prst="rect">
            <a:avLst/>
          </a:prstGeom>
        </p:spPr>
      </p:pic>
      <p:pic>
        <p:nvPicPr>
          <p:cNvPr id="23" name="Imagen 22">
            <a:extLst>
              <a:ext uri="{FF2B5EF4-FFF2-40B4-BE49-F238E27FC236}">
                <a16:creationId xmlns:a16="http://schemas.microsoft.com/office/drawing/2014/main" id="{AC6F4BE8-4CEE-1EEB-B37B-0D4EF506D5C4}"/>
              </a:ext>
            </a:extLst>
          </p:cNvPr>
          <p:cNvPicPr>
            <a:picLocks noChangeAspect="1"/>
          </p:cNvPicPr>
          <p:nvPr/>
        </p:nvPicPr>
        <p:blipFill>
          <a:blip r:embed="rId4"/>
          <a:stretch>
            <a:fillRect/>
          </a:stretch>
        </p:blipFill>
        <p:spPr>
          <a:xfrm>
            <a:off x="10139881" y="6203384"/>
            <a:ext cx="2135676" cy="540000"/>
          </a:xfrm>
          <a:prstGeom prst="rect">
            <a:avLst/>
          </a:prstGeom>
        </p:spPr>
      </p:pic>
      <p:pic>
        <p:nvPicPr>
          <p:cNvPr id="6" name="Imagen 5" descr="Logotipo&#10;&#10;Descripción generada automáticamente">
            <a:extLst>
              <a:ext uri="{FF2B5EF4-FFF2-40B4-BE49-F238E27FC236}">
                <a16:creationId xmlns:a16="http://schemas.microsoft.com/office/drawing/2014/main" id="{24D17DD5-E7B5-F35B-AF0E-71256534EF49}"/>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26440" b="25062"/>
          <a:stretch/>
        </p:blipFill>
        <p:spPr>
          <a:xfrm>
            <a:off x="1541838" y="2695794"/>
            <a:ext cx="859102" cy="234363"/>
          </a:xfrm>
          <a:prstGeom prst="rect">
            <a:avLst/>
          </a:prstGeom>
        </p:spPr>
      </p:pic>
      <p:pic>
        <p:nvPicPr>
          <p:cNvPr id="13" name="Imagen 12" descr="Círculo&#10;&#10;Descripción generada automáticamente con confianza media">
            <a:extLst>
              <a:ext uri="{FF2B5EF4-FFF2-40B4-BE49-F238E27FC236}">
                <a16:creationId xmlns:a16="http://schemas.microsoft.com/office/drawing/2014/main" id="{F523C952-2F35-1DA2-CE6D-E8000492D34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95648" y="2650646"/>
            <a:ext cx="560361" cy="392033"/>
          </a:xfrm>
          <a:prstGeom prst="rect">
            <a:avLst/>
          </a:prstGeom>
        </p:spPr>
      </p:pic>
      <p:pic>
        <p:nvPicPr>
          <p:cNvPr id="14" name="Imagen 13" descr="Imagen que contiene Logotipo&#10;&#10;Descripción generada automáticamente">
            <a:extLst>
              <a:ext uri="{FF2B5EF4-FFF2-40B4-BE49-F238E27FC236}">
                <a16:creationId xmlns:a16="http://schemas.microsoft.com/office/drawing/2014/main" id="{AAF37257-1167-D41D-2AFA-A9FF7AA3CD8D}"/>
              </a:ext>
            </a:extLst>
          </p:cNvPr>
          <p:cNvPicPr>
            <a:picLocks noChangeAspect="1"/>
          </p:cNvPicPr>
          <p:nvPr/>
        </p:nvPicPr>
        <p:blipFill>
          <a:blip r:embed="rId7"/>
          <a:stretch>
            <a:fillRect/>
          </a:stretch>
        </p:blipFill>
        <p:spPr>
          <a:xfrm>
            <a:off x="4067384" y="2738286"/>
            <a:ext cx="588173" cy="333802"/>
          </a:xfrm>
          <a:prstGeom prst="rect">
            <a:avLst/>
          </a:prstGeom>
        </p:spPr>
      </p:pic>
      <p:pic>
        <p:nvPicPr>
          <p:cNvPr id="16" name="Imagen 15">
            <a:extLst>
              <a:ext uri="{FF2B5EF4-FFF2-40B4-BE49-F238E27FC236}">
                <a16:creationId xmlns:a16="http://schemas.microsoft.com/office/drawing/2014/main" id="{61A84BE6-01EF-86F9-4B1C-127DF15CE7D7}"/>
              </a:ext>
            </a:extLst>
          </p:cNvPr>
          <p:cNvPicPr>
            <a:picLocks noChangeAspect="1"/>
          </p:cNvPicPr>
          <p:nvPr/>
        </p:nvPicPr>
        <p:blipFill>
          <a:blip r:embed="rId8"/>
          <a:stretch>
            <a:fillRect/>
          </a:stretch>
        </p:blipFill>
        <p:spPr>
          <a:xfrm>
            <a:off x="5285964" y="2819301"/>
            <a:ext cx="868262" cy="113969"/>
          </a:xfrm>
          <a:prstGeom prst="rect">
            <a:avLst/>
          </a:prstGeom>
        </p:spPr>
      </p:pic>
      <p:pic>
        <p:nvPicPr>
          <p:cNvPr id="24" name="Imagen 23" descr="Logotipo&#10;&#10;Descripción generada automáticamente">
            <a:extLst>
              <a:ext uri="{FF2B5EF4-FFF2-40B4-BE49-F238E27FC236}">
                <a16:creationId xmlns:a16="http://schemas.microsoft.com/office/drawing/2014/main" id="{9AD3BCA9-0865-58B5-40EF-F8D727B1711B}"/>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365138" y="2738286"/>
            <a:ext cx="699441" cy="356551"/>
          </a:xfrm>
          <a:prstGeom prst="rect">
            <a:avLst/>
          </a:prstGeom>
        </p:spPr>
      </p:pic>
      <p:pic>
        <p:nvPicPr>
          <p:cNvPr id="25" name="Imagen 24" descr="Logotipo&#10;&#10;Descripción generada automáticamente">
            <a:extLst>
              <a:ext uri="{FF2B5EF4-FFF2-40B4-BE49-F238E27FC236}">
                <a16:creationId xmlns:a16="http://schemas.microsoft.com/office/drawing/2014/main" id="{BACE77A2-65F2-16D4-2BC1-CF5C013384C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704097" y="2707883"/>
            <a:ext cx="806189" cy="340741"/>
          </a:xfrm>
          <a:prstGeom prst="rect">
            <a:avLst/>
          </a:prstGeom>
        </p:spPr>
      </p:pic>
      <p:pic>
        <p:nvPicPr>
          <p:cNvPr id="26" name="Imagen 25" descr="Logotipo&#10;&#10;Descripción generada automáticamente">
            <a:extLst>
              <a:ext uri="{FF2B5EF4-FFF2-40B4-BE49-F238E27FC236}">
                <a16:creationId xmlns:a16="http://schemas.microsoft.com/office/drawing/2014/main" id="{BC78BEF9-0CC3-D1E7-A976-FA6E76DBA083}"/>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0505159" y="2656162"/>
            <a:ext cx="910372" cy="455186"/>
          </a:xfrm>
          <a:prstGeom prst="rect">
            <a:avLst/>
          </a:prstGeom>
        </p:spPr>
      </p:pic>
      <p:sp>
        <p:nvSpPr>
          <p:cNvPr id="27" name="Freeform 4">
            <a:extLst>
              <a:ext uri="{FF2B5EF4-FFF2-40B4-BE49-F238E27FC236}">
                <a16:creationId xmlns:a16="http://schemas.microsoft.com/office/drawing/2014/main" id="{1A57699D-8C7E-1669-0A7F-9FDD9D2FAC08}"/>
              </a:ext>
            </a:extLst>
          </p:cNvPr>
          <p:cNvSpPr/>
          <p:nvPr/>
        </p:nvSpPr>
        <p:spPr>
          <a:xfrm>
            <a:off x="5720095" y="1979034"/>
            <a:ext cx="2952000" cy="468000"/>
          </a:xfrm>
          <a:custGeom>
            <a:avLst/>
            <a:gdLst/>
            <a:ahLst/>
            <a:cxnLst/>
            <a:rect l="l" t="t" r="r" b="b"/>
            <a:pathLst>
              <a:path w="7435383" h="879220">
                <a:moveTo>
                  <a:pt x="0" y="0"/>
                </a:moveTo>
                <a:lnTo>
                  <a:pt x="7435383" y="0"/>
                </a:lnTo>
                <a:lnTo>
                  <a:pt x="7435383" y="879220"/>
                </a:lnTo>
                <a:lnTo>
                  <a:pt x="0" y="879220"/>
                </a:lnTo>
                <a:lnTo>
                  <a:pt x="0" y="0"/>
                </a:lnTo>
                <a:close/>
              </a:path>
            </a:pathLst>
          </a:custGeom>
          <a:blipFill>
            <a:blip r:embed="rId12"/>
            <a:stretch>
              <a:fillRect/>
            </a:stretch>
          </a:blipFill>
        </p:spPr>
        <p:txBody>
          <a:bodyPr/>
          <a:lstStyle/>
          <a:p>
            <a:endParaRPr lang="es-CO" sz="1200" noProof="0"/>
          </a:p>
        </p:txBody>
      </p:sp>
      <p:sp>
        <p:nvSpPr>
          <p:cNvPr id="28" name="Freeform 5">
            <a:extLst>
              <a:ext uri="{FF2B5EF4-FFF2-40B4-BE49-F238E27FC236}">
                <a16:creationId xmlns:a16="http://schemas.microsoft.com/office/drawing/2014/main" id="{845F30E4-C3FB-25A1-1858-58B07D21E25E}"/>
              </a:ext>
            </a:extLst>
          </p:cNvPr>
          <p:cNvSpPr/>
          <p:nvPr/>
        </p:nvSpPr>
        <p:spPr>
          <a:xfrm>
            <a:off x="3252284" y="1990483"/>
            <a:ext cx="1908000" cy="540000"/>
          </a:xfrm>
          <a:custGeom>
            <a:avLst/>
            <a:gdLst/>
            <a:ahLst/>
            <a:cxnLst/>
            <a:rect l="l" t="t" r="r" b="b"/>
            <a:pathLst>
              <a:path w="5337834" h="1294425">
                <a:moveTo>
                  <a:pt x="0" y="0"/>
                </a:moveTo>
                <a:lnTo>
                  <a:pt x="5337834" y="0"/>
                </a:lnTo>
                <a:lnTo>
                  <a:pt x="5337834" y="1294425"/>
                </a:lnTo>
                <a:lnTo>
                  <a:pt x="0" y="1294425"/>
                </a:lnTo>
                <a:lnTo>
                  <a:pt x="0" y="0"/>
                </a:lnTo>
                <a:close/>
              </a:path>
            </a:pathLst>
          </a:custGeom>
          <a:blipFill>
            <a:blip r:embed="rId13"/>
            <a:stretch>
              <a:fillRect/>
            </a:stretch>
          </a:blipFill>
        </p:spPr>
        <p:txBody>
          <a:bodyPr/>
          <a:lstStyle/>
          <a:p>
            <a:endParaRPr lang="es-CO" sz="1200" noProof="0"/>
          </a:p>
        </p:txBody>
      </p:sp>
      <p:pic>
        <p:nvPicPr>
          <p:cNvPr id="29" name="Imagen 28" descr="Logotipo&#10;&#10;Descripción generada automáticamente">
            <a:extLst>
              <a:ext uri="{FF2B5EF4-FFF2-40B4-BE49-F238E27FC236}">
                <a16:creationId xmlns:a16="http://schemas.microsoft.com/office/drawing/2014/main" id="{92C2D585-5C2E-3D56-E3D5-1683CBD312D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903645" y="2785340"/>
            <a:ext cx="1076127" cy="270294"/>
          </a:xfrm>
          <a:prstGeom prst="rect">
            <a:avLst/>
          </a:prstGeom>
        </p:spPr>
      </p:pic>
      <p:sp>
        <p:nvSpPr>
          <p:cNvPr id="30" name="CuadroTexto 29">
            <a:extLst>
              <a:ext uri="{FF2B5EF4-FFF2-40B4-BE49-F238E27FC236}">
                <a16:creationId xmlns:a16="http://schemas.microsoft.com/office/drawing/2014/main" id="{A85B091B-95EF-9520-11C2-F69A2FF04E9C}"/>
              </a:ext>
            </a:extLst>
          </p:cNvPr>
          <p:cNvSpPr txBox="1"/>
          <p:nvPr/>
        </p:nvSpPr>
        <p:spPr>
          <a:xfrm>
            <a:off x="317548" y="2601642"/>
            <a:ext cx="1059120" cy="323294"/>
          </a:xfrm>
          <a:prstGeom prst="rect">
            <a:avLst/>
          </a:prstGeom>
        </p:spPr>
        <p:txBody>
          <a:bodyPr wrap="square" lIns="0" tIns="0" rIns="0" bIns="0" rtlCol="0" anchor="t">
            <a:spAutoFit/>
          </a:bodyPr>
          <a:lstStyle>
            <a:defPPr>
              <a:defRPr lang="es-MX"/>
            </a:defPPr>
            <a:lvl1pPr>
              <a:lnSpc>
                <a:spcPts val="2879"/>
              </a:lnSpc>
              <a:defRPr sz="2800" b="1" spc="-13">
                <a:solidFill>
                  <a:srgbClr val="E0251B"/>
                </a:solidFill>
                <a:latin typeface="Montserrat" panose="00000500000000000000" pitchFamily="2" charset="0"/>
                <a:ea typeface="Arial Bold"/>
                <a:cs typeface="Arial" panose="020B0604020202020204" pitchFamily="34" charset="0"/>
              </a:defRPr>
            </a:lvl1pPr>
          </a:lstStyle>
          <a:p>
            <a:r>
              <a:rPr lang="es-CO" sz="1400">
                <a:solidFill>
                  <a:schemeClr val="tx1"/>
                </a:solidFill>
              </a:rPr>
              <a:t>Partners</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3" name="TextBox 3"/>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grpSp>
        <p:nvGrpSpPr>
          <p:cNvPr id="5" name="Group 5"/>
          <p:cNvGrpSpPr/>
          <p:nvPr/>
        </p:nvGrpSpPr>
        <p:grpSpPr>
          <a:xfrm rot="-5400000">
            <a:off x="654480" y="2367976"/>
            <a:ext cx="1062016" cy="1359381"/>
            <a:chOff x="0" y="0"/>
            <a:chExt cx="635000" cy="812800"/>
          </a:xfrm>
        </p:grpSpPr>
        <p:sp>
          <p:nvSpPr>
            <p:cNvPr id="6" name="Freeform 6"/>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98CC44"/>
            </a:solidFill>
          </p:spPr>
          <p:txBody>
            <a:bodyPr/>
            <a:lstStyle/>
            <a:p>
              <a:endParaRPr lang="es-CO" sz="1200"/>
            </a:p>
          </p:txBody>
        </p:sp>
        <p:sp>
          <p:nvSpPr>
            <p:cNvPr id="7" name="TextBox 7"/>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grpSp>
        <p:nvGrpSpPr>
          <p:cNvPr id="8" name="Group 8"/>
          <p:cNvGrpSpPr/>
          <p:nvPr/>
        </p:nvGrpSpPr>
        <p:grpSpPr>
          <a:xfrm rot="-5400000">
            <a:off x="2432550" y="2877240"/>
            <a:ext cx="1062016" cy="1359381"/>
            <a:chOff x="0" y="0"/>
            <a:chExt cx="635000" cy="812800"/>
          </a:xfrm>
        </p:grpSpPr>
        <p:sp>
          <p:nvSpPr>
            <p:cNvPr id="9" name="Freeform 9"/>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4FC593"/>
            </a:solidFill>
          </p:spPr>
          <p:txBody>
            <a:bodyPr/>
            <a:lstStyle/>
            <a:p>
              <a:endParaRPr lang="es-CO" sz="1200"/>
            </a:p>
          </p:txBody>
        </p:sp>
        <p:sp>
          <p:nvSpPr>
            <p:cNvPr id="10" name="TextBox 10"/>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11" name="AutoShape 11"/>
          <p:cNvSpPr/>
          <p:nvPr/>
        </p:nvSpPr>
        <p:spPr>
          <a:xfrm flipH="1">
            <a:off x="525769" y="3573681"/>
            <a:ext cx="0" cy="1681041"/>
          </a:xfrm>
          <a:prstGeom prst="line">
            <a:avLst/>
          </a:prstGeom>
          <a:ln w="57150" cap="flat">
            <a:solidFill>
              <a:srgbClr val="98CC44"/>
            </a:solidFill>
            <a:prstDash val="solid"/>
            <a:headEnd type="none" w="sm" len="sm"/>
            <a:tailEnd type="oval" w="lg" len="lg"/>
          </a:ln>
        </p:spPr>
        <p:txBody>
          <a:bodyPr/>
          <a:lstStyle/>
          <a:p>
            <a:endParaRPr lang="es-CO" sz="1200"/>
          </a:p>
        </p:txBody>
      </p:sp>
      <p:sp>
        <p:nvSpPr>
          <p:cNvPr id="12" name="AutoShape 12"/>
          <p:cNvSpPr/>
          <p:nvPr/>
        </p:nvSpPr>
        <p:spPr>
          <a:xfrm flipH="1">
            <a:off x="2303839" y="4082945"/>
            <a:ext cx="0" cy="1681041"/>
          </a:xfrm>
          <a:prstGeom prst="line">
            <a:avLst/>
          </a:prstGeom>
          <a:ln w="57150" cap="flat">
            <a:solidFill>
              <a:srgbClr val="4FC593"/>
            </a:solidFill>
            <a:prstDash val="solid"/>
            <a:headEnd type="none" w="sm" len="sm"/>
            <a:tailEnd type="oval" w="lg" len="lg"/>
          </a:ln>
        </p:spPr>
        <p:txBody>
          <a:bodyPr/>
          <a:lstStyle/>
          <a:p>
            <a:endParaRPr lang="es-CO" sz="1200"/>
          </a:p>
        </p:txBody>
      </p:sp>
      <p:grpSp>
        <p:nvGrpSpPr>
          <p:cNvPr id="13" name="Group 13"/>
          <p:cNvGrpSpPr/>
          <p:nvPr/>
        </p:nvGrpSpPr>
        <p:grpSpPr>
          <a:xfrm rot="-5400000">
            <a:off x="4030621" y="2361626"/>
            <a:ext cx="1062016" cy="1359381"/>
            <a:chOff x="0" y="0"/>
            <a:chExt cx="635000" cy="812800"/>
          </a:xfrm>
        </p:grpSpPr>
        <p:sp>
          <p:nvSpPr>
            <p:cNvPr id="14" name="Freeform 14"/>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45C8D0"/>
            </a:solidFill>
          </p:spPr>
          <p:txBody>
            <a:bodyPr/>
            <a:lstStyle/>
            <a:p>
              <a:endParaRPr lang="es-CO" sz="1200"/>
            </a:p>
          </p:txBody>
        </p:sp>
        <p:sp>
          <p:nvSpPr>
            <p:cNvPr id="15" name="TextBox 15"/>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16" name="AutoShape 16"/>
          <p:cNvSpPr/>
          <p:nvPr/>
        </p:nvSpPr>
        <p:spPr>
          <a:xfrm>
            <a:off x="3901911" y="3567331"/>
            <a:ext cx="0" cy="1681041"/>
          </a:xfrm>
          <a:prstGeom prst="line">
            <a:avLst/>
          </a:prstGeom>
          <a:ln w="57150" cap="flat">
            <a:solidFill>
              <a:srgbClr val="45C8D0"/>
            </a:solidFill>
            <a:prstDash val="solid"/>
            <a:headEnd type="none" w="sm" len="sm"/>
            <a:tailEnd type="oval" w="lg" len="lg"/>
          </a:ln>
        </p:spPr>
        <p:txBody>
          <a:bodyPr/>
          <a:lstStyle/>
          <a:p>
            <a:endParaRPr lang="es-CO" sz="1200"/>
          </a:p>
        </p:txBody>
      </p:sp>
      <p:grpSp>
        <p:nvGrpSpPr>
          <p:cNvPr id="17" name="Group 17"/>
          <p:cNvGrpSpPr/>
          <p:nvPr/>
        </p:nvGrpSpPr>
        <p:grpSpPr>
          <a:xfrm rot="-5400000">
            <a:off x="5631302" y="2877240"/>
            <a:ext cx="1062016" cy="1359381"/>
            <a:chOff x="0" y="0"/>
            <a:chExt cx="635000" cy="812800"/>
          </a:xfrm>
        </p:grpSpPr>
        <p:sp>
          <p:nvSpPr>
            <p:cNvPr id="18" name="Freeform 18"/>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4DA5D6"/>
            </a:solidFill>
          </p:spPr>
          <p:txBody>
            <a:bodyPr/>
            <a:lstStyle/>
            <a:p>
              <a:endParaRPr lang="es-CO" sz="1200"/>
            </a:p>
          </p:txBody>
        </p:sp>
        <p:sp>
          <p:nvSpPr>
            <p:cNvPr id="19" name="TextBox 19"/>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20" name="AutoShape 20"/>
          <p:cNvSpPr/>
          <p:nvPr/>
        </p:nvSpPr>
        <p:spPr>
          <a:xfrm>
            <a:off x="5514370" y="4082945"/>
            <a:ext cx="0" cy="1681041"/>
          </a:xfrm>
          <a:prstGeom prst="line">
            <a:avLst/>
          </a:prstGeom>
          <a:ln w="57150" cap="flat">
            <a:solidFill>
              <a:srgbClr val="4DA5D6"/>
            </a:solidFill>
            <a:prstDash val="solid"/>
            <a:headEnd type="none" w="sm" len="sm"/>
            <a:tailEnd type="oval" w="lg" len="lg"/>
          </a:ln>
        </p:spPr>
        <p:txBody>
          <a:bodyPr/>
          <a:lstStyle/>
          <a:p>
            <a:endParaRPr lang="es-CO" sz="1200"/>
          </a:p>
        </p:txBody>
      </p:sp>
      <p:grpSp>
        <p:nvGrpSpPr>
          <p:cNvPr id="21" name="Group 21"/>
          <p:cNvGrpSpPr/>
          <p:nvPr/>
        </p:nvGrpSpPr>
        <p:grpSpPr>
          <a:xfrm rot="-5400000">
            <a:off x="7445273" y="2367976"/>
            <a:ext cx="1062016" cy="1359381"/>
            <a:chOff x="0" y="0"/>
            <a:chExt cx="635000" cy="812800"/>
          </a:xfrm>
        </p:grpSpPr>
        <p:sp>
          <p:nvSpPr>
            <p:cNvPr id="22" name="Freeform 22"/>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487AD3"/>
            </a:solidFill>
          </p:spPr>
          <p:txBody>
            <a:bodyPr/>
            <a:lstStyle/>
            <a:p>
              <a:endParaRPr lang="es-CO" sz="1200"/>
            </a:p>
          </p:txBody>
        </p:sp>
        <p:sp>
          <p:nvSpPr>
            <p:cNvPr id="23" name="TextBox 23"/>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24" name="AutoShape 24"/>
          <p:cNvSpPr/>
          <p:nvPr/>
        </p:nvSpPr>
        <p:spPr>
          <a:xfrm>
            <a:off x="7316563" y="3573681"/>
            <a:ext cx="0" cy="1681041"/>
          </a:xfrm>
          <a:prstGeom prst="line">
            <a:avLst/>
          </a:prstGeom>
          <a:ln w="57150" cap="flat">
            <a:solidFill>
              <a:srgbClr val="487AD3"/>
            </a:solidFill>
            <a:prstDash val="solid"/>
            <a:headEnd type="none" w="sm" len="sm"/>
            <a:tailEnd type="oval" w="lg" len="lg"/>
          </a:ln>
        </p:spPr>
        <p:txBody>
          <a:bodyPr/>
          <a:lstStyle/>
          <a:p>
            <a:endParaRPr lang="es-CO" sz="1200"/>
          </a:p>
        </p:txBody>
      </p:sp>
      <p:sp>
        <p:nvSpPr>
          <p:cNvPr id="25" name="Freeform 25"/>
          <p:cNvSpPr/>
          <p:nvPr/>
        </p:nvSpPr>
        <p:spPr>
          <a:xfrm>
            <a:off x="891732" y="2808346"/>
            <a:ext cx="495999" cy="478639"/>
          </a:xfrm>
          <a:custGeom>
            <a:avLst/>
            <a:gdLst/>
            <a:ahLst/>
            <a:cxnLst/>
            <a:rect l="l" t="t" r="r" b="b"/>
            <a:pathLst>
              <a:path w="743998" h="717958">
                <a:moveTo>
                  <a:pt x="0" y="0"/>
                </a:moveTo>
                <a:lnTo>
                  <a:pt x="743998" y="0"/>
                </a:lnTo>
                <a:lnTo>
                  <a:pt x="743998" y="717959"/>
                </a:lnTo>
                <a:lnTo>
                  <a:pt x="0" y="71795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CO" sz="1200"/>
          </a:p>
        </p:txBody>
      </p:sp>
      <p:sp>
        <p:nvSpPr>
          <p:cNvPr id="26" name="Freeform 26"/>
          <p:cNvSpPr/>
          <p:nvPr/>
        </p:nvSpPr>
        <p:spPr>
          <a:xfrm>
            <a:off x="4240928" y="2750603"/>
            <a:ext cx="544845" cy="546896"/>
          </a:xfrm>
          <a:custGeom>
            <a:avLst/>
            <a:gdLst/>
            <a:ahLst/>
            <a:cxnLst/>
            <a:rect l="l" t="t" r="r" b="b"/>
            <a:pathLst>
              <a:path w="817267" h="820344">
                <a:moveTo>
                  <a:pt x="0" y="0"/>
                </a:moveTo>
                <a:lnTo>
                  <a:pt x="817267" y="0"/>
                </a:lnTo>
                <a:lnTo>
                  <a:pt x="817267" y="820344"/>
                </a:lnTo>
                <a:lnTo>
                  <a:pt x="0" y="8203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CO" sz="1200"/>
          </a:p>
        </p:txBody>
      </p:sp>
      <p:sp>
        <p:nvSpPr>
          <p:cNvPr id="27" name="Freeform 27"/>
          <p:cNvSpPr/>
          <p:nvPr/>
        </p:nvSpPr>
        <p:spPr>
          <a:xfrm>
            <a:off x="5836277" y="3365335"/>
            <a:ext cx="526864" cy="525547"/>
          </a:xfrm>
          <a:custGeom>
            <a:avLst/>
            <a:gdLst/>
            <a:ahLst/>
            <a:cxnLst/>
            <a:rect l="l" t="t" r="r" b="b"/>
            <a:pathLst>
              <a:path w="790296" h="788321">
                <a:moveTo>
                  <a:pt x="0" y="0"/>
                </a:moveTo>
                <a:lnTo>
                  <a:pt x="790296" y="0"/>
                </a:lnTo>
                <a:lnTo>
                  <a:pt x="790296" y="788320"/>
                </a:lnTo>
                <a:lnTo>
                  <a:pt x="0" y="78832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O" sz="1200"/>
          </a:p>
        </p:txBody>
      </p:sp>
      <p:sp>
        <p:nvSpPr>
          <p:cNvPr id="28" name="Freeform 28"/>
          <p:cNvSpPr/>
          <p:nvPr/>
        </p:nvSpPr>
        <p:spPr>
          <a:xfrm>
            <a:off x="7623473" y="2890450"/>
            <a:ext cx="576403" cy="471209"/>
          </a:xfrm>
          <a:custGeom>
            <a:avLst/>
            <a:gdLst/>
            <a:ahLst/>
            <a:cxnLst/>
            <a:rect l="l" t="t" r="r" b="b"/>
            <a:pathLst>
              <a:path w="864604" h="706813">
                <a:moveTo>
                  <a:pt x="0" y="0"/>
                </a:moveTo>
                <a:lnTo>
                  <a:pt x="864603" y="0"/>
                </a:lnTo>
                <a:lnTo>
                  <a:pt x="864603" y="706813"/>
                </a:lnTo>
                <a:lnTo>
                  <a:pt x="0" y="70681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s-CO" sz="1200"/>
          </a:p>
        </p:txBody>
      </p:sp>
      <p:sp>
        <p:nvSpPr>
          <p:cNvPr id="29" name="Freeform 29"/>
          <p:cNvSpPr/>
          <p:nvPr/>
        </p:nvSpPr>
        <p:spPr>
          <a:xfrm>
            <a:off x="2727945" y="3310607"/>
            <a:ext cx="463087" cy="492645"/>
          </a:xfrm>
          <a:custGeom>
            <a:avLst/>
            <a:gdLst/>
            <a:ahLst/>
            <a:cxnLst/>
            <a:rect l="l" t="t" r="r" b="b"/>
            <a:pathLst>
              <a:path w="694630" h="738968">
                <a:moveTo>
                  <a:pt x="0" y="0"/>
                </a:moveTo>
                <a:lnTo>
                  <a:pt x="694630" y="0"/>
                </a:lnTo>
                <a:lnTo>
                  <a:pt x="694630" y="738969"/>
                </a:lnTo>
                <a:lnTo>
                  <a:pt x="0" y="73896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s-CO" sz="1200"/>
          </a:p>
        </p:txBody>
      </p:sp>
      <p:grpSp>
        <p:nvGrpSpPr>
          <p:cNvPr id="30" name="Group 30"/>
          <p:cNvGrpSpPr/>
          <p:nvPr/>
        </p:nvGrpSpPr>
        <p:grpSpPr>
          <a:xfrm>
            <a:off x="920539" y="2297465"/>
            <a:ext cx="438387" cy="438387"/>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32" name="TextBox 32"/>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33" name="Group 33"/>
          <p:cNvGrpSpPr/>
          <p:nvPr/>
        </p:nvGrpSpPr>
        <p:grpSpPr>
          <a:xfrm>
            <a:off x="969972" y="2346899"/>
            <a:ext cx="339519" cy="339519"/>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8CC44"/>
            </a:solidFill>
          </p:spPr>
          <p:txBody>
            <a:bodyPr/>
            <a:lstStyle/>
            <a:p>
              <a:endParaRPr lang="es-CO" sz="1200"/>
            </a:p>
          </p:txBody>
        </p:sp>
        <p:sp>
          <p:nvSpPr>
            <p:cNvPr id="35" name="TextBox 35"/>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36" name="Group 36"/>
          <p:cNvGrpSpPr/>
          <p:nvPr/>
        </p:nvGrpSpPr>
        <p:grpSpPr>
          <a:xfrm>
            <a:off x="4270601" y="2291115"/>
            <a:ext cx="438387" cy="438387"/>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38" name="TextBox 38"/>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39" name="Group 39"/>
          <p:cNvGrpSpPr/>
          <p:nvPr/>
        </p:nvGrpSpPr>
        <p:grpSpPr>
          <a:xfrm>
            <a:off x="4320035" y="2340549"/>
            <a:ext cx="339519" cy="339519"/>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5C8D0"/>
            </a:solidFill>
          </p:spPr>
          <p:txBody>
            <a:bodyPr/>
            <a:lstStyle/>
            <a:p>
              <a:endParaRPr lang="es-CO" sz="1200"/>
            </a:p>
          </p:txBody>
        </p:sp>
        <p:sp>
          <p:nvSpPr>
            <p:cNvPr id="41" name="TextBox 41"/>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42" name="Group 42"/>
          <p:cNvGrpSpPr/>
          <p:nvPr/>
        </p:nvGrpSpPr>
        <p:grpSpPr>
          <a:xfrm>
            <a:off x="2685569" y="2811208"/>
            <a:ext cx="438387" cy="438387"/>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44" name="TextBox 44"/>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45" name="Group 45"/>
          <p:cNvGrpSpPr/>
          <p:nvPr/>
        </p:nvGrpSpPr>
        <p:grpSpPr>
          <a:xfrm>
            <a:off x="2735003" y="2860641"/>
            <a:ext cx="339519" cy="339519"/>
            <a:chOff x="0" y="0"/>
            <a:chExt cx="812800" cy="812800"/>
          </a:xfrm>
        </p:grpSpPr>
        <p:sp>
          <p:nvSpPr>
            <p:cNvPr id="46" name="Freeform 4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FC593"/>
            </a:solidFill>
          </p:spPr>
          <p:txBody>
            <a:bodyPr/>
            <a:lstStyle/>
            <a:p>
              <a:endParaRPr lang="es-CO" sz="1200"/>
            </a:p>
          </p:txBody>
        </p:sp>
        <p:sp>
          <p:nvSpPr>
            <p:cNvPr id="47" name="TextBox 47"/>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48" name="Group 48"/>
          <p:cNvGrpSpPr/>
          <p:nvPr/>
        </p:nvGrpSpPr>
        <p:grpSpPr>
          <a:xfrm>
            <a:off x="5858242" y="2811208"/>
            <a:ext cx="438387" cy="438387"/>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50" name="TextBox 50"/>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51" name="Group 51"/>
          <p:cNvGrpSpPr/>
          <p:nvPr/>
        </p:nvGrpSpPr>
        <p:grpSpPr>
          <a:xfrm>
            <a:off x="5907675" y="2860641"/>
            <a:ext cx="339519" cy="339519"/>
            <a:chOff x="0" y="0"/>
            <a:chExt cx="812800" cy="812800"/>
          </a:xfrm>
        </p:grpSpPr>
        <p:sp>
          <p:nvSpPr>
            <p:cNvPr id="52" name="Freeform 5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A5D6"/>
            </a:solidFill>
          </p:spPr>
          <p:txBody>
            <a:bodyPr/>
            <a:lstStyle/>
            <a:p>
              <a:endParaRPr lang="es-CO" sz="1200"/>
            </a:p>
          </p:txBody>
        </p:sp>
        <p:sp>
          <p:nvSpPr>
            <p:cNvPr id="53" name="TextBox 53"/>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54" name="Group 54"/>
          <p:cNvGrpSpPr/>
          <p:nvPr/>
        </p:nvGrpSpPr>
        <p:grpSpPr>
          <a:xfrm>
            <a:off x="7659173" y="2297465"/>
            <a:ext cx="438387" cy="438387"/>
            <a:chOff x="0" y="0"/>
            <a:chExt cx="812800" cy="812800"/>
          </a:xfrm>
        </p:grpSpPr>
        <p:sp>
          <p:nvSpPr>
            <p:cNvPr id="55" name="Freeform 5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56" name="TextBox 56"/>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57" name="Group 57"/>
          <p:cNvGrpSpPr/>
          <p:nvPr/>
        </p:nvGrpSpPr>
        <p:grpSpPr>
          <a:xfrm>
            <a:off x="7708607" y="2346899"/>
            <a:ext cx="339519" cy="339519"/>
            <a:chOff x="0" y="0"/>
            <a:chExt cx="812800" cy="812800"/>
          </a:xfrm>
        </p:grpSpPr>
        <p:sp>
          <p:nvSpPr>
            <p:cNvPr id="58" name="Freeform 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87AD3"/>
            </a:solidFill>
          </p:spPr>
          <p:txBody>
            <a:bodyPr/>
            <a:lstStyle/>
            <a:p>
              <a:endParaRPr lang="es-CO" sz="1200"/>
            </a:p>
          </p:txBody>
        </p:sp>
        <p:sp>
          <p:nvSpPr>
            <p:cNvPr id="59" name="TextBox 59"/>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sp>
        <p:nvSpPr>
          <p:cNvPr id="60" name="TextBox 60"/>
          <p:cNvSpPr txBox="1"/>
          <p:nvPr/>
        </p:nvSpPr>
        <p:spPr>
          <a:xfrm>
            <a:off x="629293" y="3623564"/>
            <a:ext cx="1599683" cy="822533"/>
          </a:xfrm>
          <a:prstGeom prst="rect">
            <a:avLst/>
          </a:prstGeom>
        </p:spPr>
        <p:txBody>
          <a:bodyPr lIns="0" tIns="0" rIns="0" bIns="0" rtlCol="0" anchor="t">
            <a:spAutoFit/>
          </a:bodyPr>
          <a:lstStyle/>
          <a:p>
            <a:pPr>
              <a:lnSpc>
                <a:spcPts val="2239"/>
              </a:lnSpc>
              <a:spcBef>
                <a:spcPct val="0"/>
              </a:spcBef>
            </a:pPr>
            <a:r>
              <a:rPr lang="es-CO" sz="1600" noProof="0">
                <a:solidFill>
                  <a:srgbClr val="000000"/>
                </a:solidFill>
                <a:latin typeface="Montserrat" panose="00000500000000000000" pitchFamily="2" charset="0"/>
                <a:ea typeface="Arial Bold"/>
                <a:cs typeface="Arial Bold"/>
                <a:sym typeface="Arial Bold"/>
              </a:rPr>
              <a:t>Perfiles técnicos especializados</a:t>
            </a:r>
          </a:p>
        </p:txBody>
      </p:sp>
      <p:sp>
        <p:nvSpPr>
          <p:cNvPr id="61" name="TextBox 61"/>
          <p:cNvSpPr txBox="1"/>
          <p:nvPr/>
        </p:nvSpPr>
        <p:spPr>
          <a:xfrm>
            <a:off x="2402540" y="4148951"/>
            <a:ext cx="1130230" cy="822533"/>
          </a:xfrm>
          <a:prstGeom prst="rect">
            <a:avLst/>
          </a:prstGeom>
        </p:spPr>
        <p:txBody>
          <a:bodyPr lIns="0" tIns="0" rIns="0" bIns="0" rtlCol="0" anchor="t">
            <a:spAutoFit/>
          </a:bodyPr>
          <a:lstStyle/>
          <a:p>
            <a:pPr>
              <a:lnSpc>
                <a:spcPts val="2239"/>
              </a:lnSpc>
            </a:pPr>
            <a:r>
              <a:rPr lang="es-CO" sz="1600" noProof="0">
                <a:solidFill>
                  <a:srgbClr val="000000"/>
                </a:solidFill>
                <a:latin typeface="Montserrat" panose="00000500000000000000" pitchFamily="2" charset="0"/>
                <a:ea typeface="Arial Bold"/>
                <a:cs typeface="Arial Bold"/>
                <a:sym typeface="Arial Bold"/>
              </a:rPr>
              <a:t>Modelos </a:t>
            </a:r>
          </a:p>
          <a:p>
            <a:pPr>
              <a:lnSpc>
                <a:spcPts val="2239"/>
              </a:lnSpc>
            </a:pPr>
            <a:r>
              <a:rPr lang="es-CO" sz="1600" noProof="0" err="1">
                <a:solidFill>
                  <a:srgbClr val="000000"/>
                </a:solidFill>
                <a:latin typeface="Montserrat" panose="00000500000000000000" pitchFamily="2" charset="0"/>
                <a:ea typeface="Arial Bold"/>
                <a:cs typeface="Arial Bold"/>
                <a:sym typeface="Arial Bold"/>
              </a:rPr>
              <a:t>Nearshore</a:t>
            </a:r>
            <a:r>
              <a:rPr lang="es-CO" sz="1600" noProof="0">
                <a:solidFill>
                  <a:srgbClr val="000000"/>
                </a:solidFill>
                <a:latin typeface="Montserrat" panose="00000500000000000000" pitchFamily="2" charset="0"/>
                <a:ea typeface="Arial Bold"/>
                <a:cs typeface="Arial Bold"/>
                <a:sym typeface="Arial Bold"/>
              </a:rPr>
              <a:t> </a:t>
            </a:r>
          </a:p>
          <a:p>
            <a:pPr>
              <a:lnSpc>
                <a:spcPts val="2239"/>
              </a:lnSpc>
              <a:spcBef>
                <a:spcPct val="0"/>
              </a:spcBef>
            </a:pPr>
            <a:endParaRPr lang="en-US" sz="1600" b="1">
              <a:solidFill>
                <a:srgbClr val="000000"/>
              </a:solidFill>
              <a:latin typeface="Arial Bold"/>
              <a:ea typeface="Arial Bold"/>
              <a:cs typeface="Arial Bold"/>
              <a:sym typeface="Arial Bold"/>
            </a:endParaRPr>
          </a:p>
        </p:txBody>
      </p:sp>
      <p:sp>
        <p:nvSpPr>
          <p:cNvPr id="62" name="TextBox 62"/>
          <p:cNvSpPr txBox="1"/>
          <p:nvPr/>
        </p:nvSpPr>
        <p:spPr>
          <a:xfrm>
            <a:off x="4013688" y="3644909"/>
            <a:ext cx="1178462" cy="262251"/>
          </a:xfrm>
          <a:prstGeom prst="rect">
            <a:avLst/>
          </a:prstGeom>
        </p:spPr>
        <p:txBody>
          <a:bodyPr wrap="square" lIns="0" tIns="0" rIns="0" bIns="0" rtlCol="0" anchor="t">
            <a:spAutoFit/>
          </a:bodyPr>
          <a:lstStyle/>
          <a:p>
            <a:pPr>
              <a:lnSpc>
                <a:spcPts val="2239"/>
              </a:lnSpc>
              <a:spcBef>
                <a:spcPct val="0"/>
              </a:spcBef>
            </a:pPr>
            <a:r>
              <a:rPr lang="en-US" sz="1600">
                <a:solidFill>
                  <a:srgbClr val="000000"/>
                </a:solidFill>
                <a:latin typeface="Montserrat" panose="00000500000000000000" pitchFamily="2" charset="0"/>
                <a:ea typeface="Arial Bold"/>
                <a:cs typeface="Arial Bold"/>
                <a:sym typeface="Arial Bold"/>
              </a:rPr>
              <a:t>Formación</a:t>
            </a:r>
          </a:p>
        </p:txBody>
      </p:sp>
      <p:sp>
        <p:nvSpPr>
          <p:cNvPr id="63" name="TextBox 63"/>
          <p:cNvSpPr txBox="1"/>
          <p:nvPr/>
        </p:nvSpPr>
        <p:spPr>
          <a:xfrm>
            <a:off x="7453274" y="3720151"/>
            <a:ext cx="1023487" cy="540404"/>
          </a:xfrm>
          <a:prstGeom prst="rect">
            <a:avLst/>
          </a:prstGeom>
        </p:spPr>
        <p:txBody>
          <a:bodyPr lIns="0" tIns="0" rIns="0" bIns="0" rtlCol="0" anchor="t">
            <a:spAutoFit/>
          </a:bodyPr>
          <a:lstStyle/>
          <a:p>
            <a:pPr>
              <a:lnSpc>
                <a:spcPts val="2239"/>
              </a:lnSpc>
              <a:spcBef>
                <a:spcPct val="0"/>
              </a:spcBef>
            </a:pPr>
            <a:r>
              <a:rPr lang="es-CO" sz="1600" noProof="0">
                <a:solidFill>
                  <a:srgbClr val="000000"/>
                </a:solidFill>
                <a:latin typeface="Montserrat" panose="00000500000000000000" pitchFamily="2" charset="0"/>
                <a:ea typeface="Arial Bold"/>
                <a:cs typeface="Arial Bold"/>
                <a:sym typeface="Arial Bold"/>
              </a:rPr>
              <a:t>Servicio Flexible</a:t>
            </a:r>
          </a:p>
        </p:txBody>
      </p:sp>
      <p:sp>
        <p:nvSpPr>
          <p:cNvPr id="64" name="TextBox 64"/>
          <p:cNvSpPr txBox="1"/>
          <p:nvPr/>
        </p:nvSpPr>
        <p:spPr>
          <a:xfrm>
            <a:off x="5597381" y="4159645"/>
            <a:ext cx="1585371" cy="544380"/>
          </a:xfrm>
          <a:prstGeom prst="rect">
            <a:avLst/>
          </a:prstGeom>
        </p:spPr>
        <p:txBody>
          <a:bodyPr lIns="0" tIns="0" rIns="0" bIns="0" rtlCol="0" anchor="t">
            <a:spAutoFit/>
          </a:bodyPr>
          <a:lstStyle/>
          <a:p>
            <a:pPr>
              <a:lnSpc>
                <a:spcPts val="2239"/>
              </a:lnSpc>
              <a:spcBef>
                <a:spcPct val="0"/>
              </a:spcBef>
            </a:pPr>
            <a:r>
              <a:rPr lang="es-CO" sz="1600" noProof="0">
                <a:solidFill>
                  <a:srgbClr val="000000"/>
                </a:solidFill>
                <a:latin typeface="Montserrat" panose="00000500000000000000" pitchFamily="2" charset="0"/>
                <a:ea typeface="Arial Bold"/>
                <a:cs typeface="Arial Bold"/>
                <a:sym typeface="Arial Bold"/>
              </a:rPr>
              <a:t>Capacitaciones y actualización</a:t>
            </a:r>
          </a:p>
        </p:txBody>
      </p:sp>
      <p:sp>
        <p:nvSpPr>
          <p:cNvPr id="65" name="TextBox 65"/>
          <p:cNvSpPr txBox="1"/>
          <p:nvPr/>
        </p:nvSpPr>
        <p:spPr>
          <a:xfrm>
            <a:off x="1045573" y="2384707"/>
            <a:ext cx="18831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01</a:t>
            </a:r>
          </a:p>
        </p:txBody>
      </p:sp>
      <p:sp>
        <p:nvSpPr>
          <p:cNvPr id="66" name="TextBox 66"/>
          <p:cNvSpPr txBox="1"/>
          <p:nvPr/>
        </p:nvSpPr>
        <p:spPr>
          <a:xfrm>
            <a:off x="4395636" y="2359307"/>
            <a:ext cx="18831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03</a:t>
            </a:r>
          </a:p>
        </p:txBody>
      </p:sp>
      <p:sp>
        <p:nvSpPr>
          <p:cNvPr id="67" name="TextBox 67"/>
          <p:cNvSpPr txBox="1"/>
          <p:nvPr/>
        </p:nvSpPr>
        <p:spPr>
          <a:xfrm>
            <a:off x="2796957" y="2888924"/>
            <a:ext cx="215611"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02</a:t>
            </a:r>
          </a:p>
        </p:txBody>
      </p:sp>
      <p:sp>
        <p:nvSpPr>
          <p:cNvPr id="68" name="TextBox 68"/>
          <p:cNvSpPr txBox="1"/>
          <p:nvPr/>
        </p:nvSpPr>
        <p:spPr>
          <a:xfrm>
            <a:off x="5966016" y="2888924"/>
            <a:ext cx="22283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04</a:t>
            </a:r>
          </a:p>
        </p:txBody>
      </p:sp>
      <p:sp>
        <p:nvSpPr>
          <p:cNvPr id="69" name="TextBox 69"/>
          <p:cNvSpPr txBox="1"/>
          <p:nvPr/>
        </p:nvSpPr>
        <p:spPr>
          <a:xfrm>
            <a:off x="7775659" y="2375182"/>
            <a:ext cx="18831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05</a:t>
            </a:r>
          </a:p>
        </p:txBody>
      </p:sp>
      <p:sp>
        <p:nvSpPr>
          <p:cNvPr id="70" name="TextBox 70"/>
          <p:cNvSpPr txBox="1"/>
          <p:nvPr/>
        </p:nvSpPr>
        <p:spPr>
          <a:xfrm>
            <a:off x="505798" y="1024925"/>
            <a:ext cx="6066322" cy="371897"/>
          </a:xfrm>
          <a:prstGeom prst="rect">
            <a:avLst/>
          </a:prstGeom>
        </p:spPr>
        <p:txBody>
          <a:bodyPr lIns="0" tIns="0" rIns="0" bIns="0" rtlCol="0" anchor="t">
            <a:spAutoFit/>
          </a:bodyPr>
          <a:lstStyle/>
          <a:p>
            <a:pPr>
              <a:lnSpc>
                <a:spcPts val="2879"/>
              </a:lnSpc>
            </a:pPr>
            <a:r>
              <a:rPr lang="en-US" sz="2666" b="1" spc="-13">
                <a:solidFill>
                  <a:srgbClr val="007881"/>
                </a:solidFill>
                <a:latin typeface="Arial Bold"/>
                <a:ea typeface="Arial Bold"/>
                <a:cs typeface="Arial Bold"/>
                <a:sym typeface="Arial Bold"/>
              </a:rPr>
              <a:t>Nuestro Diferencial</a:t>
            </a:r>
          </a:p>
        </p:txBody>
      </p:sp>
      <p:sp>
        <p:nvSpPr>
          <p:cNvPr id="71" name="TextBox 71"/>
          <p:cNvSpPr txBox="1"/>
          <p:nvPr/>
        </p:nvSpPr>
        <p:spPr>
          <a:xfrm>
            <a:off x="8895009" y="4148526"/>
            <a:ext cx="1457713" cy="974626"/>
          </a:xfrm>
          <a:prstGeom prst="rect">
            <a:avLst/>
          </a:prstGeom>
        </p:spPr>
        <p:txBody>
          <a:bodyPr wrap="square" lIns="0" tIns="0" rIns="0" bIns="0" rtlCol="0" anchor="t">
            <a:spAutoFit/>
          </a:bodyPr>
          <a:lstStyle/>
          <a:p>
            <a:pPr>
              <a:lnSpc>
                <a:spcPts val="1919"/>
              </a:lnSpc>
            </a:pPr>
            <a:r>
              <a:rPr lang="es-CO" sz="1600" noProof="0">
                <a:solidFill>
                  <a:srgbClr val="2A3B47"/>
                </a:solidFill>
                <a:latin typeface="Montserrat" panose="00000500000000000000" pitchFamily="2" charset="0"/>
                <a:ea typeface="Arial Bold"/>
                <a:cs typeface="Arial Bold"/>
                <a:sym typeface="Arial Bold"/>
              </a:rPr>
              <a:t>Realizamos vigilancia tecnológica de tendencias</a:t>
            </a:r>
            <a:endParaRPr lang="es-CO" sz="1600" noProof="0">
              <a:solidFill>
                <a:srgbClr val="2A3B47"/>
              </a:solidFill>
              <a:latin typeface="Montserrat" panose="00000500000000000000" pitchFamily="2" charset="0"/>
              <a:ea typeface="Arial Bold"/>
              <a:cs typeface="Arial Bold"/>
            </a:endParaRPr>
          </a:p>
        </p:txBody>
      </p:sp>
      <p:sp>
        <p:nvSpPr>
          <p:cNvPr id="72" name="TextBox 72"/>
          <p:cNvSpPr txBox="1"/>
          <p:nvPr/>
        </p:nvSpPr>
        <p:spPr>
          <a:xfrm>
            <a:off x="10634196" y="3781366"/>
            <a:ext cx="1265438" cy="487313"/>
          </a:xfrm>
          <a:prstGeom prst="rect">
            <a:avLst/>
          </a:prstGeom>
        </p:spPr>
        <p:txBody>
          <a:bodyPr lIns="0" tIns="0" rIns="0" bIns="0" rtlCol="0" anchor="t">
            <a:spAutoFit/>
          </a:bodyPr>
          <a:lstStyle/>
          <a:p>
            <a:pPr>
              <a:lnSpc>
                <a:spcPts val="1919"/>
              </a:lnSpc>
            </a:pPr>
            <a:r>
              <a:rPr lang="es-CO" sz="1600" noProof="0">
                <a:solidFill>
                  <a:srgbClr val="2A3B47"/>
                </a:solidFill>
                <a:latin typeface="Montserrat" panose="00000500000000000000" pitchFamily="2" charset="0"/>
                <a:ea typeface="Arial Bold"/>
                <a:cs typeface="Arial Bold"/>
                <a:sym typeface="Arial Bold"/>
              </a:rPr>
              <a:t>Recursos certificados</a:t>
            </a:r>
          </a:p>
        </p:txBody>
      </p:sp>
      <p:grpSp>
        <p:nvGrpSpPr>
          <p:cNvPr id="73" name="Group 73"/>
          <p:cNvGrpSpPr/>
          <p:nvPr/>
        </p:nvGrpSpPr>
        <p:grpSpPr>
          <a:xfrm rot="-5400000">
            <a:off x="8963353" y="2887917"/>
            <a:ext cx="1062016" cy="1359381"/>
            <a:chOff x="0" y="0"/>
            <a:chExt cx="635000" cy="812800"/>
          </a:xfrm>
        </p:grpSpPr>
        <p:sp>
          <p:nvSpPr>
            <p:cNvPr id="74" name="Freeform 74"/>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4D49AF"/>
            </a:solidFill>
          </p:spPr>
          <p:txBody>
            <a:bodyPr/>
            <a:lstStyle/>
            <a:p>
              <a:endParaRPr lang="es-CO" sz="1200"/>
            </a:p>
          </p:txBody>
        </p:sp>
        <p:sp>
          <p:nvSpPr>
            <p:cNvPr id="75" name="TextBox 75"/>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76" name="AutoShape 76"/>
          <p:cNvSpPr/>
          <p:nvPr/>
        </p:nvSpPr>
        <p:spPr>
          <a:xfrm>
            <a:off x="8834643" y="4093622"/>
            <a:ext cx="0" cy="1681041"/>
          </a:xfrm>
          <a:prstGeom prst="line">
            <a:avLst/>
          </a:prstGeom>
          <a:ln w="57150" cap="flat">
            <a:solidFill>
              <a:srgbClr val="4C50A9"/>
            </a:solidFill>
            <a:prstDash val="solid"/>
            <a:headEnd type="none" w="sm" len="sm"/>
            <a:tailEnd type="oval" w="lg" len="lg"/>
          </a:ln>
        </p:spPr>
        <p:txBody>
          <a:bodyPr/>
          <a:lstStyle/>
          <a:p>
            <a:endParaRPr lang="es-CO" sz="1200"/>
          </a:p>
        </p:txBody>
      </p:sp>
      <p:sp>
        <p:nvSpPr>
          <p:cNvPr id="77" name="Freeform 77"/>
          <p:cNvSpPr/>
          <p:nvPr/>
        </p:nvSpPr>
        <p:spPr>
          <a:xfrm>
            <a:off x="9172772" y="3287569"/>
            <a:ext cx="526864" cy="525547"/>
          </a:xfrm>
          <a:custGeom>
            <a:avLst/>
            <a:gdLst/>
            <a:ahLst/>
            <a:cxnLst/>
            <a:rect l="l" t="t" r="r" b="b"/>
            <a:pathLst>
              <a:path w="790296" h="788321">
                <a:moveTo>
                  <a:pt x="0" y="0"/>
                </a:moveTo>
                <a:lnTo>
                  <a:pt x="790296" y="0"/>
                </a:lnTo>
                <a:lnTo>
                  <a:pt x="790296" y="788321"/>
                </a:lnTo>
                <a:lnTo>
                  <a:pt x="0" y="78832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O" sz="1200"/>
          </a:p>
        </p:txBody>
      </p:sp>
      <p:grpSp>
        <p:nvGrpSpPr>
          <p:cNvPr id="78" name="Group 78"/>
          <p:cNvGrpSpPr/>
          <p:nvPr/>
        </p:nvGrpSpPr>
        <p:grpSpPr>
          <a:xfrm>
            <a:off x="9177253" y="2817406"/>
            <a:ext cx="438387" cy="438387"/>
            <a:chOff x="0" y="0"/>
            <a:chExt cx="812800" cy="812800"/>
          </a:xfrm>
        </p:grpSpPr>
        <p:sp>
          <p:nvSpPr>
            <p:cNvPr id="79" name="Freeform 7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80" name="TextBox 80"/>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81" name="Group 81"/>
          <p:cNvGrpSpPr/>
          <p:nvPr/>
        </p:nvGrpSpPr>
        <p:grpSpPr>
          <a:xfrm>
            <a:off x="9226687" y="2866839"/>
            <a:ext cx="339519" cy="339519"/>
            <a:chOff x="0" y="0"/>
            <a:chExt cx="812800" cy="812800"/>
          </a:xfrm>
        </p:grpSpPr>
        <p:sp>
          <p:nvSpPr>
            <p:cNvPr id="82" name="Freeform 8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C50A9"/>
            </a:solidFill>
          </p:spPr>
          <p:txBody>
            <a:bodyPr/>
            <a:lstStyle/>
            <a:p>
              <a:endParaRPr lang="es-CO" sz="1200"/>
            </a:p>
          </p:txBody>
        </p:sp>
        <p:sp>
          <p:nvSpPr>
            <p:cNvPr id="83" name="TextBox 83"/>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sp>
        <p:nvSpPr>
          <p:cNvPr id="84" name="TextBox 84"/>
          <p:cNvSpPr txBox="1"/>
          <p:nvPr/>
        </p:nvSpPr>
        <p:spPr>
          <a:xfrm>
            <a:off x="9293739" y="2904647"/>
            <a:ext cx="18831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06</a:t>
            </a:r>
          </a:p>
        </p:txBody>
      </p:sp>
      <p:grpSp>
        <p:nvGrpSpPr>
          <p:cNvPr id="85" name="Group 85"/>
          <p:cNvGrpSpPr/>
          <p:nvPr/>
        </p:nvGrpSpPr>
        <p:grpSpPr>
          <a:xfrm rot="-5400000">
            <a:off x="10614628" y="2417410"/>
            <a:ext cx="1062016" cy="1359381"/>
            <a:chOff x="0" y="0"/>
            <a:chExt cx="635000" cy="812800"/>
          </a:xfrm>
        </p:grpSpPr>
        <p:sp>
          <p:nvSpPr>
            <p:cNvPr id="86" name="Freeform 86"/>
            <p:cNvSpPr/>
            <p:nvPr/>
          </p:nvSpPr>
          <p:spPr>
            <a:xfrm>
              <a:off x="0" y="0"/>
              <a:ext cx="635000" cy="812800"/>
            </a:xfrm>
            <a:custGeom>
              <a:avLst/>
              <a:gdLst/>
              <a:ahLst/>
              <a:cxnLst/>
              <a:rect l="l" t="t" r="r" b="b"/>
              <a:pathLst>
                <a:path w="635000" h="812800">
                  <a:moveTo>
                    <a:pt x="635000" y="0"/>
                  </a:moveTo>
                  <a:lnTo>
                    <a:pt x="635000" y="698500"/>
                  </a:lnTo>
                  <a:lnTo>
                    <a:pt x="317500" y="812800"/>
                  </a:lnTo>
                  <a:lnTo>
                    <a:pt x="0" y="698500"/>
                  </a:lnTo>
                  <a:lnTo>
                    <a:pt x="0" y="0"/>
                  </a:lnTo>
                  <a:lnTo>
                    <a:pt x="635000" y="0"/>
                  </a:lnTo>
                  <a:close/>
                </a:path>
              </a:pathLst>
            </a:custGeom>
            <a:solidFill>
              <a:srgbClr val="322E64"/>
            </a:solidFill>
          </p:spPr>
          <p:txBody>
            <a:bodyPr/>
            <a:lstStyle/>
            <a:p>
              <a:endParaRPr lang="es-CO" sz="1200"/>
            </a:p>
          </p:txBody>
        </p:sp>
        <p:sp>
          <p:nvSpPr>
            <p:cNvPr id="87" name="TextBox 87"/>
            <p:cNvSpPr txBox="1"/>
            <p:nvPr/>
          </p:nvSpPr>
          <p:spPr>
            <a:xfrm>
              <a:off x="0" y="-95250"/>
              <a:ext cx="635000" cy="793750"/>
            </a:xfrm>
            <a:prstGeom prst="rect">
              <a:avLst/>
            </a:prstGeom>
          </p:spPr>
          <p:txBody>
            <a:bodyPr lIns="33867" tIns="33867" rIns="33867" bIns="33867" rtlCol="0" anchor="ctr"/>
            <a:lstStyle/>
            <a:p>
              <a:pPr algn="ctr">
                <a:lnSpc>
                  <a:spcPts val="2239"/>
                </a:lnSpc>
                <a:spcBef>
                  <a:spcPct val="0"/>
                </a:spcBef>
              </a:pPr>
              <a:endParaRPr sz="1200"/>
            </a:p>
          </p:txBody>
        </p:sp>
      </p:grpSp>
      <p:sp>
        <p:nvSpPr>
          <p:cNvPr id="88" name="AutoShape 88"/>
          <p:cNvSpPr/>
          <p:nvPr/>
        </p:nvSpPr>
        <p:spPr>
          <a:xfrm>
            <a:off x="10485917" y="3623116"/>
            <a:ext cx="0" cy="1681041"/>
          </a:xfrm>
          <a:prstGeom prst="line">
            <a:avLst/>
          </a:prstGeom>
          <a:ln w="57150" cap="flat">
            <a:solidFill>
              <a:srgbClr val="322E64"/>
            </a:solidFill>
            <a:prstDash val="solid"/>
            <a:headEnd type="none" w="sm" len="sm"/>
            <a:tailEnd type="oval" w="lg" len="lg"/>
          </a:ln>
        </p:spPr>
        <p:txBody>
          <a:bodyPr/>
          <a:lstStyle/>
          <a:p>
            <a:endParaRPr lang="es-CO" sz="1200"/>
          </a:p>
        </p:txBody>
      </p:sp>
      <p:sp>
        <p:nvSpPr>
          <p:cNvPr id="89" name="Freeform 89"/>
          <p:cNvSpPr/>
          <p:nvPr/>
        </p:nvSpPr>
        <p:spPr>
          <a:xfrm>
            <a:off x="10824047" y="2817062"/>
            <a:ext cx="526864" cy="525547"/>
          </a:xfrm>
          <a:custGeom>
            <a:avLst/>
            <a:gdLst/>
            <a:ahLst/>
            <a:cxnLst/>
            <a:rect l="l" t="t" r="r" b="b"/>
            <a:pathLst>
              <a:path w="790296" h="788321">
                <a:moveTo>
                  <a:pt x="0" y="0"/>
                </a:moveTo>
                <a:lnTo>
                  <a:pt x="790296" y="0"/>
                </a:lnTo>
                <a:lnTo>
                  <a:pt x="790296" y="788321"/>
                </a:lnTo>
                <a:lnTo>
                  <a:pt x="0" y="78832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s-CO" sz="1200"/>
          </a:p>
        </p:txBody>
      </p:sp>
      <p:grpSp>
        <p:nvGrpSpPr>
          <p:cNvPr id="90" name="Group 90"/>
          <p:cNvGrpSpPr/>
          <p:nvPr/>
        </p:nvGrpSpPr>
        <p:grpSpPr>
          <a:xfrm>
            <a:off x="10828528" y="2346899"/>
            <a:ext cx="438387" cy="438387"/>
            <a:chOff x="0" y="0"/>
            <a:chExt cx="812800" cy="812800"/>
          </a:xfrm>
        </p:grpSpPr>
        <p:sp>
          <p:nvSpPr>
            <p:cNvPr id="91" name="Freeform 9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s-CO" sz="1200"/>
            </a:p>
          </p:txBody>
        </p:sp>
        <p:sp>
          <p:nvSpPr>
            <p:cNvPr id="92" name="TextBox 92"/>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grpSp>
        <p:nvGrpSpPr>
          <p:cNvPr id="93" name="Group 93"/>
          <p:cNvGrpSpPr/>
          <p:nvPr/>
        </p:nvGrpSpPr>
        <p:grpSpPr>
          <a:xfrm>
            <a:off x="10877961" y="2396333"/>
            <a:ext cx="339519" cy="339519"/>
            <a:chOff x="0" y="0"/>
            <a:chExt cx="812800" cy="812800"/>
          </a:xfrm>
        </p:grpSpPr>
        <p:sp>
          <p:nvSpPr>
            <p:cNvPr id="94" name="Freeform 9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3759"/>
            </a:solidFill>
          </p:spPr>
          <p:txBody>
            <a:bodyPr/>
            <a:lstStyle/>
            <a:p>
              <a:endParaRPr lang="es-CO" sz="1200"/>
            </a:p>
          </p:txBody>
        </p:sp>
        <p:sp>
          <p:nvSpPr>
            <p:cNvPr id="95" name="TextBox 95"/>
            <p:cNvSpPr txBox="1"/>
            <p:nvPr/>
          </p:nvSpPr>
          <p:spPr>
            <a:xfrm>
              <a:off x="76200" y="-19050"/>
              <a:ext cx="660400" cy="755650"/>
            </a:xfrm>
            <a:prstGeom prst="rect">
              <a:avLst/>
            </a:prstGeom>
          </p:spPr>
          <p:txBody>
            <a:bodyPr lIns="33867" tIns="33867" rIns="33867" bIns="33867" rtlCol="0" anchor="ctr"/>
            <a:lstStyle/>
            <a:p>
              <a:pPr algn="ctr">
                <a:lnSpc>
                  <a:spcPts val="2239"/>
                </a:lnSpc>
              </a:pPr>
              <a:endParaRPr sz="1200"/>
            </a:p>
          </p:txBody>
        </p:sp>
      </p:grpSp>
      <p:sp>
        <p:nvSpPr>
          <p:cNvPr id="96" name="TextBox 96"/>
          <p:cNvSpPr txBox="1"/>
          <p:nvPr/>
        </p:nvSpPr>
        <p:spPr>
          <a:xfrm>
            <a:off x="10953562" y="2424601"/>
            <a:ext cx="188317" cy="221664"/>
          </a:xfrm>
          <a:prstGeom prst="rect">
            <a:avLst/>
          </a:prstGeom>
        </p:spPr>
        <p:txBody>
          <a:bodyPr lIns="0" tIns="0" rIns="0" bIns="0" rtlCol="0" anchor="t">
            <a:spAutoFit/>
          </a:bodyPr>
          <a:lstStyle/>
          <a:p>
            <a:pPr algn="ctr">
              <a:lnSpc>
                <a:spcPts val="1867"/>
              </a:lnSpc>
              <a:spcBef>
                <a:spcPct val="0"/>
              </a:spcBef>
            </a:pPr>
            <a:r>
              <a:rPr lang="en-US" sz="1333" b="1">
                <a:solidFill>
                  <a:srgbClr val="FFFFFF"/>
                </a:solidFill>
                <a:latin typeface="Arial Bold"/>
                <a:ea typeface="Arial Bold"/>
                <a:cs typeface="Arial Bold"/>
                <a:sym typeface="Arial Bold"/>
              </a:rPr>
              <a:t>07</a:t>
            </a:r>
          </a:p>
        </p:txBody>
      </p:sp>
      <p:pic>
        <p:nvPicPr>
          <p:cNvPr id="99" name="Imagen 98" descr="Forma&#10;&#10;Descripción generada automáticamente">
            <a:extLst>
              <a:ext uri="{FF2B5EF4-FFF2-40B4-BE49-F238E27FC236}">
                <a16:creationId xmlns:a16="http://schemas.microsoft.com/office/drawing/2014/main" id="{DDF30B6E-0DB2-D4D1-31FE-6A971409FB00}"/>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063671" y="6737720"/>
            <a:ext cx="2143073" cy="147712"/>
          </a:xfrm>
          <a:prstGeom prst="rect">
            <a:avLst/>
          </a:prstGeom>
        </p:spPr>
      </p:pic>
      <p:pic>
        <p:nvPicPr>
          <p:cNvPr id="100" name="Imagen 99">
            <a:extLst>
              <a:ext uri="{FF2B5EF4-FFF2-40B4-BE49-F238E27FC236}">
                <a16:creationId xmlns:a16="http://schemas.microsoft.com/office/drawing/2014/main" id="{6C8EAB8A-F4D1-E74E-ED29-8E2B50CE16C2}"/>
              </a:ext>
            </a:extLst>
          </p:cNvPr>
          <p:cNvPicPr>
            <a:picLocks noChangeAspect="1"/>
          </p:cNvPicPr>
          <p:nvPr/>
        </p:nvPicPr>
        <p:blipFill>
          <a:blip r:embed="rId14"/>
          <a:stretch>
            <a:fillRect/>
          </a:stretch>
        </p:blipFill>
        <p:spPr>
          <a:xfrm>
            <a:off x="10082472" y="6194579"/>
            <a:ext cx="2135676" cy="540000"/>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0D8ED-4999-F1C0-291E-7EC6DE969C7F}"/>
            </a:ext>
          </a:extLst>
        </p:cNvPr>
        <p:cNvGrpSpPr/>
        <p:nvPr/>
      </p:nvGrpSpPr>
      <p:grpSpPr>
        <a:xfrm>
          <a:off x="0" y="0"/>
          <a:ext cx="0" cy="0"/>
          <a:chOff x="0" y="0"/>
          <a:chExt cx="0" cy="0"/>
        </a:xfrm>
      </p:grpSpPr>
      <p:sp>
        <p:nvSpPr>
          <p:cNvPr id="476" name="Rectangle">
            <a:extLst>
              <a:ext uri="{FF2B5EF4-FFF2-40B4-BE49-F238E27FC236}">
                <a16:creationId xmlns:a16="http://schemas.microsoft.com/office/drawing/2014/main" id="{4A62481D-F2BC-C3C7-A2B5-5C3940C7F2EA}"/>
              </a:ext>
            </a:extLst>
          </p:cNvPr>
          <p:cNvSpPr/>
          <p:nvPr/>
        </p:nvSpPr>
        <p:spPr>
          <a:xfrm>
            <a:off x="-57304" y="0"/>
            <a:ext cx="12194893" cy="6858000"/>
          </a:xfrm>
          <a:prstGeom prst="rect">
            <a:avLst/>
          </a:prstGeom>
          <a:solidFill>
            <a:srgbClr val="212934"/>
          </a:solidFill>
          <a:ln w="12600">
            <a:solidFill>
              <a:srgbClr val="1C2F52"/>
            </a:solidFill>
            <a:miter/>
          </a:ln>
          <a:effectLst>
            <a:outerShdw blurRad="63500" rotWithShape="0">
              <a:srgbClr val="000000">
                <a:alpha val="54"/>
              </a:srgbClr>
            </a:outerShdw>
          </a:effectLst>
        </p:spPr>
        <p:txBody>
          <a:bodyPr lIns="46992" rIns="46992" anchor="ctr"/>
          <a:lstStyle/>
          <a:p>
            <a:pPr>
              <a:lnSpc>
                <a:spcPct val="93000"/>
              </a:lnSpc>
              <a:defRPr>
                <a:latin typeface="Arial"/>
                <a:ea typeface="Arial"/>
                <a:cs typeface="Arial"/>
                <a:sym typeface="Arial"/>
              </a:defRPr>
            </a:pPr>
            <a:endParaRPr lang="es-CO" sz="1850"/>
          </a:p>
        </p:txBody>
      </p:sp>
      <p:sp>
        <p:nvSpPr>
          <p:cNvPr id="477" name="SOLUCIONES DE TRANSFORMACIÓN DIGITAL">
            <a:extLst>
              <a:ext uri="{FF2B5EF4-FFF2-40B4-BE49-F238E27FC236}">
                <a16:creationId xmlns:a16="http://schemas.microsoft.com/office/drawing/2014/main" id="{5745E8C6-CA36-67E9-D72E-6F145CBE69F2}"/>
              </a:ext>
            </a:extLst>
          </p:cNvPr>
          <p:cNvSpPr txBox="1"/>
          <p:nvPr/>
        </p:nvSpPr>
        <p:spPr>
          <a:xfrm>
            <a:off x="54411" y="176972"/>
            <a:ext cx="5261076" cy="33527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DBDBDB"/>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pic>
        <p:nvPicPr>
          <p:cNvPr id="478" name="image22.png" descr="image22.png">
            <a:extLst>
              <a:ext uri="{FF2B5EF4-FFF2-40B4-BE49-F238E27FC236}">
                <a16:creationId xmlns:a16="http://schemas.microsoft.com/office/drawing/2014/main" id="{03CF434B-12EC-1AF8-7B58-F9E1EFFBB96B}"/>
              </a:ext>
            </a:extLst>
          </p:cNvPr>
          <p:cNvPicPr>
            <a:picLocks noChangeAspect="1"/>
          </p:cNvPicPr>
          <p:nvPr/>
        </p:nvPicPr>
        <p:blipFill>
          <a:blip r:embed="rId2"/>
          <a:stretch>
            <a:fillRect/>
          </a:stretch>
        </p:blipFill>
        <p:spPr>
          <a:xfrm>
            <a:off x="-96270" y="552328"/>
            <a:ext cx="12338853" cy="70163"/>
          </a:xfrm>
          <a:prstGeom prst="rect">
            <a:avLst/>
          </a:prstGeom>
          <a:ln w="12700">
            <a:miter lim="400000"/>
          </a:ln>
        </p:spPr>
      </p:pic>
      <p:sp>
        <p:nvSpPr>
          <p:cNvPr id="19" name="Rectángulo: esquinas redondeadas 18">
            <a:extLst>
              <a:ext uri="{FF2B5EF4-FFF2-40B4-BE49-F238E27FC236}">
                <a16:creationId xmlns:a16="http://schemas.microsoft.com/office/drawing/2014/main" id="{97D68A57-2A49-5367-5E67-74FC15FFFB77}"/>
              </a:ext>
            </a:extLst>
          </p:cNvPr>
          <p:cNvSpPr/>
          <p:nvPr/>
        </p:nvSpPr>
        <p:spPr>
          <a:xfrm>
            <a:off x="5962693" y="1806299"/>
            <a:ext cx="6073926" cy="4242301"/>
          </a:xfrm>
          <a:prstGeom prst="roundRect">
            <a:avLst/>
          </a:prstGeom>
          <a:noFill/>
          <a:ln w="285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6992" tIns="46992" rIns="46992" bIns="46992" numCol="1" spcCol="38100" rtlCol="0" anchor="ctr">
            <a:spAutoFit/>
          </a:bodyPr>
          <a:lstStyle/>
          <a:p>
            <a:pPr lvl="0">
              <a:spcAft>
                <a:spcPts val="600"/>
              </a:spcAft>
            </a:pPr>
            <a:r>
              <a:rPr lang="es-ES" sz="1400" b="1" dirty="0">
                <a:solidFill>
                  <a:schemeClr val="bg1"/>
                </a:solidFill>
                <a:latin typeface="Montserrat" panose="00000500000000000000" pitchFamily="2" charset="0"/>
              </a:rPr>
              <a:t>Conocimientos en: </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Redes de telecomunicaciones y conectividad: LAN / WAN / WLAN / SD-WAN, interconexión de redes y conceptos TCP/IP.</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Gestión y soporte de Telefonía IP / VoIP y redes de voz.</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Operación de enlaces y servicios de conectividad (incl. escenarios con fibra óptica).</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Metodología ITIL: gestión de incidentes, problemas y cambios.</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Gestión de proyectos y marcos ágiles: SCRUM / PMP (o gerencia de proyectos).</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Seguimiento de indicadores, análisis de desempeño y cumplimiento de </a:t>
            </a:r>
            <a:r>
              <a:rPr lang="es-MX" sz="1400" dirty="0" err="1">
                <a:solidFill>
                  <a:schemeClr val="bg1"/>
                </a:solidFill>
                <a:latin typeface="Montserrat" panose="00000500000000000000" pitchFamily="2" charset="0"/>
              </a:rPr>
              <a:t>SLAs</a:t>
            </a:r>
            <a:r>
              <a:rPr lang="es-MX" sz="1400" dirty="0">
                <a:solidFill>
                  <a:schemeClr val="bg1"/>
                </a:solidFill>
                <a:latin typeface="Montserrat" panose="00000500000000000000" pitchFamily="2" charset="0"/>
              </a:rPr>
              <a:t> (</a:t>
            </a:r>
            <a:r>
              <a:rPr lang="es-MX" sz="1400" dirty="0" err="1">
                <a:solidFill>
                  <a:schemeClr val="bg1"/>
                </a:solidFill>
                <a:latin typeface="Montserrat" panose="00000500000000000000" pitchFamily="2" charset="0"/>
              </a:rPr>
              <a:t>KPIs</a:t>
            </a:r>
            <a:r>
              <a:rPr lang="es-MX" sz="1400" dirty="0">
                <a:solidFill>
                  <a:schemeClr val="bg1"/>
                </a:solidFill>
                <a:latin typeface="Montserrat" panose="00000500000000000000" pitchFamily="2" charset="0"/>
              </a:rPr>
              <a:t>).</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Herramientas: </a:t>
            </a:r>
            <a:r>
              <a:rPr lang="es-MX" sz="1400" dirty="0" err="1">
                <a:solidFill>
                  <a:schemeClr val="bg1"/>
                </a:solidFill>
                <a:latin typeface="Montserrat" panose="00000500000000000000" pitchFamily="2" charset="0"/>
              </a:rPr>
              <a:t>Service</a:t>
            </a:r>
            <a:r>
              <a:rPr lang="es-MX" sz="1400" dirty="0">
                <a:solidFill>
                  <a:schemeClr val="bg1"/>
                </a:solidFill>
                <a:latin typeface="Montserrat" panose="00000500000000000000" pitchFamily="2" charset="0"/>
              </a:rPr>
              <a:t> Manager, Microsoft Power BI, ofimática y Microsoft Project.</a:t>
            </a:r>
          </a:p>
          <a:p>
            <a:pPr marL="285750" lvl="0" indent="-285750">
              <a:buFont typeface="Arial" panose="020B0604020202020204" pitchFamily="34" charset="0"/>
              <a:buChar char="•"/>
            </a:pPr>
            <a:r>
              <a:rPr lang="es-MX" sz="1400" dirty="0">
                <a:solidFill>
                  <a:schemeClr val="bg1"/>
                </a:solidFill>
                <a:latin typeface="Montserrat" panose="00000500000000000000" pitchFamily="2" charset="0"/>
              </a:rPr>
              <a:t>Conocimientos en soluciones/equipamiento del sector (p. ej., Nokia).</a:t>
            </a:r>
            <a:endParaRPr lang="es-ES" sz="1400" dirty="0">
              <a:solidFill>
                <a:schemeClr val="bg1"/>
              </a:solidFill>
              <a:latin typeface="Montserrat" panose="00000500000000000000" pitchFamily="2" charset="0"/>
            </a:endParaRPr>
          </a:p>
        </p:txBody>
      </p:sp>
      <p:sp>
        <p:nvSpPr>
          <p:cNvPr id="4" name="TEXO EN MAYUSCULA">
            <a:extLst>
              <a:ext uri="{FF2B5EF4-FFF2-40B4-BE49-F238E27FC236}">
                <a16:creationId xmlns:a16="http://schemas.microsoft.com/office/drawing/2014/main" id="{B273206C-58A2-E40A-8024-95FF2CD723B4}"/>
              </a:ext>
            </a:extLst>
          </p:cNvPr>
          <p:cNvSpPr txBox="1"/>
          <p:nvPr/>
        </p:nvSpPr>
        <p:spPr>
          <a:xfrm>
            <a:off x="287185" y="1789120"/>
            <a:ext cx="5235766" cy="57721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4BA8BF"/>
                </a:solidFill>
                <a:latin typeface="+mj-lt"/>
                <a:ea typeface="+mj-ea"/>
                <a:cs typeface="+mj-cs"/>
                <a:sym typeface="Helvetica"/>
              </a:defRPr>
            </a:lvl1pPr>
          </a:lstStyle>
          <a:p>
            <a:r>
              <a:rPr lang="es-ES" sz="3289" dirty="0"/>
              <a:t>Descripción</a:t>
            </a:r>
            <a:endParaRPr sz="3289" dirty="0"/>
          </a:p>
        </p:txBody>
      </p:sp>
      <p:pic>
        <p:nvPicPr>
          <p:cNvPr id="2" name="Imagen 1" descr="Texto&#10;&#10;Descripción generada automáticamente">
            <a:extLst>
              <a:ext uri="{FF2B5EF4-FFF2-40B4-BE49-F238E27FC236}">
                <a16:creationId xmlns:a16="http://schemas.microsoft.com/office/drawing/2014/main" id="{924EB882-42BD-3512-4589-A8CDE7C556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2305" y="-36539"/>
            <a:ext cx="1993334" cy="540000"/>
          </a:xfrm>
          <a:prstGeom prst="rect">
            <a:avLst/>
          </a:prstGeom>
        </p:spPr>
      </p:pic>
      <p:sp>
        <p:nvSpPr>
          <p:cNvPr id="12" name="Rectángulo: esquinas redondeadas 11">
            <a:extLst>
              <a:ext uri="{FF2B5EF4-FFF2-40B4-BE49-F238E27FC236}">
                <a16:creationId xmlns:a16="http://schemas.microsoft.com/office/drawing/2014/main" id="{E90C77A2-D717-A02A-F5C0-95FDBAEA4ACB}"/>
              </a:ext>
            </a:extLst>
          </p:cNvPr>
          <p:cNvSpPr/>
          <p:nvPr/>
        </p:nvSpPr>
        <p:spPr>
          <a:xfrm>
            <a:off x="172485" y="2366336"/>
            <a:ext cx="5465165" cy="2812122"/>
          </a:xfrm>
          <a:prstGeom prst="roundRect">
            <a:avLst/>
          </a:prstGeom>
          <a:noFill/>
          <a:ln w="285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6992" tIns="46992" rIns="46992" bIns="46992" numCol="1" spcCol="38100" rtlCol="0" anchor="ctr">
            <a:spAutoFit/>
          </a:bodyPr>
          <a:lstStyle/>
          <a:p>
            <a:pPr marL="0" lvl="1" algn="just">
              <a:spcBef>
                <a:spcPts val="600"/>
              </a:spcBef>
            </a:pPr>
            <a:r>
              <a:rPr lang="es-MX" sz="1400" dirty="0">
                <a:solidFill>
                  <a:schemeClr val="bg1"/>
                </a:solidFill>
                <a:latin typeface="Montserrat" panose="00000500000000000000" pitchFamily="2" charset="0"/>
              </a:rPr>
              <a:t>Profesional en Ingeniería de Sistemas, Electrónica o Telecomunicaciones (o afines), con 4 a 5 años de experiencia liderando operaciones de Mesa de Ayuda / NOC para servicios de conectividad (red de datos y Telefonía IP). Responsable de coordinar y hacer seguimiento al proceso de gestión de incidentes para garantizar el cumplimiento de </a:t>
            </a:r>
            <a:r>
              <a:rPr lang="es-MX" sz="1400" dirty="0" err="1">
                <a:solidFill>
                  <a:schemeClr val="bg1"/>
                </a:solidFill>
                <a:latin typeface="Montserrat" panose="00000500000000000000" pitchFamily="2" charset="0"/>
              </a:rPr>
              <a:t>SLAs</a:t>
            </a:r>
            <a:r>
              <a:rPr lang="es-MX" sz="1400" dirty="0">
                <a:solidFill>
                  <a:schemeClr val="bg1"/>
                </a:solidFill>
                <a:latin typeface="Montserrat" panose="00000500000000000000" pitchFamily="2" charset="0"/>
              </a:rPr>
              <a:t>, liderar equipos técnicos y personal de campo, atender </a:t>
            </a:r>
            <a:r>
              <a:rPr lang="es-CO" sz="1400" noProof="0" dirty="0">
                <a:solidFill>
                  <a:schemeClr val="bg1"/>
                </a:solidFill>
                <a:latin typeface="Montserrat" panose="00000500000000000000" pitchFamily="2" charset="0"/>
              </a:rPr>
              <a:t>escalalamientos</a:t>
            </a:r>
            <a:r>
              <a:rPr lang="es-MX" sz="1400" dirty="0">
                <a:solidFill>
                  <a:schemeClr val="bg1"/>
                </a:solidFill>
                <a:latin typeface="Montserrat" panose="00000500000000000000" pitchFamily="2" charset="0"/>
              </a:rPr>
              <a:t> de clientes críticos y promover iniciativas de mejora continua. Disponibilidad 5x8 con atención eventual fuera de horario cuando se requiera.</a:t>
            </a:r>
            <a:r>
              <a:rPr lang="es-ES" sz="1400" dirty="0">
                <a:solidFill>
                  <a:schemeClr val="bg1"/>
                </a:solidFill>
                <a:latin typeface="Montserrat" panose="00000500000000000000" pitchFamily="2" charset="0"/>
              </a:rPr>
              <a:t>	</a:t>
            </a:r>
          </a:p>
        </p:txBody>
      </p:sp>
      <p:sp>
        <p:nvSpPr>
          <p:cNvPr id="6" name="Rectángulo: esquinas redondeadas 5">
            <a:extLst>
              <a:ext uri="{FF2B5EF4-FFF2-40B4-BE49-F238E27FC236}">
                <a16:creationId xmlns:a16="http://schemas.microsoft.com/office/drawing/2014/main" id="{75A1B2D9-DC3B-515B-87A5-2440CE248DE2}"/>
              </a:ext>
            </a:extLst>
          </p:cNvPr>
          <p:cNvSpPr/>
          <p:nvPr/>
        </p:nvSpPr>
        <p:spPr>
          <a:xfrm>
            <a:off x="270930" y="886879"/>
            <a:ext cx="9799506" cy="792000"/>
          </a:xfrm>
          <a:prstGeom prst="roundRect">
            <a:avLst/>
          </a:prstGeom>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2800" dirty="0"/>
              <a:t>Líder Mesa de Ayuda Conectividad Estándar</a:t>
            </a:r>
            <a:endParaRPr lang="es-CO" sz="3600" dirty="0"/>
          </a:p>
        </p:txBody>
      </p:sp>
    </p:spTree>
    <p:extLst>
      <p:ext uri="{BB962C8B-B14F-4D97-AF65-F5344CB8AC3E}">
        <p14:creationId xmlns:p14="http://schemas.microsoft.com/office/powerpoint/2010/main" val="3872538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DDADA-6A5F-DC99-B4EE-43B27C7788A1}"/>
            </a:ext>
          </a:extLst>
        </p:cNvPr>
        <p:cNvGrpSpPr/>
        <p:nvPr/>
      </p:nvGrpSpPr>
      <p:grpSpPr>
        <a:xfrm>
          <a:off x="0" y="0"/>
          <a:ext cx="0" cy="0"/>
          <a:chOff x="0" y="0"/>
          <a:chExt cx="0" cy="0"/>
        </a:xfrm>
      </p:grpSpPr>
      <p:sp>
        <p:nvSpPr>
          <p:cNvPr id="476" name="Rectangle">
            <a:extLst>
              <a:ext uri="{FF2B5EF4-FFF2-40B4-BE49-F238E27FC236}">
                <a16:creationId xmlns:a16="http://schemas.microsoft.com/office/drawing/2014/main" id="{A67EA3DB-285C-B26B-B9F3-F0226ABB5004}"/>
              </a:ext>
            </a:extLst>
          </p:cNvPr>
          <p:cNvSpPr/>
          <p:nvPr/>
        </p:nvSpPr>
        <p:spPr>
          <a:xfrm>
            <a:off x="-2893" y="-6520"/>
            <a:ext cx="12194893" cy="6865790"/>
          </a:xfrm>
          <a:prstGeom prst="rect">
            <a:avLst/>
          </a:prstGeom>
          <a:solidFill>
            <a:srgbClr val="212934"/>
          </a:solidFill>
          <a:ln w="12600">
            <a:solidFill>
              <a:srgbClr val="1C2F52"/>
            </a:solidFill>
            <a:miter/>
          </a:ln>
          <a:effectLst>
            <a:outerShdw blurRad="63500" rotWithShape="0">
              <a:srgbClr val="000000">
                <a:alpha val="54"/>
              </a:srgbClr>
            </a:outerShdw>
          </a:effectLst>
        </p:spPr>
        <p:txBody>
          <a:bodyPr lIns="46992" rIns="46992" anchor="ctr"/>
          <a:lstStyle/>
          <a:p>
            <a:pPr>
              <a:lnSpc>
                <a:spcPct val="93000"/>
              </a:lnSpc>
              <a:defRPr>
                <a:latin typeface="Arial"/>
                <a:ea typeface="Arial"/>
                <a:cs typeface="Arial"/>
                <a:sym typeface="Arial"/>
              </a:defRPr>
            </a:pPr>
            <a:endParaRPr lang="es-CO" sz="1850"/>
          </a:p>
        </p:txBody>
      </p:sp>
      <p:sp>
        <p:nvSpPr>
          <p:cNvPr id="477" name="SOLUCIONES DE TRANSFORMACIÓN DIGITAL">
            <a:extLst>
              <a:ext uri="{FF2B5EF4-FFF2-40B4-BE49-F238E27FC236}">
                <a16:creationId xmlns:a16="http://schemas.microsoft.com/office/drawing/2014/main" id="{98A12E82-511C-7D97-7B10-282793489935}"/>
              </a:ext>
            </a:extLst>
          </p:cNvPr>
          <p:cNvSpPr txBox="1"/>
          <p:nvPr/>
        </p:nvSpPr>
        <p:spPr>
          <a:xfrm>
            <a:off x="54411" y="176972"/>
            <a:ext cx="5261076" cy="33527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DBDBDB"/>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pic>
        <p:nvPicPr>
          <p:cNvPr id="478" name="image22.png" descr="image22.png">
            <a:extLst>
              <a:ext uri="{FF2B5EF4-FFF2-40B4-BE49-F238E27FC236}">
                <a16:creationId xmlns:a16="http://schemas.microsoft.com/office/drawing/2014/main" id="{BA9741AF-579F-DD19-DC67-0868DD811FE0}"/>
              </a:ext>
            </a:extLst>
          </p:cNvPr>
          <p:cNvPicPr>
            <a:picLocks noChangeAspect="1"/>
          </p:cNvPicPr>
          <p:nvPr/>
        </p:nvPicPr>
        <p:blipFill>
          <a:blip r:embed="rId2"/>
          <a:stretch>
            <a:fillRect/>
          </a:stretch>
        </p:blipFill>
        <p:spPr>
          <a:xfrm>
            <a:off x="-96270" y="552328"/>
            <a:ext cx="12338853" cy="70163"/>
          </a:xfrm>
          <a:prstGeom prst="rect">
            <a:avLst/>
          </a:prstGeom>
          <a:ln w="12700">
            <a:miter lim="400000"/>
          </a:ln>
        </p:spPr>
      </p:pic>
      <p:sp>
        <p:nvSpPr>
          <p:cNvPr id="481" name="TEXO EN MAYUSCULA">
            <a:extLst>
              <a:ext uri="{FF2B5EF4-FFF2-40B4-BE49-F238E27FC236}">
                <a16:creationId xmlns:a16="http://schemas.microsoft.com/office/drawing/2014/main" id="{C49B8395-8F6B-7787-8124-E01E61CE10A5}"/>
              </a:ext>
            </a:extLst>
          </p:cNvPr>
          <p:cNvSpPr txBox="1"/>
          <p:nvPr/>
        </p:nvSpPr>
        <p:spPr>
          <a:xfrm>
            <a:off x="733621" y="3370546"/>
            <a:ext cx="5042316" cy="56411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4BA8BF"/>
                </a:solidFill>
                <a:latin typeface="+mj-lt"/>
                <a:ea typeface="+mj-ea"/>
                <a:cs typeface="+mj-cs"/>
                <a:sym typeface="Helvetica"/>
              </a:defRPr>
            </a:lvl1pPr>
          </a:lstStyle>
          <a:p>
            <a:r>
              <a:rPr lang="es-ES" sz="3289" dirty="0"/>
              <a:t>Funciones:</a:t>
            </a:r>
            <a:endParaRPr sz="3289" dirty="0"/>
          </a:p>
        </p:txBody>
      </p:sp>
      <p:sp>
        <p:nvSpPr>
          <p:cNvPr id="19" name="Rectángulo: esquinas redondeadas 18">
            <a:extLst>
              <a:ext uri="{FF2B5EF4-FFF2-40B4-BE49-F238E27FC236}">
                <a16:creationId xmlns:a16="http://schemas.microsoft.com/office/drawing/2014/main" id="{50C170F4-D961-E415-61AF-34E1A4A5F7F8}"/>
              </a:ext>
            </a:extLst>
          </p:cNvPr>
          <p:cNvSpPr/>
          <p:nvPr/>
        </p:nvSpPr>
        <p:spPr>
          <a:xfrm>
            <a:off x="344065" y="3845863"/>
            <a:ext cx="10943276" cy="2914277"/>
          </a:xfrm>
          <a:prstGeom prst="roundRect">
            <a:avLst/>
          </a:prstGeom>
          <a:noFill/>
          <a:ln w="285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6992" tIns="46992" rIns="46992" bIns="46992" numCol="1" spcCol="38100" rtlCol="0" anchor="ctr">
            <a:spAutoFit/>
          </a:bodyPr>
          <a:lstStyle/>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Realizar seguimiento detallado a la ejecución del </a:t>
            </a:r>
            <a:r>
              <a:rPr lang="es-MX" sz="1100" b="1" dirty="0">
                <a:solidFill>
                  <a:schemeClr val="bg1"/>
                </a:solidFill>
                <a:latin typeface="Montserrat" panose="00000500000000000000" pitchFamily="2" charset="0"/>
              </a:rPr>
              <a:t>proceso de gestión de incidentes</a:t>
            </a:r>
            <a:r>
              <a:rPr lang="es-MX" sz="1100" dirty="0">
                <a:solidFill>
                  <a:schemeClr val="bg1"/>
                </a:solidFill>
                <a:latin typeface="Montserrat" panose="00000500000000000000" pitchFamily="2" charset="0"/>
              </a:rPr>
              <a:t>, garantizando el cumplimiento de </a:t>
            </a:r>
            <a:r>
              <a:rPr lang="es-MX" sz="1100" b="1" dirty="0">
                <a:solidFill>
                  <a:schemeClr val="bg1"/>
                </a:solidFill>
                <a:latin typeface="Montserrat" panose="00000500000000000000" pitchFamily="2" charset="0"/>
              </a:rPr>
              <a:t>SLA</a:t>
            </a:r>
            <a:r>
              <a:rPr lang="es-MX" sz="1100" dirty="0">
                <a:solidFill>
                  <a:schemeClr val="bg1"/>
                </a:solidFill>
                <a:latin typeface="Montserrat" panose="00000500000000000000" pitchFamily="2" charset="0"/>
              </a:rPr>
              <a:t> y los acuerdos de servicio definidos.</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Coordinar y controlar los </a:t>
            </a:r>
            <a:r>
              <a:rPr lang="es-MX" sz="1100" b="1" dirty="0">
                <a:solidFill>
                  <a:schemeClr val="bg1"/>
                </a:solidFill>
                <a:latin typeface="Montserrat" panose="00000500000000000000" pitchFamily="2" charset="0"/>
              </a:rPr>
              <a:t>procesos operativos</a:t>
            </a:r>
            <a:r>
              <a:rPr lang="es-MX" sz="1100" dirty="0">
                <a:solidFill>
                  <a:schemeClr val="bg1"/>
                </a:solidFill>
                <a:latin typeface="Montserrat" panose="00000500000000000000" pitchFamily="2" charset="0"/>
              </a:rPr>
              <a:t> asociados a la atención de incidentes, incluyendo articulación </a:t>
            </a:r>
            <a:r>
              <a:rPr lang="es-MX" sz="1100" b="1" dirty="0">
                <a:solidFill>
                  <a:schemeClr val="bg1"/>
                </a:solidFill>
                <a:latin typeface="Montserrat" panose="00000500000000000000" pitchFamily="2" charset="0"/>
              </a:rPr>
              <a:t>con personal de campo</a:t>
            </a:r>
            <a:r>
              <a:rPr lang="es-MX" sz="1100" dirty="0">
                <a:solidFill>
                  <a:schemeClr val="bg1"/>
                </a:solidFill>
                <a:latin typeface="Montserrat" panose="00000500000000000000" pitchFamily="2" charset="0"/>
              </a:rPr>
              <a:t> y grupos de soporte internos/externos.</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Analizar, diagnosticar y solucionar incidentes </a:t>
            </a:r>
            <a:r>
              <a:rPr lang="es-MX" sz="1100" b="1" dirty="0">
                <a:solidFill>
                  <a:schemeClr val="bg1"/>
                </a:solidFill>
                <a:latin typeface="Montserrat" panose="00000500000000000000" pitchFamily="2" charset="0"/>
              </a:rPr>
              <a:t>en enlaces de clientes</a:t>
            </a:r>
            <a:r>
              <a:rPr lang="es-MX" sz="1100" dirty="0">
                <a:solidFill>
                  <a:schemeClr val="bg1"/>
                </a:solidFill>
                <a:latin typeface="Montserrat" panose="00000500000000000000" pitchFamily="2" charset="0"/>
              </a:rPr>
              <a:t> (incluye clientes especiales / NOC), utilizando herramientas de diagnóstico, monitoreo y gestión.</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Gestionar, analizar, diagnosticar y solucionar incidentes </a:t>
            </a:r>
            <a:r>
              <a:rPr lang="es-MX" sz="1100" b="1" dirty="0">
                <a:solidFill>
                  <a:schemeClr val="bg1"/>
                </a:solidFill>
                <a:latin typeface="Montserrat" panose="00000500000000000000" pitchFamily="2" charset="0"/>
              </a:rPr>
              <a:t>en clientes críticos</a:t>
            </a:r>
            <a:r>
              <a:rPr lang="es-MX" sz="1100" dirty="0">
                <a:solidFill>
                  <a:schemeClr val="bg1"/>
                </a:solidFill>
                <a:latin typeface="Montserrat" panose="00000500000000000000" pitchFamily="2" charset="0"/>
              </a:rPr>
              <a:t> y/o </a:t>
            </a:r>
            <a:r>
              <a:rPr lang="es-MX" sz="1100" b="1" dirty="0">
                <a:solidFill>
                  <a:schemeClr val="bg1"/>
                </a:solidFill>
                <a:latin typeface="Montserrat" panose="00000500000000000000" pitchFamily="2" charset="0"/>
              </a:rPr>
              <a:t>soluciones especiales</a:t>
            </a:r>
            <a:r>
              <a:rPr lang="es-MX" sz="1100" dirty="0">
                <a:solidFill>
                  <a:schemeClr val="bg1"/>
                </a:solidFill>
                <a:latin typeface="Montserrat" panose="00000500000000000000" pitchFamily="2" charset="0"/>
              </a:rPr>
              <a:t>, asegurando trazabilidad, escalamiento y cierre oportuno.</a:t>
            </a:r>
          </a:p>
          <a:p>
            <a:pPr marL="285750" lvl="0" indent="-285750" algn="just">
              <a:buFont typeface="Arial" panose="020B0604020202020204" pitchFamily="34" charset="0"/>
              <a:buChar char="•"/>
            </a:pPr>
            <a:r>
              <a:rPr lang="es-MX" sz="1100" b="1" dirty="0">
                <a:solidFill>
                  <a:schemeClr val="bg1"/>
                </a:solidFill>
                <a:latin typeface="Montserrat" panose="00000500000000000000" pitchFamily="2" charset="0"/>
              </a:rPr>
              <a:t>Atender escalamientos técnicos</a:t>
            </a:r>
            <a:r>
              <a:rPr lang="es-MX" sz="1100" dirty="0">
                <a:solidFill>
                  <a:schemeClr val="bg1"/>
                </a:solidFill>
                <a:latin typeface="Montserrat" panose="00000500000000000000" pitchFamily="2" charset="0"/>
              </a:rPr>
              <a:t> provenientes de diferentes grupos o áreas internas, asegurando una comunicación efectiva con las partes interesadas.</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Crear, liderar y gestionar </a:t>
            </a:r>
            <a:r>
              <a:rPr lang="es-MX" sz="1100" b="1" dirty="0">
                <a:solidFill>
                  <a:schemeClr val="bg1"/>
                </a:solidFill>
                <a:latin typeface="Montserrat" panose="00000500000000000000" pitchFamily="2" charset="0"/>
              </a:rPr>
              <a:t>proyectos de mejora continua</a:t>
            </a:r>
            <a:r>
              <a:rPr lang="es-MX" sz="1100" dirty="0">
                <a:solidFill>
                  <a:schemeClr val="bg1"/>
                </a:solidFill>
                <a:latin typeface="Montserrat" panose="00000500000000000000" pitchFamily="2" charset="0"/>
              </a:rPr>
              <a:t> para optimizar procesos operativos, reducir tiempos de atención y fortalecer la calidad del servicio.</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Cumplir con las órdenes e instrucciones impartidas por el(los) superior(es) y las políticas definidas para la operación del servicio.</a:t>
            </a:r>
          </a:p>
          <a:p>
            <a:pPr marL="285750" lvl="0" indent="-285750" algn="just">
              <a:buFont typeface="Arial" panose="020B0604020202020204" pitchFamily="34" charset="0"/>
              <a:buChar char="•"/>
            </a:pPr>
            <a:r>
              <a:rPr lang="es-MX" sz="1100" dirty="0">
                <a:solidFill>
                  <a:schemeClr val="bg1"/>
                </a:solidFill>
                <a:latin typeface="Montserrat" panose="00000500000000000000" pitchFamily="2" charset="0"/>
              </a:rPr>
              <a:t>Dar cumplimiento a normas </a:t>
            </a:r>
            <a:r>
              <a:rPr lang="es-MX" sz="1100" b="1" dirty="0">
                <a:solidFill>
                  <a:schemeClr val="bg1"/>
                </a:solidFill>
                <a:latin typeface="Montserrat" panose="00000500000000000000" pitchFamily="2" charset="0"/>
              </a:rPr>
              <a:t>legales y de seguridad (HSE)</a:t>
            </a:r>
            <a:r>
              <a:rPr lang="es-MX" sz="1100" dirty="0">
                <a:solidFill>
                  <a:schemeClr val="bg1"/>
                </a:solidFill>
                <a:latin typeface="Montserrat" panose="00000500000000000000" pitchFamily="2" charset="0"/>
              </a:rPr>
              <a:t>: reportar incidentes/accidentes de trabajo y recomendar acciones preventivas y correctivas cuando aplique.</a:t>
            </a:r>
            <a:endParaRPr lang="es-CO" sz="1100" dirty="0">
              <a:solidFill>
                <a:schemeClr val="bg1"/>
              </a:solidFill>
              <a:latin typeface="Montserrat" panose="00000500000000000000" pitchFamily="2" charset="0"/>
            </a:endParaRPr>
          </a:p>
        </p:txBody>
      </p:sp>
      <p:pic>
        <p:nvPicPr>
          <p:cNvPr id="2" name="Imagen 1" descr="Texto&#10;&#10;Descripción generada automáticamente">
            <a:extLst>
              <a:ext uri="{FF2B5EF4-FFF2-40B4-BE49-F238E27FC236}">
                <a16:creationId xmlns:a16="http://schemas.microsoft.com/office/drawing/2014/main" id="{F377475D-F065-DE1D-C28B-219DA76D07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21359" y="-27487"/>
            <a:ext cx="1993335" cy="540000"/>
          </a:xfrm>
          <a:prstGeom prst="rect">
            <a:avLst/>
          </a:prstGeom>
        </p:spPr>
      </p:pic>
      <p:sp>
        <p:nvSpPr>
          <p:cNvPr id="5" name="Rectángulo: esquinas redondeadas 4">
            <a:extLst>
              <a:ext uri="{FF2B5EF4-FFF2-40B4-BE49-F238E27FC236}">
                <a16:creationId xmlns:a16="http://schemas.microsoft.com/office/drawing/2014/main" id="{81188510-62DD-3A1C-3889-709295D74A42}"/>
              </a:ext>
            </a:extLst>
          </p:cNvPr>
          <p:cNvSpPr/>
          <p:nvPr/>
        </p:nvSpPr>
        <p:spPr>
          <a:xfrm>
            <a:off x="421853" y="707566"/>
            <a:ext cx="9799506" cy="449213"/>
          </a:xfrm>
          <a:prstGeom prst="roundRect">
            <a:avLst/>
          </a:prstGeom>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s-ES" sz="2800" dirty="0"/>
              <a:t>Líder Mesa de Ayuda Conectividad Estándar</a:t>
            </a:r>
            <a:endParaRPr lang="es-CO" sz="3600" dirty="0"/>
          </a:p>
        </p:txBody>
      </p:sp>
      <p:sp>
        <p:nvSpPr>
          <p:cNvPr id="3" name="Rectángulo: esquinas redondeadas 2">
            <a:extLst>
              <a:ext uri="{FF2B5EF4-FFF2-40B4-BE49-F238E27FC236}">
                <a16:creationId xmlns:a16="http://schemas.microsoft.com/office/drawing/2014/main" id="{D41290DE-A501-40B9-CC3A-E95C7AD88D77}"/>
              </a:ext>
            </a:extLst>
          </p:cNvPr>
          <p:cNvSpPr/>
          <p:nvPr/>
        </p:nvSpPr>
        <p:spPr>
          <a:xfrm>
            <a:off x="351512" y="1763073"/>
            <a:ext cx="10779457" cy="1603280"/>
          </a:xfrm>
          <a:prstGeom prst="roundRect">
            <a:avLst/>
          </a:prstGeom>
          <a:noFill/>
          <a:ln w="28575"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6992" tIns="46992" rIns="46992" bIns="46992" numCol="1" spcCol="38100" rtlCol="0" anchor="ctr">
            <a:spAutoFit/>
          </a:bodyPr>
          <a:lstStyle/>
          <a:p>
            <a:pPr marL="285750" indent="-285750">
              <a:buFont typeface="Arial" panose="020B0604020202020204" pitchFamily="34" charset="0"/>
              <a:buChar char="•"/>
            </a:pPr>
            <a:r>
              <a:rPr lang="es-MX" sz="1100" dirty="0">
                <a:solidFill>
                  <a:schemeClr val="bg1"/>
                </a:solidFill>
                <a:latin typeface="Montserrat" pitchFamily="2" charset="0"/>
              </a:rPr>
              <a:t>Seguimiento detallado a la </a:t>
            </a:r>
            <a:r>
              <a:rPr lang="es-MX" sz="1100" b="1" dirty="0">
                <a:solidFill>
                  <a:schemeClr val="bg1"/>
                </a:solidFill>
                <a:latin typeface="Montserrat" pitchFamily="2" charset="0"/>
              </a:rPr>
              <a:t>administración de incidentes</a:t>
            </a:r>
            <a:r>
              <a:rPr lang="es-MX" sz="1100" dirty="0">
                <a:solidFill>
                  <a:schemeClr val="bg1"/>
                </a:solidFill>
                <a:latin typeface="Montserrat" panose="00000500000000000000" pitchFamily="2" charset="0"/>
              </a:rPr>
              <a:t> para asegurar el cumplimiento de </a:t>
            </a:r>
            <a:r>
              <a:rPr lang="es-MX" sz="1100" b="1" dirty="0" err="1">
                <a:solidFill>
                  <a:schemeClr val="bg1"/>
                </a:solidFill>
                <a:latin typeface="Montserrat" pitchFamily="2" charset="0"/>
              </a:rPr>
              <a:t>SLAs</a:t>
            </a:r>
            <a:r>
              <a:rPr lang="es-MX" sz="1100" dirty="0">
                <a:solidFill>
                  <a:schemeClr val="bg1"/>
                </a:solidFill>
                <a:latin typeface="Montserrat" pitchFamily="2" charset="0"/>
              </a:rPr>
              <a:t>.</a:t>
            </a:r>
          </a:p>
          <a:p>
            <a:pPr marL="285750" indent="-285750">
              <a:buFont typeface="Arial" panose="020B0604020202020204" pitchFamily="34" charset="0"/>
              <a:buChar char="•"/>
            </a:pPr>
            <a:r>
              <a:rPr lang="es-MX" sz="1100" dirty="0">
                <a:solidFill>
                  <a:schemeClr val="bg1"/>
                </a:solidFill>
                <a:latin typeface="Montserrat" pitchFamily="2" charset="0"/>
              </a:rPr>
              <a:t>Coordinación y control de </a:t>
            </a:r>
            <a:r>
              <a:rPr lang="es-MX" sz="1100" b="1" dirty="0">
                <a:solidFill>
                  <a:schemeClr val="bg1"/>
                </a:solidFill>
                <a:latin typeface="Montserrat" pitchFamily="2" charset="0"/>
              </a:rPr>
              <a:t>procesos operativos</a:t>
            </a:r>
            <a:r>
              <a:rPr lang="es-MX" sz="1100" dirty="0">
                <a:solidFill>
                  <a:schemeClr val="bg1"/>
                </a:solidFill>
                <a:latin typeface="Montserrat" panose="00000500000000000000" pitchFamily="2" charset="0"/>
              </a:rPr>
              <a:t> y equipos técnicos (incl. personal de campo).</a:t>
            </a:r>
          </a:p>
          <a:p>
            <a:pPr marL="285750" indent="-285750">
              <a:buFont typeface="Arial" panose="020B0604020202020204" pitchFamily="34" charset="0"/>
              <a:buChar char="•"/>
            </a:pPr>
            <a:r>
              <a:rPr lang="es-MX" sz="1100" dirty="0">
                <a:solidFill>
                  <a:schemeClr val="bg1"/>
                </a:solidFill>
                <a:latin typeface="Montserrat" panose="00000500000000000000" pitchFamily="2" charset="0"/>
              </a:rPr>
              <a:t>Análisis, diagnóstico y solución de incidentes en </a:t>
            </a:r>
            <a:r>
              <a:rPr lang="es-MX" sz="1100" b="1" dirty="0">
                <a:solidFill>
                  <a:schemeClr val="bg1"/>
                </a:solidFill>
                <a:latin typeface="Montserrat" pitchFamily="2" charset="0"/>
              </a:rPr>
              <a:t>enlaces de clientes</a:t>
            </a:r>
            <a:r>
              <a:rPr lang="es-MX" sz="1100" dirty="0">
                <a:solidFill>
                  <a:schemeClr val="bg1"/>
                </a:solidFill>
                <a:latin typeface="Montserrat" panose="00000500000000000000" pitchFamily="2" charset="0"/>
              </a:rPr>
              <a:t> (NOC / clientes especiales) usando herramientas de diagnóstico y bases de conocimiento.</a:t>
            </a:r>
          </a:p>
          <a:p>
            <a:pPr marL="285750" indent="-285750">
              <a:buFont typeface="Arial" panose="020B0604020202020204" pitchFamily="34" charset="0"/>
              <a:buChar char="•"/>
            </a:pPr>
            <a:r>
              <a:rPr lang="es-MX" sz="1100" dirty="0">
                <a:solidFill>
                  <a:schemeClr val="bg1"/>
                </a:solidFill>
                <a:latin typeface="Montserrat" panose="00000500000000000000" pitchFamily="2" charset="0"/>
              </a:rPr>
              <a:t>Gestión de incidentes y problemas en </a:t>
            </a:r>
            <a:r>
              <a:rPr lang="es-MX" sz="1100" b="1" dirty="0">
                <a:solidFill>
                  <a:schemeClr val="bg1"/>
                </a:solidFill>
                <a:latin typeface="Montserrat" pitchFamily="2" charset="0"/>
              </a:rPr>
              <a:t>clientes críticos / soluciones especiales</a:t>
            </a:r>
            <a:r>
              <a:rPr lang="es-MX" sz="1100" dirty="0">
                <a:solidFill>
                  <a:schemeClr val="bg1"/>
                </a:solidFill>
                <a:latin typeface="Montserrat" pitchFamily="2" charset="0"/>
              </a:rPr>
              <a:t>, con enfoque en causa raíz y satisfacción del cliente.</a:t>
            </a:r>
          </a:p>
          <a:p>
            <a:pPr marL="285750" indent="-285750">
              <a:buFont typeface="Arial" panose="020B0604020202020204" pitchFamily="34" charset="0"/>
              <a:buChar char="•"/>
            </a:pPr>
            <a:r>
              <a:rPr lang="es-MX" sz="1100" dirty="0">
                <a:solidFill>
                  <a:schemeClr val="bg1"/>
                </a:solidFill>
                <a:latin typeface="Montserrat" pitchFamily="2" charset="0"/>
              </a:rPr>
              <a:t>Atención de </a:t>
            </a:r>
            <a:r>
              <a:rPr lang="es-MX" sz="1100" b="1" dirty="0">
                <a:solidFill>
                  <a:schemeClr val="bg1"/>
                </a:solidFill>
                <a:latin typeface="Montserrat" pitchFamily="2" charset="0"/>
              </a:rPr>
              <a:t>escalamientos técnicos</a:t>
            </a:r>
            <a:r>
              <a:rPr lang="es-MX" sz="1100" dirty="0">
                <a:solidFill>
                  <a:schemeClr val="bg1"/>
                </a:solidFill>
                <a:latin typeface="Montserrat" panose="00000500000000000000" pitchFamily="2" charset="0"/>
              </a:rPr>
              <a:t> provenientes de grupos/consorcios de entidades y áreas internas.</a:t>
            </a:r>
          </a:p>
          <a:p>
            <a:pPr marL="285750" indent="-285750">
              <a:buFont typeface="Arial" panose="020B0604020202020204" pitchFamily="34" charset="0"/>
              <a:buChar char="•"/>
            </a:pPr>
            <a:r>
              <a:rPr lang="es-MX" sz="1100" dirty="0">
                <a:solidFill>
                  <a:schemeClr val="bg1"/>
                </a:solidFill>
                <a:latin typeface="Montserrat" panose="00000500000000000000" pitchFamily="2" charset="0"/>
              </a:rPr>
              <a:t>Creación y gestión de </a:t>
            </a:r>
            <a:r>
              <a:rPr lang="es-MX" sz="1100" b="1" dirty="0">
                <a:solidFill>
                  <a:schemeClr val="bg1"/>
                </a:solidFill>
                <a:latin typeface="Montserrat" pitchFamily="2" charset="0"/>
              </a:rPr>
              <a:t>proyectos de mejora</a:t>
            </a:r>
            <a:r>
              <a:rPr lang="es-MX" sz="1100" dirty="0">
                <a:solidFill>
                  <a:schemeClr val="bg1"/>
                </a:solidFill>
                <a:latin typeface="Montserrat" panose="00000500000000000000" pitchFamily="2" charset="0"/>
              </a:rPr>
              <a:t> para optimizar la operación y agilizar la atención.</a:t>
            </a:r>
          </a:p>
          <a:p>
            <a:pPr marL="285750" indent="-285750">
              <a:buFont typeface="Arial" panose="020B0604020202020204" pitchFamily="34" charset="0"/>
              <a:buChar char="•"/>
            </a:pPr>
            <a:r>
              <a:rPr lang="es-MX" sz="1100" dirty="0">
                <a:solidFill>
                  <a:schemeClr val="bg1"/>
                </a:solidFill>
                <a:latin typeface="Montserrat" panose="00000500000000000000" pitchFamily="2" charset="0"/>
              </a:rPr>
              <a:t>Cumplimiento de lineamientos </a:t>
            </a:r>
            <a:r>
              <a:rPr lang="es-MX" sz="1100" b="1" dirty="0">
                <a:solidFill>
                  <a:schemeClr val="bg1"/>
                </a:solidFill>
                <a:latin typeface="Montserrat" pitchFamily="2" charset="0"/>
              </a:rPr>
              <a:t>HSE</a:t>
            </a:r>
            <a:r>
              <a:rPr lang="es-MX" sz="1100" dirty="0">
                <a:solidFill>
                  <a:schemeClr val="bg1"/>
                </a:solidFill>
                <a:latin typeface="Montserrat" panose="00000500000000000000" pitchFamily="2" charset="0"/>
              </a:rPr>
              <a:t> y reporte de incidentes/accidentes de trabajo.</a:t>
            </a:r>
          </a:p>
        </p:txBody>
      </p:sp>
      <p:sp>
        <p:nvSpPr>
          <p:cNvPr id="4" name="TEXO EN MAYUSCULA">
            <a:extLst>
              <a:ext uri="{FF2B5EF4-FFF2-40B4-BE49-F238E27FC236}">
                <a16:creationId xmlns:a16="http://schemas.microsoft.com/office/drawing/2014/main" id="{2485EF9C-59F8-2578-D39D-2D7A903AF4AE}"/>
              </a:ext>
            </a:extLst>
          </p:cNvPr>
          <p:cNvSpPr txBox="1"/>
          <p:nvPr/>
        </p:nvSpPr>
        <p:spPr>
          <a:xfrm>
            <a:off x="721276" y="1192409"/>
            <a:ext cx="5042316" cy="56411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4BA8BF"/>
                </a:solidFill>
                <a:latin typeface="+mj-lt"/>
                <a:ea typeface="+mj-ea"/>
                <a:cs typeface="+mj-cs"/>
                <a:sym typeface="Helvetica"/>
              </a:defRPr>
            </a:lvl1pPr>
          </a:lstStyle>
          <a:p>
            <a:r>
              <a:rPr lang="es-ES" sz="3289" dirty="0"/>
              <a:t>Experiencia en:</a:t>
            </a:r>
            <a:endParaRPr sz="3289" dirty="0"/>
          </a:p>
        </p:txBody>
      </p:sp>
    </p:spTree>
    <p:extLst>
      <p:ext uri="{BB962C8B-B14F-4D97-AF65-F5344CB8AC3E}">
        <p14:creationId xmlns:p14="http://schemas.microsoft.com/office/powerpoint/2010/main" val="871233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25A23-D9CF-3F49-5E2F-68166517AB51}"/>
            </a:ext>
          </a:extLst>
        </p:cNvPr>
        <p:cNvGrpSpPr/>
        <p:nvPr/>
      </p:nvGrpSpPr>
      <p:grpSpPr>
        <a:xfrm>
          <a:off x="0" y="0"/>
          <a:ext cx="0" cy="0"/>
          <a:chOff x="0" y="0"/>
          <a:chExt cx="0" cy="0"/>
        </a:xfrm>
      </p:grpSpPr>
      <p:sp>
        <p:nvSpPr>
          <p:cNvPr id="476" name="Rectangle">
            <a:extLst>
              <a:ext uri="{FF2B5EF4-FFF2-40B4-BE49-F238E27FC236}">
                <a16:creationId xmlns:a16="http://schemas.microsoft.com/office/drawing/2014/main" id="{2101B426-6FA3-794E-F797-A00DA6A618F9}"/>
              </a:ext>
            </a:extLst>
          </p:cNvPr>
          <p:cNvSpPr/>
          <p:nvPr/>
        </p:nvSpPr>
        <p:spPr>
          <a:xfrm>
            <a:off x="0" y="-7790"/>
            <a:ext cx="12194893" cy="6865790"/>
          </a:xfrm>
          <a:prstGeom prst="rect">
            <a:avLst/>
          </a:prstGeom>
          <a:solidFill>
            <a:srgbClr val="212934"/>
          </a:solidFill>
          <a:ln w="12600">
            <a:solidFill>
              <a:srgbClr val="1C2F52"/>
            </a:solidFill>
            <a:miter/>
          </a:ln>
          <a:effectLst>
            <a:outerShdw blurRad="63500" rotWithShape="0">
              <a:srgbClr val="000000">
                <a:alpha val="54"/>
              </a:srgbClr>
            </a:outerShdw>
          </a:effectLst>
        </p:spPr>
        <p:txBody>
          <a:bodyPr lIns="46992" rIns="46992" anchor="ctr"/>
          <a:lstStyle/>
          <a:p>
            <a:pPr>
              <a:lnSpc>
                <a:spcPct val="93000"/>
              </a:lnSpc>
              <a:defRPr>
                <a:latin typeface="Arial"/>
                <a:ea typeface="Arial"/>
                <a:cs typeface="Arial"/>
                <a:sym typeface="Arial"/>
              </a:defRPr>
            </a:pPr>
            <a:endParaRPr lang="es-CO" sz="1850"/>
          </a:p>
        </p:txBody>
      </p:sp>
      <p:sp>
        <p:nvSpPr>
          <p:cNvPr id="477" name="SOLUCIONES DE TRANSFORMACIÓN DIGITAL">
            <a:extLst>
              <a:ext uri="{FF2B5EF4-FFF2-40B4-BE49-F238E27FC236}">
                <a16:creationId xmlns:a16="http://schemas.microsoft.com/office/drawing/2014/main" id="{31EF486E-3E52-AF15-5CA6-C791CB8A8BAA}"/>
              </a:ext>
            </a:extLst>
          </p:cNvPr>
          <p:cNvSpPr txBox="1"/>
          <p:nvPr/>
        </p:nvSpPr>
        <p:spPr>
          <a:xfrm>
            <a:off x="54411" y="176972"/>
            <a:ext cx="5261076" cy="33527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DBDBDB"/>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pic>
        <p:nvPicPr>
          <p:cNvPr id="478" name="image22.png" descr="image22.png">
            <a:extLst>
              <a:ext uri="{FF2B5EF4-FFF2-40B4-BE49-F238E27FC236}">
                <a16:creationId xmlns:a16="http://schemas.microsoft.com/office/drawing/2014/main" id="{1EC140A6-CCEE-445B-58F7-162FCDEB756E}"/>
              </a:ext>
            </a:extLst>
          </p:cNvPr>
          <p:cNvPicPr>
            <a:picLocks noChangeAspect="1"/>
          </p:cNvPicPr>
          <p:nvPr/>
        </p:nvPicPr>
        <p:blipFill>
          <a:blip r:embed="rId2"/>
          <a:stretch>
            <a:fillRect/>
          </a:stretch>
        </p:blipFill>
        <p:spPr>
          <a:xfrm>
            <a:off x="-96270" y="552328"/>
            <a:ext cx="12338853" cy="70163"/>
          </a:xfrm>
          <a:prstGeom prst="rect">
            <a:avLst/>
          </a:prstGeom>
          <a:ln w="12700">
            <a:miter lim="400000"/>
          </a:ln>
        </p:spPr>
      </p:pic>
      <p:sp>
        <p:nvSpPr>
          <p:cNvPr id="5" name="TEXO EN MAYUSCULA">
            <a:extLst>
              <a:ext uri="{FF2B5EF4-FFF2-40B4-BE49-F238E27FC236}">
                <a16:creationId xmlns:a16="http://schemas.microsoft.com/office/drawing/2014/main" id="{E9BFC136-3E4B-079B-857A-DEBB1332999A}"/>
              </a:ext>
            </a:extLst>
          </p:cNvPr>
          <p:cNvSpPr txBox="1"/>
          <p:nvPr/>
        </p:nvSpPr>
        <p:spPr>
          <a:xfrm>
            <a:off x="321103" y="1182609"/>
            <a:ext cx="5356278" cy="57721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4BA8BF"/>
                </a:solidFill>
                <a:latin typeface="+mj-lt"/>
                <a:ea typeface="+mj-ea"/>
                <a:cs typeface="+mj-cs"/>
                <a:sym typeface="Helvetica"/>
              </a:defRPr>
            </a:lvl1pPr>
          </a:lstStyle>
          <a:p>
            <a:r>
              <a:rPr lang="es-ES" sz="3289"/>
              <a:t>Condiciones del Servicio</a:t>
            </a:r>
          </a:p>
        </p:txBody>
      </p:sp>
      <p:pic>
        <p:nvPicPr>
          <p:cNvPr id="2" name="Imagen 1" descr="Texto&#10;&#10;Descripción generada automáticamente">
            <a:extLst>
              <a:ext uri="{FF2B5EF4-FFF2-40B4-BE49-F238E27FC236}">
                <a16:creationId xmlns:a16="http://schemas.microsoft.com/office/drawing/2014/main" id="{37E85A0F-074F-60FE-4DBB-8149BCDE64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15368" y="-36539"/>
            <a:ext cx="1993333" cy="540000"/>
          </a:xfrm>
          <a:prstGeom prst="rect">
            <a:avLst/>
          </a:prstGeom>
        </p:spPr>
      </p:pic>
      <p:sp>
        <p:nvSpPr>
          <p:cNvPr id="3" name="Lorem ipsum dolor sit amet, consectetur adipiscing elit, sed do eiusmod tempor incididunt ut labore et dolore magna aliqua. Ut enim ad minim veniam, quis nostrud exercitation ullamco laboris nisi ut aliquip ex ea commodo consequat. Duis aute irure dolor ">
            <a:extLst>
              <a:ext uri="{FF2B5EF4-FFF2-40B4-BE49-F238E27FC236}">
                <a16:creationId xmlns:a16="http://schemas.microsoft.com/office/drawing/2014/main" id="{8160A746-65FA-E650-50DE-5B795A1BB081}"/>
              </a:ext>
            </a:extLst>
          </p:cNvPr>
          <p:cNvSpPr txBox="1"/>
          <p:nvPr/>
        </p:nvSpPr>
        <p:spPr>
          <a:xfrm>
            <a:off x="546721" y="1745276"/>
            <a:ext cx="10614615" cy="4355985"/>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 pos="3200400" algn="l"/>
                <a:tab pos="3657600" algn="l"/>
                <a:tab pos="4114800" algn="l"/>
                <a:tab pos="4572000" algn="l"/>
              </a:tabLst>
              <a:defRPr>
                <a:solidFill>
                  <a:srgbClr val="FFFFFF"/>
                </a:solidFill>
                <a:latin typeface="Arial"/>
                <a:ea typeface="Arial"/>
                <a:cs typeface="Arial"/>
                <a:sym typeface="Arial"/>
              </a:defRPr>
            </a:lvl1pPr>
          </a:lstStyle>
          <a:p>
            <a:pPr marL="293694" indent="-293694">
              <a:buFont typeface="Wingdings" panose="05000000000000000000" pitchFamily="2" charset="2"/>
              <a:buChar char="§"/>
            </a:pPr>
            <a:r>
              <a:rPr lang="es-ES" sz="1600" b="1" dirty="0">
                <a:solidFill>
                  <a:schemeClr val="bg1"/>
                </a:solidFill>
                <a:latin typeface="Montserrat" pitchFamily="2" charset="0"/>
              </a:rPr>
              <a:t>Horario de Servicio</a:t>
            </a:r>
          </a:p>
          <a:p>
            <a:r>
              <a:rPr lang="es-MX" sz="1600" dirty="0">
                <a:solidFill>
                  <a:schemeClr val="bg1"/>
                </a:solidFill>
                <a:latin typeface="Montserrat" pitchFamily="2" charset="0"/>
              </a:rPr>
              <a:t>Lunes a Viernes </a:t>
            </a:r>
            <a:r>
              <a:rPr lang="es-MX" sz="1600" b="1" dirty="0">
                <a:solidFill>
                  <a:schemeClr val="bg1"/>
                </a:solidFill>
                <a:latin typeface="Montserrat" pitchFamily="2" charset="0"/>
              </a:rPr>
              <a:t>5x8</a:t>
            </a:r>
            <a:r>
              <a:rPr lang="es-MX" sz="1600" dirty="0">
                <a:solidFill>
                  <a:schemeClr val="bg1"/>
                </a:solidFill>
                <a:latin typeface="Montserrat" pitchFamily="2" charset="0"/>
              </a:rPr>
              <a:t>. El perfil debe contar con disponibilidad fuera de horario para atender eventualidades, contingencias o ventanas de mantenimiento cuando se requiera</a:t>
            </a:r>
            <a:r>
              <a:rPr lang="es-ES" sz="1600" dirty="0">
                <a:solidFill>
                  <a:schemeClr val="bg1"/>
                </a:solidFill>
                <a:latin typeface="Montserrat" pitchFamily="2" charset="0"/>
              </a:rPr>
              <a:t>.</a:t>
            </a:r>
          </a:p>
          <a:p>
            <a:endParaRPr lang="es-ES" sz="1600" dirty="0">
              <a:solidFill>
                <a:schemeClr val="bg1"/>
              </a:solidFill>
              <a:latin typeface="Montserrat" pitchFamily="2" charset="0"/>
            </a:endParaRPr>
          </a:p>
          <a:p>
            <a:r>
              <a:rPr lang="es-ES" sz="1600" b="1" dirty="0">
                <a:solidFill>
                  <a:schemeClr val="bg1"/>
                </a:solidFill>
                <a:latin typeface="Montserrat" pitchFamily="2" charset="0"/>
              </a:rPr>
              <a:t>Modalidad de servicio </a:t>
            </a:r>
            <a:r>
              <a:rPr lang="es-ES" sz="1600" dirty="0">
                <a:solidFill>
                  <a:schemeClr val="bg1"/>
                </a:solidFill>
                <a:latin typeface="Montserrat" pitchFamily="2" charset="0"/>
              </a:rPr>
              <a:t>: Presencial en Bogotá.</a:t>
            </a:r>
          </a:p>
          <a:p>
            <a:endParaRPr lang="es-ES" sz="1600" dirty="0">
              <a:solidFill>
                <a:schemeClr val="bg1"/>
              </a:solidFill>
              <a:latin typeface="Montserrat" pitchFamily="2" charset="0"/>
            </a:endParaRPr>
          </a:p>
          <a:p>
            <a:r>
              <a:rPr lang="es-MX" sz="1600" b="1" dirty="0">
                <a:latin typeface="Montserrat" pitchFamily="2" charset="0"/>
              </a:rPr>
              <a:t>Inducción y herramientas:</a:t>
            </a:r>
            <a:r>
              <a:rPr lang="es-MX" sz="1600" dirty="0">
                <a:latin typeface="Montserrat" pitchFamily="2" charset="0"/>
              </a:rPr>
              <a:t> El cliente realizará la </a:t>
            </a:r>
            <a:r>
              <a:rPr lang="es-MX" sz="1600" b="1" dirty="0">
                <a:latin typeface="Montserrat" pitchFamily="2" charset="0"/>
              </a:rPr>
              <a:t>inducción/capacitación</a:t>
            </a:r>
            <a:r>
              <a:rPr lang="es-MX" sz="1600" dirty="0">
                <a:latin typeface="Montserrat" pitchFamily="2" charset="0"/>
              </a:rPr>
              <a:t> sobre procesos, metodología y herramientas que el perfil deba operar; y gestionará los </a:t>
            </a:r>
            <a:r>
              <a:rPr lang="es-MX" sz="1600" b="1" dirty="0">
                <a:latin typeface="Montserrat" pitchFamily="2" charset="0"/>
              </a:rPr>
              <a:t>accesos</a:t>
            </a:r>
            <a:r>
              <a:rPr lang="es-MX" sz="1600" dirty="0">
                <a:latin typeface="Montserrat" pitchFamily="2" charset="0"/>
              </a:rPr>
              <a:t> (credenciales, VPN, permisos, etc.) requeridos.</a:t>
            </a:r>
            <a:endParaRPr lang="es-ES" sz="1600" b="1" dirty="0">
              <a:solidFill>
                <a:schemeClr val="bg1"/>
              </a:solidFill>
              <a:latin typeface="Montserrat" pitchFamily="2" charset="0"/>
            </a:endParaRPr>
          </a:p>
          <a:p>
            <a:endParaRPr lang="es-ES" sz="1600" b="1" dirty="0">
              <a:solidFill>
                <a:schemeClr val="bg1"/>
              </a:solidFill>
              <a:latin typeface="Montserrat" pitchFamily="2" charset="0"/>
            </a:endParaRPr>
          </a:p>
          <a:p>
            <a:r>
              <a:rPr lang="es-MX" sz="1600" b="1" dirty="0">
                <a:latin typeface="Montserrat" pitchFamily="2" charset="0"/>
              </a:rPr>
              <a:t>Dotación:</a:t>
            </a:r>
            <a:r>
              <a:rPr lang="es-MX" sz="1600" dirty="0">
                <a:latin typeface="Montserrat" pitchFamily="2" charset="0"/>
              </a:rPr>
              <a:t> Claro-HITSS suministrará el </a:t>
            </a:r>
            <a:r>
              <a:rPr lang="es-MX" sz="1600" b="1" dirty="0">
                <a:latin typeface="Montserrat" pitchFamily="2" charset="0"/>
              </a:rPr>
              <a:t>equipo de cómputo</a:t>
            </a:r>
            <a:r>
              <a:rPr lang="es-MX" sz="1600" dirty="0">
                <a:latin typeface="Montserrat" pitchFamily="2" charset="0"/>
              </a:rPr>
              <a:t> para la prestación del servicio, adicionalmente se incluye el suministro de </a:t>
            </a:r>
            <a:r>
              <a:rPr lang="es-MX" sz="1600" b="1" dirty="0">
                <a:latin typeface="Montserrat" pitchFamily="2" charset="0"/>
              </a:rPr>
              <a:t>pantalla adicional</a:t>
            </a:r>
            <a:r>
              <a:rPr lang="es-MX" sz="1600" dirty="0">
                <a:latin typeface="Montserrat" pitchFamily="2" charset="0"/>
              </a:rPr>
              <a:t> para la operación.</a:t>
            </a:r>
            <a:endParaRPr lang="es-ES" sz="1600" b="1" dirty="0">
              <a:solidFill>
                <a:schemeClr val="bg1"/>
              </a:solidFill>
              <a:latin typeface="Montserrat" pitchFamily="2" charset="0"/>
            </a:endParaRPr>
          </a:p>
          <a:p>
            <a:endParaRPr lang="es-ES" sz="1600" b="1" dirty="0">
              <a:solidFill>
                <a:schemeClr val="bg1"/>
              </a:solidFill>
              <a:latin typeface="Montserrat" pitchFamily="2" charset="0"/>
            </a:endParaRPr>
          </a:p>
          <a:p>
            <a:r>
              <a:rPr lang="es-MX" sz="1600" b="1" dirty="0">
                <a:latin typeface="Montserrat" pitchFamily="2" charset="0"/>
              </a:rPr>
              <a:t>Comunicaciones:</a:t>
            </a:r>
            <a:r>
              <a:rPr lang="es-MX" sz="1600" dirty="0">
                <a:latin typeface="Montserrat" pitchFamily="2" charset="0"/>
              </a:rPr>
              <a:t> Se requiere disponibilidad para contacto operativo; se contempla </a:t>
            </a:r>
            <a:r>
              <a:rPr lang="es-MX" sz="1600" b="1" dirty="0">
                <a:latin typeface="Montserrat" pitchFamily="2" charset="0"/>
              </a:rPr>
              <a:t>bono para celular</a:t>
            </a:r>
            <a:r>
              <a:rPr lang="es-MX" sz="1600" dirty="0">
                <a:latin typeface="Montserrat" pitchFamily="2" charset="0"/>
              </a:rPr>
              <a:t> según las políticas del servicio.</a:t>
            </a:r>
          </a:p>
          <a:p>
            <a:endParaRPr lang="es-MX" sz="1600" b="1" dirty="0">
              <a:solidFill>
                <a:schemeClr val="bg1"/>
              </a:solidFill>
              <a:latin typeface="Montserrat" pitchFamily="2" charset="0"/>
            </a:endParaRPr>
          </a:p>
          <a:p>
            <a:r>
              <a:rPr lang="es-MX" sz="1600" b="1" dirty="0">
                <a:latin typeface="Montserrat" pitchFamily="2" charset="0"/>
              </a:rPr>
              <a:t>Reportes y control:</a:t>
            </a:r>
            <a:r>
              <a:rPr lang="es-MX" sz="1600" dirty="0">
                <a:latin typeface="Montserrat" pitchFamily="2" charset="0"/>
              </a:rPr>
              <a:t> El servicio contempla reporte de actividades, seguimiento de casos e indicadores (incidentes, SLA, tendencias) en las herramientas definidas por el cliente.</a:t>
            </a:r>
            <a:endParaRPr lang="es-ES" sz="1600" b="1" dirty="0">
              <a:solidFill>
                <a:schemeClr val="bg1"/>
              </a:solidFill>
              <a:latin typeface="Montserrat" pitchFamily="2" charset="0"/>
            </a:endParaRPr>
          </a:p>
        </p:txBody>
      </p:sp>
    </p:spTree>
    <p:extLst>
      <p:ext uri="{BB962C8B-B14F-4D97-AF65-F5344CB8AC3E}">
        <p14:creationId xmlns:p14="http://schemas.microsoft.com/office/powerpoint/2010/main" val="10850744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 name="Rectangle"/>
          <p:cNvSpPr/>
          <p:nvPr/>
        </p:nvSpPr>
        <p:spPr>
          <a:xfrm>
            <a:off x="1" y="2447"/>
            <a:ext cx="12194893" cy="6865790"/>
          </a:xfrm>
          <a:prstGeom prst="rect">
            <a:avLst/>
          </a:prstGeom>
          <a:solidFill>
            <a:srgbClr val="212934"/>
          </a:solidFill>
          <a:ln w="12600">
            <a:solidFill>
              <a:srgbClr val="1C2F52"/>
            </a:solidFill>
            <a:miter/>
          </a:ln>
          <a:effectLst>
            <a:outerShdw blurRad="63500" rotWithShape="0">
              <a:srgbClr val="000000">
                <a:alpha val="54"/>
              </a:srgbClr>
            </a:outerShdw>
          </a:effectLst>
        </p:spPr>
        <p:txBody>
          <a:bodyPr lIns="46992" rIns="46992" anchor="ctr"/>
          <a:lstStyle/>
          <a:p>
            <a:pPr>
              <a:lnSpc>
                <a:spcPct val="93000"/>
              </a:lnSpc>
              <a:defRPr>
                <a:latin typeface="Arial"/>
                <a:ea typeface="Arial"/>
                <a:cs typeface="Arial"/>
                <a:sym typeface="Arial"/>
              </a:defRPr>
            </a:pPr>
            <a:endParaRPr lang="es-CO" sz="1850"/>
          </a:p>
        </p:txBody>
      </p:sp>
      <p:sp>
        <p:nvSpPr>
          <p:cNvPr id="477" name="SOLUCIONES DE TRANSFORMACIÓN DIGITAL"/>
          <p:cNvSpPr txBox="1"/>
          <p:nvPr/>
        </p:nvSpPr>
        <p:spPr>
          <a:xfrm>
            <a:off x="54411" y="176972"/>
            <a:ext cx="5261076" cy="3352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DBDBDB"/>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pic>
        <p:nvPicPr>
          <p:cNvPr id="478" name="image22.png" descr="image22.png"/>
          <p:cNvPicPr>
            <a:picLocks noChangeAspect="1"/>
          </p:cNvPicPr>
          <p:nvPr/>
        </p:nvPicPr>
        <p:blipFill>
          <a:blip r:embed="rId2"/>
          <a:stretch>
            <a:fillRect/>
          </a:stretch>
        </p:blipFill>
        <p:spPr>
          <a:xfrm>
            <a:off x="-96270" y="552328"/>
            <a:ext cx="12338853" cy="70163"/>
          </a:xfrm>
          <a:prstGeom prst="rect">
            <a:avLst/>
          </a:prstGeom>
          <a:ln w="12700">
            <a:miter lim="400000"/>
          </a:ln>
        </p:spPr>
      </p:pic>
      <p:sp>
        <p:nvSpPr>
          <p:cNvPr id="481" name="TEXO EN MAYUSCULA"/>
          <p:cNvSpPr txBox="1"/>
          <p:nvPr/>
        </p:nvSpPr>
        <p:spPr>
          <a:xfrm>
            <a:off x="731563" y="890321"/>
            <a:ext cx="7607780" cy="577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4BA8BF"/>
                </a:solidFill>
                <a:latin typeface="+mj-lt"/>
                <a:ea typeface="+mj-ea"/>
                <a:cs typeface="+mj-cs"/>
                <a:sym typeface="Helvetica"/>
              </a:defRPr>
            </a:lvl1pPr>
          </a:lstStyle>
          <a:p>
            <a:r>
              <a:rPr lang="es-ES" sz="3289"/>
              <a:t>Supuestos y Consideraciones</a:t>
            </a:r>
            <a:endParaRPr sz="3289"/>
          </a:p>
        </p:txBody>
      </p:sp>
      <p:sp>
        <p:nvSpPr>
          <p:cNvPr id="2" name="Lorem ipsum dolor sit amet, consectetur adipiscing elit, sed do eiusmod tempor incididunt ut labore et dolore magna aliqua. Ut enim ad minim veniam, quis nostrud exercitation ullamco laboris nisi ut aliquip ex ea commodo consequat. Duis aute irure dolor ">
            <a:extLst>
              <a:ext uri="{FF2B5EF4-FFF2-40B4-BE49-F238E27FC236}">
                <a16:creationId xmlns:a16="http://schemas.microsoft.com/office/drawing/2014/main" id="{F6436C8D-714C-FD4E-3D9F-60B5D1038406}"/>
              </a:ext>
            </a:extLst>
          </p:cNvPr>
          <p:cNvSpPr txBox="1"/>
          <p:nvPr/>
        </p:nvSpPr>
        <p:spPr>
          <a:xfrm>
            <a:off x="508886" y="1791743"/>
            <a:ext cx="10859974" cy="39036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 pos="3200400" algn="l"/>
                <a:tab pos="3657600" algn="l"/>
                <a:tab pos="4114800" algn="l"/>
                <a:tab pos="4572000" algn="l"/>
              </a:tabLst>
              <a:defRPr>
                <a:solidFill>
                  <a:srgbClr val="FFFFFF"/>
                </a:solidFill>
                <a:latin typeface="Arial"/>
                <a:ea typeface="Arial"/>
                <a:cs typeface="Arial"/>
                <a:sym typeface="Arial"/>
              </a:defRPr>
            </a:lvl1pPr>
          </a:lstStyle>
          <a:p>
            <a:pPr marL="293694" indent="-293694" algn="just">
              <a:spcAft>
                <a:spcPts val="1200"/>
              </a:spcAft>
              <a:buFont typeface="Arial" panose="020B0604020202020204" pitchFamily="34" charset="0"/>
              <a:buChar char="•"/>
            </a:pPr>
            <a:r>
              <a:rPr lang="es-ES" sz="1600" b="1" dirty="0">
                <a:solidFill>
                  <a:schemeClr val="bg1"/>
                </a:solidFill>
                <a:latin typeface="Century Gothic" panose="020B0502020202020204" pitchFamily="34" charset="0"/>
              </a:rPr>
              <a:t>GRUPO AVAL</a:t>
            </a:r>
            <a:r>
              <a:rPr lang="es-ES" sz="1600" dirty="0">
                <a:solidFill>
                  <a:schemeClr val="bg1"/>
                </a:solidFill>
                <a:latin typeface="Century Gothic" panose="020B0502020202020204" pitchFamily="34" charset="0"/>
              </a:rPr>
              <a:t> gestionará y proporcionará los usuarios y accesos que se requieran para el cumplimiento de las funciones del colaborador. </a:t>
            </a:r>
          </a:p>
          <a:p>
            <a:pPr marL="293694" indent="-293694" algn="just">
              <a:spcAft>
                <a:spcPts val="1200"/>
              </a:spcAft>
              <a:buFont typeface="Arial" panose="020B0604020202020204" pitchFamily="34" charset="0"/>
              <a:buChar char="•"/>
            </a:pPr>
            <a:r>
              <a:rPr lang="es-ES" sz="1600" dirty="0">
                <a:solidFill>
                  <a:schemeClr val="bg1"/>
                </a:solidFill>
                <a:latin typeface="Century Gothic" panose="020B0502020202020204" pitchFamily="34" charset="0"/>
              </a:rPr>
              <a:t>Se realizará seguimiento y acompañamiento entre </a:t>
            </a:r>
            <a:r>
              <a:rPr lang="es-ES" sz="1600" b="1" dirty="0">
                <a:solidFill>
                  <a:schemeClr val="bg1"/>
                </a:solidFill>
                <a:latin typeface="Century Gothic" panose="020B0502020202020204" pitchFamily="34" charset="0"/>
              </a:rPr>
              <a:t>GRUPO AVAL</a:t>
            </a:r>
            <a:r>
              <a:rPr lang="es-ES" sz="1600" dirty="0">
                <a:solidFill>
                  <a:schemeClr val="bg1"/>
                </a:solidFill>
                <a:latin typeface="Century Gothic" panose="020B0502020202020204" pitchFamily="34" charset="0"/>
              </a:rPr>
              <a:t> y </a:t>
            </a:r>
            <a:r>
              <a:rPr lang="es-ES" sz="1600" b="1" dirty="0">
                <a:solidFill>
                  <a:schemeClr val="bg1"/>
                </a:solidFill>
                <a:latin typeface="Century Gothic" panose="020B0502020202020204" pitchFamily="34" charset="0"/>
              </a:rPr>
              <a:t>Hitss</a:t>
            </a:r>
            <a:r>
              <a:rPr lang="es-ES" sz="1600" dirty="0">
                <a:solidFill>
                  <a:schemeClr val="bg1"/>
                </a:solidFill>
                <a:latin typeface="Century Gothic" panose="020B0502020202020204" pitchFamily="34" charset="0"/>
              </a:rPr>
              <a:t> al perfil asignado. </a:t>
            </a:r>
          </a:p>
          <a:p>
            <a:pPr marL="293694" indent="-293694" algn="just">
              <a:spcAft>
                <a:spcPts val="1200"/>
              </a:spcAft>
              <a:buFont typeface="Arial" panose="020B0604020202020204" pitchFamily="34" charset="0"/>
              <a:buChar char="•"/>
            </a:pPr>
            <a:r>
              <a:rPr lang="es-ES" sz="1600" dirty="0">
                <a:solidFill>
                  <a:schemeClr val="bg1"/>
                </a:solidFill>
                <a:latin typeface="Century Gothic" panose="020B0502020202020204" pitchFamily="34" charset="0"/>
              </a:rPr>
              <a:t>Para la presente propuesta no aplican entregables, ni </a:t>
            </a:r>
            <a:r>
              <a:rPr lang="es-ES" sz="1600" dirty="0" err="1">
                <a:solidFill>
                  <a:schemeClr val="bg1"/>
                </a:solidFill>
                <a:latin typeface="Century Gothic" panose="020B0502020202020204" pitchFamily="34" charset="0"/>
              </a:rPr>
              <a:t>SLAs</a:t>
            </a:r>
            <a:r>
              <a:rPr lang="es-ES" sz="1600" dirty="0">
                <a:solidFill>
                  <a:schemeClr val="bg1"/>
                </a:solidFill>
                <a:latin typeface="Century Gothic" panose="020B0502020202020204" pitchFamily="34" charset="0"/>
              </a:rPr>
              <a:t>, estos serán definidos por el equipo de proyecto del cliente y estarán acotados según el tiempo de asignación del colaborador. </a:t>
            </a:r>
          </a:p>
          <a:p>
            <a:pPr marL="293694" indent="-293694" algn="just">
              <a:spcAft>
                <a:spcPts val="1200"/>
              </a:spcAft>
              <a:buFont typeface="Arial" panose="020B0604020202020204" pitchFamily="34" charset="0"/>
              <a:buChar char="•"/>
            </a:pPr>
            <a:r>
              <a:rPr lang="es-ES" sz="1600" dirty="0">
                <a:solidFill>
                  <a:schemeClr val="bg1"/>
                </a:solidFill>
                <a:latin typeface="Century Gothic" panose="020B0502020202020204" pitchFamily="34" charset="0"/>
              </a:rPr>
              <a:t>La asignación de actividades y coordinación de tareas asignadas al colaborador se realizarán directamente por </a:t>
            </a:r>
            <a:r>
              <a:rPr lang="es-ES" sz="1600" b="1" dirty="0">
                <a:solidFill>
                  <a:schemeClr val="bg1"/>
                </a:solidFill>
                <a:latin typeface="Century Gothic" panose="020B0502020202020204" pitchFamily="34" charset="0"/>
              </a:rPr>
              <a:t>GRUPO AVAL</a:t>
            </a:r>
            <a:r>
              <a:rPr lang="es-ES" sz="1600" dirty="0">
                <a:solidFill>
                  <a:schemeClr val="bg1"/>
                </a:solidFill>
                <a:latin typeface="Century Gothic" panose="020B0502020202020204" pitchFamily="34" charset="0"/>
              </a:rPr>
              <a:t>. </a:t>
            </a:r>
          </a:p>
          <a:p>
            <a:pPr marL="293694" indent="-293694" algn="just">
              <a:spcAft>
                <a:spcPts val="1200"/>
              </a:spcAft>
              <a:buFont typeface="Arial" panose="020B0604020202020204" pitchFamily="34" charset="0"/>
              <a:buChar char="•"/>
            </a:pPr>
            <a:r>
              <a:rPr lang="es-ES" sz="1600" b="1" dirty="0">
                <a:solidFill>
                  <a:schemeClr val="bg1"/>
                </a:solidFill>
                <a:latin typeface="Century Gothic" panose="020B0502020202020204" pitchFamily="34" charset="0"/>
              </a:rPr>
              <a:t>CLARO-HITSS</a:t>
            </a:r>
            <a:r>
              <a:rPr lang="es-ES" sz="1600" dirty="0">
                <a:solidFill>
                  <a:schemeClr val="bg1"/>
                </a:solidFill>
                <a:latin typeface="Century Gothic" panose="020B0502020202020204" pitchFamily="34" charset="0"/>
              </a:rPr>
              <a:t> será responsable por toda la gestión laboral incorporada en el servicio, dejando indemne </a:t>
            </a:r>
            <a:r>
              <a:rPr lang="es-ES" sz="1600" b="1" dirty="0">
                <a:solidFill>
                  <a:schemeClr val="bg1"/>
                </a:solidFill>
                <a:latin typeface="Century Gothic" panose="020B0502020202020204" pitchFamily="34" charset="0"/>
              </a:rPr>
              <a:t>a GRUPO AVAL</a:t>
            </a:r>
            <a:r>
              <a:rPr lang="es-ES" sz="1600" dirty="0">
                <a:solidFill>
                  <a:schemeClr val="bg1"/>
                </a:solidFill>
                <a:latin typeface="Century Gothic" panose="020B0502020202020204" pitchFamily="34" charset="0"/>
              </a:rPr>
              <a:t> en caso de cualquier reclamación o costo generado en dicha relación entre el empleado y </a:t>
            </a:r>
            <a:r>
              <a:rPr lang="es-ES" sz="1600" b="1" dirty="0">
                <a:solidFill>
                  <a:schemeClr val="bg1"/>
                </a:solidFill>
                <a:latin typeface="Century Gothic" panose="020B0502020202020204" pitchFamily="34" charset="0"/>
              </a:rPr>
              <a:t>CLARO-HITSS</a:t>
            </a:r>
            <a:r>
              <a:rPr lang="es-ES" sz="1600" dirty="0">
                <a:solidFill>
                  <a:schemeClr val="bg1"/>
                </a:solidFill>
                <a:latin typeface="Century Gothic" panose="020B0502020202020204" pitchFamily="34" charset="0"/>
              </a:rPr>
              <a:t>. </a:t>
            </a:r>
          </a:p>
          <a:p>
            <a:pPr marL="293694" indent="-293694" algn="just">
              <a:spcAft>
                <a:spcPts val="1200"/>
              </a:spcAft>
              <a:buFont typeface="Arial" panose="020B0604020202020204" pitchFamily="34" charset="0"/>
              <a:buChar char="•"/>
            </a:pPr>
            <a:r>
              <a:rPr lang="es-ES" sz="1600" dirty="0">
                <a:solidFill>
                  <a:schemeClr val="bg1"/>
                </a:solidFill>
                <a:latin typeface="Century Gothic" panose="020B0502020202020204" pitchFamily="34" charset="0"/>
              </a:rPr>
              <a:t>En caso de ausencias por incapacidad o vacaciones mayores a 5 días, </a:t>
            </a:r>
            <a:r>
              <a:rPr lang="es-ES" sz="1600" b="1" dirty="0">
                <a:solidFill>
                  <a:schemeClr val="bg1"/>
                </a:solidFill>
                <a:latin typeface="Century Gothic" panose="020B0502020202020204" pitchFamily="34" charset="0"/>
              </a:rPr>
              <a:t>CLARO-HITSS</a:t>
            </a:r>
            <a:r>
              <a:rPr lang="es-ES" sz="1600" dirty="0">
                <a:solidFill>
                  <a:schemeClr val="bg1"/>
                </a:solidFill>
                <a:latin typeface="Century Gothic" panose="020B0502020202020204" pitchFamily="34" charset="0"/>
              </a:rPr>
              <a:t> suministrará un perfil de reemplazo remoto o presencial, según disponibilidad. Si no se logra asignar el reemplazo, </a:t>
            </a:r>
            <a:r>
              <a:rPr lang="es-ES" sz="1600" b="1" dirty="0">
                <a:solidFill>
                  <a:schemeClr val="bg1"/>
                </a:solidFill>
                <a:latin typeface="Century Gothic" panose="020B0502020202020204" pitchFamily="34" charset="0"/>
              </a:rPr>
              <a:t>CLARO-HITSS</a:t>
            </a:r>
            <a:r>
              <a:rPr lang="es-ES" sz="1600" dirty="0">
                <a:solidFill>
                  <a:schemeClr val="bg1"/>
                </a:solidFill>
                <a:latin typeface="Century Gothic" panose="020B0502020202020204" pitchFamily="34" charset="0"/>
              </a:rPr>
              <a:t> lo descontará de la factura al cliente.</a:t>
            </a:r>
          </a:p>
        </p:txBody>
      </p:sp>
      <p:pic>
        <p:nvPicPr>
          <p:cNvPr id="3" name="Imagen 2" descr="Texto&#10;&#10;Descripción generada automáticamente">
            <a:extLst>
              <a:ext uri="{FF2B5EF4-FFF2-40B4-BE49-F238E27FC236}">
                <a16:creationId xmlns:a16="http://schemas.microsoft.com/office/drawing/2014/main" id="{62A1B5BA-1626-A4CD-6B42-40FDD3E61C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88209" y="-36539"/>
            <a:ext cx="1993333" cy="540000"/>
          </a:xfrm>
          <a:prstGeom prst="rect">
            <a:avLst/>
          </a:prstGeom>
        </p:spPr>
      </p:pic>
    </p:spTree>
    <p:extLst>
      <p:ext uri="{BB962C8B-B14F-4D97-AF65-F5344CB8AC3E}">
        <p14:creationId xmlns:p14="http://schemas.microsoft.com/office/powerpoint/2010/main" val="1985589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9" name="image5.png" descr="image5.png"/>
          <p:cNvPicPr>
            <a:picLocks noChangeAspect="1"/>
          </p:cNvPicPr>
          <p:nvPr/>
        </p:nvPicPr>
        <p:blipFill>
          <a:blip r:embed="rId3"/>
          <a:stretch>
            <a:fillRect/>
          </a:stretch>
        </p:blipFill>
        <p:spPr>
          <a:xfrm>
            <a:off x="1" y="550696"/>
            <a:ext cx="12203422" cy="75058"/>
          </a:xfrm>
          <a:prstGeom prst="rect">
            <a:avLst/>
          </a:prstGeom>
          <a:ln w="12700">
            <a:miter lim="400000"/>
          </a:ln>
        </p:spPr>
      </p:pic>
      <p:sp>
        <p:nvSpPr>
          <p:cNvPr id="470" name="SOLUCIONES DE TRANSFORMACIÓN DIGITAL"/>
          <p:cNvSpPr txBox="1"/>
          <p:nvPr/>
        </p:nvSpPr>
        <p:spPr>
          <a:xfrm>
            <a:off x="46252" y="175341"/>
            <a:ext cx="5261076" cy="33527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3A3838"/>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sp>
        <p:nvSpPr>
          <p:cNvPr id="5" name="CuadroTexto 4">
            <a:extLst>
              <a:ext uri="{FF2B5EF4-FFF2-40B4-BE49-F238E27FC236}">
                <a16:creationId xmlns:a16="http://schemas.microsoft.com/office/drawing/2014/main" id="{D62EF3D7-2D8E-37D8-00C6-A3584E9099B1}"/>
              </a:ext>
            </a:extLst>
          </p:cNvPr>
          <p:cNvSpPr txBox="1"/>
          <p:nvPr/>
        </p:nvSpPr>
        <p:spPr>
          <a:xfrm>
            <a:off x="841231" y="3760207"/>
            <a:ext cx="9618709" cy="23374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91440" tIns="45720" rIns="91440" bIns="45720" anchor="t">
            <a:spAutoFit/>
          </a:bodyPr>
          <a:lstStyle/>
          <a:p>
            <a:pPr marL="352425" indent="-352425" algn="just">
              <a:lnSpc>
                <a:spcPct val="115000"/>
              </a:lnSpc>
              <a:buFont typeface="Symbol" panose="05050102010706020507" pitchFamily="18" charset="2"/>
              <a:buChar char=""/>
            </a:pPr>
            <a:r>
              <a:rPr lang="es-ES" sz="1600" dirty="0">
                <a:latin typeface="Montserrat"/>
                <a:ea typeface="MS Mincho"/>
                <a:cs typeface="Arial"/>
              </a:rPr>
              <a:t>Los presente valores estan dados antes de Impuestos (No incluye IVA) los cuales serán calculados al momento de la facturación.</a:t>
            </a:r>
            <a:endParaRPr lang="es-CO" sz="1600" dirty="0">
              <a:latin typeface="Montserrat"/>
              <a:ea typeface="MS Mincho"/>
              <a:cs typeface="Arial"/>
            </a:endParaRPr>
          </a:p>
          <a:p>
            <a:pPr marL="352425" indent="-352425" algn="just">
              <a:lnSpc>
                <a:spcPct val="115000"/>
              </a:lnSpc>
              <a:buFont typeface="Symbol" panose="05050102010706020507" pitchFamily="18" charset="2"/>
              <a:buChar char=""/>
            </a:pPr>
            <a:r>
              <a:rPr lang="es-ES" sz="1600" dirty="0">
                <a:latin typeface="Montserrat"/>
                <a:ea typeface="MS Mincho"/>
                <a:cs typeface="Arial"/>
              </a:rPr>
              <a:t>La factura será pagadera en los siguientes 30 días de haberse radicado.</a:t>
            </a:r>
            <a:endParaRPr lang="es-CO" sz="1600" dirty="0">
              <a:latin typeface="Montserrat"/>
              <a:ea typeface="MS Mincho"/>
              <a:cs typeface="Arial"/>
            </a:endParaRPr>
          </a:p>
          <a:p>
            <a:pPr marL="352425" indent="-352425" algn="just">
              <a:lnSpc>
                <a:spcPct val="115000"/>
              </a:lnSpc>
              <a:buFont typeface="Symbol" panose="05050102010706020507" pitchFamily="18" charset="2"/>
              <a:buChar char=""/>
            </a:pPr>
            <a:r>
              <a:rPr lang="es-ES" sz="1600" dirty="0">
                <a:latin typeface="Montserrat"/>
                <a:ea typeface="MS Mincho"/>
                <a:cs typeface="Arial"/>
              </a:rPr>
              <a:t>Los precios están expresados en pesos colombianos.</a:t>
            </a:r>
          </a:p>
          <a:p>
            <a:pPr marL="352425" indent="-352425" algn="just">
              <a:lnSpc>
                <a:spcPct val="114999"/>
              </a:lnSpc>
              <a:buFont typeface="Symbol" panose="05050102010706020507" pitchFamily="18" charset="2"/>
              <a:buChar char=""/>
            </a:pPr>
            <a:r>
              <a:rPr lang="es-ES" sz="1600" dirty="0">
                <a:latin typeface="Montserrat"/>
                <a:ea typeface="MS Mincho"/>
                <a:cs typeface="Arial"/>
              </a:rPr>
              <a:t>Tarifas 2026.</a:t>
            </a:r>
          </a:p>
          <a:p>
            <a:pPr marL="352425" indent="-352425" algn="just">
              <a:lnSpc>
                <a:spcPct val="115000"/>
              </a:lnSpc>
              <a:buFont typeface="Symbol" panose="05050102010706020507" pitchFamily="18" charset="2"/>
              <a:buChar char=""/>
            </a:pPr>
            <a:r>
              <a:rPr lang="es-ES" sz="1600" dirty="0">
                <a:latin typeface="Montserrat"/>
                <a:ea typeface="MS Mincho"/>
                <a:cs typeface="Arial"/>
              </a:rPr>
              <a:t>Se aplicará incremento de IPC al servicio a partir de la primera factura entregada del año 2027</a:t>
            </a:r>
          </a:p>
          <a:p>
            <a:pPr marL="352425" indent="-352425" algn="just">
              <a:lnSpc>
                <a:spcPct val="115000"/>
              </a:lnSpc>
              <a:buFont typeface="Symbol" panose="05050102010706020507" pitchFamily="18" charset="2"/>
              <a:buChar char=""/>
            </a:pPr>
            <a:r>
              <a:rPr lang="es-ES" sz="1600" dirty="0">
                <a:latin typeface="Montserrat"/>
                <a:ea typeface="MS Mincho"/>
                <a:cs typeface="Arial"/>
              </a:rPr>
              <a:t>Duración del contrato a 3 años.</a:t>
            </a:r>
          </a:p>
        </p:txBody>
      </p:sp>
      <p:sp>
        <p:nvSpPr>
          <p:cNvPr id="34" name="TEXO EN MAYUSCULA">
            <a:extLst>
              <a:ext uri="{FF2B5EF4-FFF2-40B4-BE49-F238E27FC236}">
                <a16:creationId xmlns:a16="http://schemas.microsoft.com/office/drawing/2014/main" id="{0DB5AE14-574C-9EE3-F612-21DB347C8ACC}"/>
              </a:ext>
            </a:extLst>
          </p:cNvPr>
          <p:cNvSpPr txBox="1"/>
          <p:nvPr/>
        </p:nvSpPr>
        <p:spPr>
          <a:xfrm>
            <a:off x="616527" y="752677"/>
            <a:ext cx="6471403" cy="577216"/>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525252"/>
                </a:solidFill>
                <a:latin typeface="+mj-lt"/>
                <a:ea typeface="+mj-ea"/>
                <a:cs typeface="+mj-cs"/>
                <a:sym typeface="Helvetica"/>
              </a:defRPr>
            </a:lvl1pPr>
          </a:lstStyle>
          <a:p>
            <a:r>
              <a:rPr lang="es-ES" sz="3289"/>
              <a:t>Propuesta Económica</a:t>
            </a:r>
          </a:p>
        </p:txBody>
      </p:sp>
      <p:pic>
        <p:nvPicPr>
          <p:cNvPr id="11" name="Imagen 10" descr="Forma&#10;&#10;Descripción generada automáticamente">
            <a:extLst>
              <a:ext uri="{FF2B5EF4-FFF2-40B4-BE49-F238E27FC236}">
                <a16:creationId xmlns:a16="http://schemas.microsoft.com/office/drawing/2014/main" id="{3CB058A2-8D12-B652-EA4D-CE236CF1DE4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11258" y="6760660"/>
            <a:ext cx="1810238" cy="124771"/>
          </a:xfrm>
          <a:prstGeom prst="rect">
            <a:avLst/>
          </a:prstGeom>
        </p:spPr>
      </p:pic>
      <p:pic>
        <p:nvPicPr>
          <p:cNvPr id="12" name="Imagen 11">
            <a:extLst>
              <a:ext uri="{FF2B5EF4-FFF2-40B4-BE49-F238E27FC236}">
                <a16:creationId xmlns:a16="http://schemas.microsoft.com/office/drawing/2014/main" id="{4BEF4C76-BC49-036C-6660-384D2BA9E50D}"/>
              </a:ext>
            </a:extLst>
          </p:cNvPr>
          <p:cNvPicPr>
            <a:picLocks noChangeAspect="1"/>
          </p:cNvPicPr>
          <p:nvPr/>
        </p:nvPicPr>
        <p:blipFill>
          <a:blip r:embed="rId5"/>
          <a:stretch>
            <a:fillRect/>
          </a:stretch>
        </p:blipFill>
        <p:spPr>
          <a:xfrm>
            <a:off x="10121776" y="6253746"/>
            <a:ext cx="2135674" cy="540000"/>
          </a:xfrm>
          <a:prstGeom prst="rect">
            <a:avLst/>
          </a:prstGeom>
        </p:spPr>
      </p:pic>
      <p:graphicFrame>
        <p:nvGraphicFramePr>
          <p:cNvPr id="2" name="Tabla 1">
            <a:extLst>
              <a:ext uri="{FF2B5EF4-FFF2-40B4-BE49-F238E27FC236}">
                <a16:creationId xmlns:a16="http://schemas.microsoft.com/office/drawing/2014/main" id="{EAE83608-0CFB-EC94-3F45-647449B97AF1}"/>
              </a:ext>
            </a:extLst>
          </p:cNvPr>
          <p:cNvGraphicFramePr>
            <a:graphicFrameLocks noGrp="1"/>
          </p:cNvGraphicFramePr>
          <p:nvPr>
            <p:extLst>
              <p:ext uri="{D42A27DB-BD31-4B8C-83A1-F6EECF244321}">
                <p14:modId xmlns:p14="http://schemas.microsoft.com/office/powerpoint/2010/main" val="57206794"/>
              </p:ext>
            </p:extLst>
          </p:nvPr>
        </p:nvGraphicFramePr>
        <p:xfrm>
          <a:off x="292101" y="1803370"/>
          <a:ext cx="11137901" cy="1828800"/>
        </p:xfrm>
        <a:graphic>
          <a:graphicData uri="http://schemas.openxmlformats.org/drawingml/2006/table">
            <a:tbl>
              <a:tblPr firstRow="1" bandRow="1">
                <a:tableStyleId>{5C22544A-7EE6-4342-B048-85BDC9FD1C3A}</a:tableStyleId>
              </a:tblPr>
              <a:tblGrid>
                <a:gridCol w="2697466">
                  <a:extLst>
                    <a:ext uri="{9D8B030D-6E8A-4147-A177-3AD203B41FA5}">
                      <a16:colId xmlns:a16="http://schemas.microsoft.com/office/drawing/2014/main" val="1128388333"/>
                    </a:ext>
                  </a:extLst>
                </a:gridCol>
                <a:gridCol w="1569723">
                  <a:extLst>
                    <a:ext uri="{9D8B030D-6E8A-4147-A177-3AD203B41FA5}">
                      <a16:colId xmlns:a16="http://schemas.microsoft.com/office/drawing/2014/main" val="94633549"/>
                    </a:ext>
                  </a:extLst>
                </a:gridCol>
                <a:gridCol w="1301761">
                  <a:extLst>
                    <a:ext uri="{9D8B030D-6E8A-4147-A177-3AD203B41FA5}">
                      <a16:colId xmlns:a16="http://schemas.microsoft.com/office/drawing/2014/main" val="1433053763"/>
                    </a:ext>
                  </a:extLst>
                </a:gridCol>
                <a:gridCol w="1856317">
                  <a:extLst>
                    <a:ext uri="{9D8B030D-6E8A-4147-A177-3AD203B41FA5}">
                      <a16:colId xmlns:a16="http://schemas.microsoft.com/office/drawing/2014/main" val="2178044973"/>
                    </a:ext>
                  </a:extLst>
                </a:gridCol>
                <a:gridCol w="1856317">
                  <a:extLst>
                    <a:ext uri="{9D8B030D-6E8A-4147-A177-3AD203B41FA5}">
                      <a16:colId xmlns:a16="http://schemas.microsoft.com/office/drawing/2014/main" val="3609923047"/>
                    </a:ext>
                  </a:extLst>
                </a:gridCol>
                <a:gridCol w="1856317">
                  <a:extLst>
                    <a:ext uri="{9D8B030D-6E8A-4147-A177-3AD203B41FA5}">
                      <a16:colId xmlns:a16="http://schemas.microsoft.com/office/drawing/2014/main" val="3176555228"/>
                    </a:ext>
                  </a:extLst>
                </a:gridCol>
              </a:tblGrid>
              <a:tr h="370840">
                <a:tc>
                  <a:txBody>
                    <a:bodyPr/>
                    <a:lstStyle/>
                    <a:p>
                      <a:pPr algn="ctr"/>
                      <a:r>
                        <a:rPr lang="es-MX" dirty="0"/>
                        <a:t>Perfil</a:t>
                      </a:r>
                      <a:endParaRPr lang="es-CO" dirty="0"/>
                    </a:p>
                  </a:txBody>
                  <a:tcPr anchor="ctr">
                    <a:solidFill>
                      <a:srgbClr val="C00000"/>
                    </a:solidFill>
                  </a:tcPr>
                </a:tc>
                <a:tc>
                  <a:txBody>
                    <a:bodyPr/>
                    <a:lstStyle/>
                    <a:p>
                      <a:pPr algn="ctr"/>
                      <a:r>
                        <a:rPr lang="es-MX" dirty="0"/>
                        <a:t>Cantidad Perfiles</a:t>
                      </a:r>
                      <a:endParaRPr lang="es-CO" dirty="0"/>
                    </a:p>
                  </a:txBody>
                  <a:tcPr anchor="ctr">
                    <a:solidFill>
                      <a:srgbClr val="C00000"/>
                    </a:solidFill>
                  </a:tcPr>
                </a:tc>
                <a:tc>
                  <a:txBody>
                    <a:bodyPr/>
                    <a:lstStyle/>
                    <a:p>
                      <a:pPr algn="ctr"/>
                      <a:r>
                        <a:rPr lang="es-MX" dirty="0"/>
                        <a:t>Duración Contrato</a:t>
                      </a:r>
                      <a:endParaRPr lang="es-CO" dirty="0"/>
                    </a:p>
                  </a:txBody>
                  <a:tcPr anchor="ctr">
                    <a:solidFill>
                      <a:srgbClr val="C00000"/>
                    </a:solidFill>
                  </a:tcPr>
                </a:tc>
                <a:tc>
                  <a:txBody>
                    <a:bodyPr/>
                    <a:lstStyle/>
                    <a:p>
                      <a:pPr algn="ctr"/>
                      <a:r>
                        <a:rPr lang="es-MX" dirty="0"/>
                        <a:t>Valor Unitario Perfil COP</a:t>
                      </a:r>
                      <a:endParaRPr lang="es-CO" dirty="0"/>
                    </a:p>
                  </a:txBody>
                  <a:tcPr anchor="ctr">
                    <a:solidFill>
                      <a:srgbClr val="C00000"/>
                    </a:solidFill>
                  </a:tcPr>
                </a:tc>
                <a:tc>
                  <a:txBody>
                    <a:bodyPr/>
                    <a:lstStyle/>
                    <a:p>
                      <a:pPr algn="ctr"/>
                      <a:r>
                        <a:rPr lang="es-MX" dirty="0"/>
                        <a:t>Valor Total Mensual COP</a:t>
                      </a:r>
                      <a:endParaRPr lang="es-CO" dirty="0"/>
                    </a:p>
                  </a:txBody>
                  <a:tcPr anchor="ctr">
                    <a:solidFill>
                      <a:srgbClr val="C00000"/>
                    </a:solidFill>
                  </a:tcPr>
                </a:tc>
                <a:tc>
                  <a:txBody>
                    <a:bodyPr/>
                    <a:lstStyle/>
                    <a:p>
                      <a:pPr algn="ctr"/>
                      <a:r>
                        <a:rPr lang="es-MX" dirty="0"/>
                        <a:t>Valor  </a:t>
                      </a:r>
                      <a:r>
                        <a:rPr lang="es-MX"/>
                        <a:t>Total 36 </a:t>
                      </a:r>
                      <a:r>
                        <a:rPr lang="es-MX" dirty="0"/>
                        <a:t>meses COP</a:t>
                      </a:r>
                      <a:endParaRPr lang="es-CO" dirty="0"/>
                    </a:p>
                  </a:txBody>
                  <a:tcPr anchor="ctr">
                    <a:solidFill>
                      <a:srgbClr val="C00000"/>
                    </a:solidFill>
                  </a:tcPr>
                </a:tc>
                <a:extLst>
                  <a:ext uri="{0D108BD9-81ED-4DB2-BD59-A6C34878D82A}">
                    <a16:rowId xmlns:a16="http://schemas.microsoft.com/office/drawing/2014/main" val="4051595044"/>
                  </a:ext>
                </a:extLst>
              </a:tr>
              <a:tr h="370840">
                <a:tc>
                  <a:txBody>
                    <a:bodyPr/>
                    <a:lstStyle/>
                    <a:p>
                      <a:r>
                        <a:rPr lang="es-MX" b="1" dirty="0"/>
                        <a:t>Servicio de Personal especializado: </a:t>
                      </a:r>
                      <a:r>
                        <a:rPr lang="es-MX" b="0" dirty="0"/>
                        <a:t>Líder de Mesa de Ayuda Conectividad Estándar</a:t>
                      </a:r>
                      <a:endParaRPr lang="es-CO" b="0" dirty="0"/>
                    </a:p>
                  </a:txBody>
                  <a:tcPr/>
                </a:tc>
                <a:tc>
                  <a:txBody>
                    <a:bodyPr/>
                    <a:lstStyle/>
                    <a:p>
                      <a:pPr algn="ctr"/>
                      <a:r>
                        <a:rPr lang="es-MX" b="1" dirty="0"/>
                        <a:t>2</a:t>
                      </a:r>
                      <a:endParaRPr lang="es-CO" b="1" dirty="0"/>
                    </a:p>
                  </a:txBody>
                  <a:tcPr anchor="ctr"/>
                </a:tc>
                <a:tc>
                  <a:txBody>
                    <a:bodyPr/>
                    <a:lstStyle/>
                    <a:p>
                      <a:pPr algn="ctr"/>
                      <a:r>
                        <a:rPr lang="es-MX" dirty="0"/>
                        <a:t>36 meses</a:t>
                      </a:r>
                      <a:endParaRPr lang="es-CO" dirty="0"/>
                    </a:p>
                  </a:txBody>
                  <a:tcPr anchor="ctr"/>
                </a:tc>
                <a:tc>
                  <a:txBody>
                    <a:bodyPr/>
                    <a:lstStyle/>
                    <a:p>
                      <a:pPr algn="ctr"/>
                      <a:r>
                        <a:rPr lang="es-CO" b="1" dirty="0"/>
                        <a:t> $ 12.277.244</a:t>
                      </a:r>
                    </a:p>
                  </a:txBody>
                  <a:tcPr anchor="ctr"/>
                </a:tc>
                <a:tc>
                  <a:txBody>
                    <a:bodyPr/>
                    <a:lstStyle/>
                    <a:p>
                      <a:pPr algn="ctr"/>
                      <a:r>
                        <a:rPr lang="es-CO" b="1" dirty="0"/>
                        <a:t> $ 24.554.488 </a:t>
                      </a:r>
                    </a:p>
                  </a:txBody>
                  <a:tcPr anchor="ctr"/>
                </a:tc>
                <a:tc>
                  <a:txBody>
                    <a:bodyPr/>
                    <a:lstStyle/>
                    <a:p>
                      <a:pPr algn="ctr"/>
                      <a:r>
                        <a:rPr lang="es-CO" b="1" dirty="0"/>
                        <a:t> $ 883.961.555</a:t>
                      </a:r>
                    </a:p>
                  </a:txBody>
                  <a:tcPr anchor="ctr"/>
                </a:tc>
                <a:extLst>
                  <a:ext uri="{0D108BD9-81ED-4DB2-BD59-A6C34878D82A}">
                    <a16:rowId xmlns:a16="http://schemas.microsoft.com/office/drawing/2014/main" val="3728841416"/>
                  </a:ext>
                </a:extLst>
              </a:tr>
            </a:tbl>
          </a:graphicData>
        </a:graphic>
      </p:graphicFrame>
    </p:spTree>
    <p:extLst>
      <p:ext uri="{BB962C8B-B14F-4D97-AF65-F5344CB8AC3E}">
        <p14:creationId xmlns:p14="http://schemas.microsoft.com/office/powerpoint/2010/main" val="1300835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9" name="image5.png" descr="image5.png"/>
          <p:cNvPicPr>
            <a:picLocks noChangeAspect="1"/>
          </p:cNvPicPr>
          <p:nvPr/>
        </p:nvPicPr>
        <p:blipFill>
          <a:blip r:embed="rId2"/>
          <a:stretch>
            <a:fillRect/>
          </a:stretch>
        </p:blipFill>
        <p:spPr>
          <a:xfrm>
            <a:off x="1" y="550696"/>
            <a:ext cx="12203422" cy="75058"/>
          </a:xfrm>
          <a:prstGeom prst="rect">
            <a:avLst/>
          </a:prstGeom>
          <a:ln w="12700">
            <a:miter lim="400000"/>
          </a:ln>
        </p:spPr>
      </p:pic>
      <p:sp>
        <p:nvSpPr>
          <p:cNvPr id="470" name="SOLUCIONES DE TRANSFORMACIÓN DIGITAL"/>
          <p:cNvSpPr txBox="1"/>
          <p:nvPr/>
        </p:nvSpPr>
        <p:spPr>
          <a:xfrm>
            <a:off x="46252" y="175341"/>
            <a:ext cx="5261076" cy="33527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6252" tIns="46252" rIns="46252" bIns="46252">
            <a:spAutoFit/>
          </a:bodyPr>
          <a:lstStyle/>
          <a:p>
            <a:pPr algn="ctr">
              <a:lnSpc>
                <a:spcPct val="93000"/>
              </a:lnSpc>
              <a:spcBef>
                <a:spcPts val="103"/>
              </a:spcBef>
              <a:tabLst>
                <a:tab pos="469910" algn="l"/>
                <a:tab pos="939820" algn="l"/>
                <a:tab pos="1409730" algn="l"/>
                <a:tab pos="1879641" algn="l"/>
                <a:tab pos="2349551" algn="l"/>
                <a:tab pos="2819461" algn="l"/>
                <a:tab pos="3289371" algn="l"/>
                <a:tab pos="3759281" algn="l"/>
                <a:tab pos="4229191" algn="l"/>
                <a:tab pos="4699102" algn="l"/>
                <a:tab pos="5169012" algn="l"/>
              </a:tabLst>
              <a:defRPr sz="1600">
                <a:solidFill>
                  <a:srgbClr val="3A3838"/>
                </a:solidFill>
                <a:latin typeface="Arial"/>
                <a:ea typeface="Arial"/>
                <a:cs typeface="Arial"/>
                <a:sym typeface="Arial"/>
              </a:defRPr>
            </a:pPr>
            <a:r>
              <a:rPr sz="1644"/>
              <a:t>SOLUCIONES DE TRANSFORMACIÓN </a:t>
            </a:r>
            <a:r>
              <a:rPr sz="1644">
                <a:latin typeface="Arial Black"/>
                <a:ea typeface="Arial Black"/>
                <a:cs typeface="Arial Black"/>
                <a:sym typeface="Arial Black"/>
              </a:rPr>
              <a:t>DIGITAL</a:t>
            </a:r>
          </a:p>
        </p:txBody>
      </p:sp>
      <p:pic>
        <p:nvPicPr>
          <p:cNvPr id="471" name="image17.png" descr="image17.png"/>
          <p:cNvPicPr>
            <a:picLocks noChangeAspect="1"/>
          </p:cNvPicPr>
          <p:nvPr/>
        </p:nvPicPr>
        <p:blipFill>
          <a:blip r:embed="rId3"/>
          <a:stretch>
            <a:fillRect/>
          </a:stretch>
        </p:blipFill>
        <p:spPr>
          <a:xfrm>
            <a:off x="5928187" y="1063465"/>
            <a:ext cx="1241718" cy="151748"/>
          </a:xfrm>
          <a:prstGeom prst="rect">
            <a:avLst/>
          </a:prstGeom>
          <a:ln w="12700">
            <a:miter lim="400000"/>
          </a:ln>
        </p:spPr>
      </p:pic>
      <p:sp>
        <p:nvSpPr>
          <p:cNvPr id="474" name="Lorem ipsum dolor sit amet, consectetur adipiscing elit, sed do eiusmod tempor incididunt ut labore et dolore magna aliqua. Ut enim ad minim veniam, quis nostrud exercitation ullamco laboris nisi ut aliquip ex ea commodo consequat."/>
          <p:cNvSpPr txBox="1"/>
          <p:nvPr/>
        </p:nvSpPr>
        <p:spPr>
          <a:xfrm>
            <a:off x="302042" y="1562800"/>
            <a:ext cx="11502255" cy="47408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 pos="3200400" algn="l"/>
                <a:tab pos="3657600" algn="l"/>
                <a:tab pos="4114800" algn="l"/>
              </a:tabLst>
              <a:defRPr>
                <a:solidFill>
                  <a:srgbClr val="525252"/>
                </a:solidFill>
                <a:latin typeface="Arial"/>
                <a:ea typeface="Arial"/>
                <a:cs typeface="Arial"/>
                <a:sym typeface="Arial"/>
              </a:defRPr>
            </a:lvl1pPr>
          </a:lstStyle>
          <a:p>
            <a:pPr marL="293694" indent="-293694" algn="just">
              <a:lnSpc>
                <a:spcPct val="100000"/>
              </a:lnSpc>
              <a:spcBef>
                <a:spcPts val="1233"/>
              </a:spcBef>
              <a:buFont typeface="Arial" panose="020B0604020202020204" pitchFamily="34" charset="0"/>
              <a:buChar char="•"/>
            </a:pPr>
            <a:r>
              <a:rPr lang="es-ES" b="1" dirty="0">
                <a:solidFill>
                  <a:srgbClr val="000000"/>
                </a:solidFill>
                <a:latin typeface="Century Gothic" panose="020B0502020202020204" pitchFamily="34" charset="0"/>
              </a:rPr>
              <a:t>Inicio del servicio </a:t>
            </a:r>
            <a:r>
              <a:rPr lang="es-ES" dirty="0">
                <a:solidFill>
                  <a:srgbClr val="000000"/>
                </a:solidFill>
                <a:latin typeface="Century Gothic" panose="020B0502020202020204" pitchFamily="34" charset="0"/>
              </a:rPr>
              <a:t>- Por política Corporativa, no se comenzará con las tareas del servicio hasta tener por escrito la aprobación de la oferta técnica, firma del contrato y legalización correspondiente. </a:t>
            </a:r>
          </a:p>
          <a:p>
            <a:pPr marL="293694" indent="-293694" algn="just">
              <a:lnSpc>
                <a:spcPct val="100000"/>
              </a:lnSpc>
              <a:spcBef>
                <a:spcPts val="1233"/>
              </a:spcBef>
              <a:buFont typeface="Arial" panose="020B0604020202020204" pitchFamily="34" charset="0"/>
              <a:buChar char="•"/>
            </a:pPr>
            <a:r>
              <a:rPr lang="es-ES" dirty="0">
                <a:solidFill>
                  <a:srgbClr val="000000"/>
                </a:solidFill>
                <a:latin typeface="Century Gothic" panose="020B0502020202020204" pitchFamily="34" charset="0"/>
              </a:rPr>
              <a:t>Pasados 5 días de la aprobación de la oferta Hitss presentara a </a:t>
            </a:r>
            <a:r>
              <a:rPr lang="es-ES" dirty="0">
                <a:solidFill>
                  <a:schemeClr val="tx2"/>
                </a:solidFill>
                <a:latin typeface="Century Gothic" panose="020B0502020202020204" pitchFamily="34" charset="0"/>
              </a:rPr>
              <a:t>GRUPO AVAL</a:t>
            </a:r>
            <a:r>
              <a:rPr lang="es-ES" i="1" dirty="0">
                <a:solidFill>
                  <a:srgbClr val="FF0000"/>
                </a:solidFill>
                <a:latin typeface="Century Gothic" panose="020B0502020202020204" pitchFamily="34" charset="0"/>
              </a:rPr>
              <a:t> </a:t>
            </a:r>
            <a:r>
              <a:rPr lang="es-ES" dirty="0">
                <a:solidFill>
                  <a:srgbClr val="000000"/>
                </a:solidFill>
                <a:latin typeface="Century Gothic" panose="020B0502020202020204" pitchFamily="34" charset="0"/>
              </a:rPr>
              <a:t>el </a:t>
            </a:r>
            <a:r>
              <a:rPr lang="es-ES" dirty="0" err="1">
                <a:solidFill>
                  <a:srgbClr val="000000"/>
                </a:solidFill>
                <a:latin typeface="Century Gothic" panose="020B0502020202020204" pitchFamily="34" charset="0"/>
              </a:rPr>
              <a:t>curriculum</a:t>
            </a:r>
            <a:r>
              <a:rPr lang="es-ES" dirty="0">
                <a:solidFill>
                  <a:srgbClr val="000000"/>
                </a:solidFill>
                <a:latin typeface="Century Gothic" panose="020B0502020202020204" pitchFamily="34" charset="0"/>
              </a:rPr>
              <a:t> del perfil descrito en la presente, con su aprobación serán contratados, superado nuestro proceso de validación y seguridad, podrán iniciar el servicio.</a:t>
            </a:r>
          </a:p>
          <a:p>
            <a:pPr marL="293694" indent="-293694" algn="just">
              <a:lnSpc>
                <a:spcPct val="100000"/>
              </a:lnSpc>
              <a:spcBef>
                <a:spcPts val="1233"/>
              </a:spcBef>
              <a:buFont typeface="Arial" panose="020B0604020202020204" pitchFamily="34" charset="0"/>
              <a:buChar char="•"/>
            </a:pPr>
            <a:r>
              <a:rPr lang="es-ES" dirty="0">
                <a:solidFill>
                  <a:srgbClr val="000000"/>
                </a:solidFill>
                <a:latin typeface="Century Gothic" panose="020B0502020202020204" pitchFamily="34" charset="0"/>
              </a:rPr>
              <a:t>Ante la eventualidad de una suspensión total de este servicio, </a:t>
            </a:r>
            <a:r>
              <a:rPr lang="es-ES" dirty="0">
                <a:solidFill>
                  <a:schemeClr val="tx2"/>
                </a:solidFill>
                <a:latin typeface="Century Gothic" panose="020B0502020202020204" pitchFamily="34" charset="0"/>
              </a:rPr>
              <a:t>GRUPO AVAL</a:t>
            </a:r>
            <a:r>
              <a:rPr lang="es-ES" dirty="0">
                <a:solidFill>
                  <a:srgbClr val="FF0000"/>
                </a:solidFill>
                <a:latin typeface="Century Gothic" panose="020B0502020202020204" pitchFamily="34" charset="0"/>
              </a:rPr>
              <a:t> </a:t>
            </a:r>
            <a:r>
              <a:rPr lang="es-ES" dirty="0">
                <a:solidFill>
                  <a:srgbClr val="000000"/>
                </a:solidFill>
                <a:latin typeface="Century Gothic" panose="020B0502020202020204" pitchFamily="34" charset="0"/>
              </a:rPr>
              <a:t>se compromete a avisar con 15 días de antelación a HITSS Colombia para que este pueda tomar las medidas pertinentes relacionadas con la disposición del personal asignado a la prestación de este servicio.</a:t>
            </a:r>
          </a:p>
          <a:p>
            <a:pPr marL="293694" indent="-293694" algn="just">
              <a:lnSpc>
                <a:spcPct val="100000"/>
              </a:lnSpc>
              <a:spcBef>
                <a:spcPts val="1233"/>
              </a:spcBef>
              <a:buFont typeface="Arial" panose="020B0604020202020204" pitchFamily="34" charset="0"/>
              <a:buChar char="•"/>
            </a:pPr>
            <a:r>
              <a:rPr lang="es-ES" dirty="0">
                <a:solidFill>
                  <a:srgbClr val="000000"/>
                </a:solidFill>
                <a:latin typeface="Century Gothic" panose="020B0502020202020204" pitchFamily="34" charset="0"/>
              </a:rPr>
              <a:t>Cuando por causas no imputables a HITSS Colombia se cancele o aplace el servicio, se cancelará el valor equivalente a la labor ejecutada con corte a la fecha de cancelación o aplazamiento.</a:t>
            </a:r>
          </a:p>
          <a:p>
            <a:pPr marL="293694" indent="-293694" algn="just">
              <a:lnSpc>
                <a:spcPct val="100000"/>
              </a:lnSpc>
              <a:spcBef>
                <a:spcPts val="1233"/>
              </a:spcBef>
              <a:buFont typeface="Arial" panose="020B0604020202020204" pitchFamily="34" charset="0"/>
              <a:buChar char="•"/>
            </a:pPr>
            <a:r>
              <a:rPr lang="es-ES" dirty="0">
                <a:solidFill>
                  <a:srgbClr val="000000"/>
                </a:solidFill>
                <a:latin typeface="Century Gothic" panose="020B0502020202020204" pitchFamily="34" charset="0"/>
              </a:rPr>
              <a:t>Confidencialidad - Ambas partes se comprometen a guardar un acuerdo mutuo de confidencialidad de la información recibida u obtenida. </a:t>
            </a:r>
          </a:p>
          <a:p>
            <a:pPr marL="293694" indent="-293694" algn="just">
              <a:lnSpc>
                <a:spcPct val="100000"/>
              </a:lnSpc>
              <a:spcBef>
                <a:spcPts val="1233"/>
              </a:spcBef>
              <a:buFont typeface="Arial" panose="020B0604020202020204" pitchFamily="34" charset="0"/>
              <a:buChar char="•"/>
            </a:pPr>
            <a:r>
              <a:rPr lang="es-ES" dirty="0">
                <a:solidFill>
                  <a:srgbClr val="000000"/>
                </a:solidFill>
                <a:latin typeface="Century Gothic" panose="020B0502020202020204" pitchFamily="34" charset="0"/>
              </a:rPr>
              <a:t>No se incluye en la presente cotización los gastos de traslados, alimentación, alojamiento, y viáticos para las tareas que pudieran realizarse fuera del lugar de trabajo descrito. </a:t>
            </a:r>
            <a:endParaRPr lang="es-ES" sz="2000" dirty="0">
              <a:solidFill>
                <a:srgbClr val="000000"/>
              </a:solidFill>
              <a:latin typeface="Century Gothic" panose="020B0502020202020204" pitchFamily="34" charset="0"/>
            </a:endParaRPr>
          </a:p>
        </p:txBody>
      </p:sp>
      <p:sp>
        <p:nvSpPr>
          <p:cNvPr id="2" name="TEXO EN MAYUSCULA">
            <a:extLst>
              <a:ext uri="{FF2B5EF4-FFF2-40B4-BE49-F238E27FC236}">
                <a16:creationId xmlns:a16="http://schemas.microsoft.com/office/drawing/2014/main" id="{72F8D0CD-7BE8-A8FA-F07D-DF9161D63B78}"/>
              </a:ext>
            </a:extLst>
          </p:cNvPr>
          <p:cNvSpPr txBox="1"/>
          <p:nvPr/>
        </p:nvSpPr>
        <p:spPr>
          <a:xfrm>
            <a:off x="403377" y="691749"/>
            <a:ext cx="5524810" cy="577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6252" tIns="46252" rIns="46252" bIns="46252">
            <a:spAutoFit/>
          </a:bodyPr>
          <a:lstStyle>
            <a:lvl1pPr>
              <a:lnSpc>
                <a:spcPct val="93000"/>
              </a:lnSpc>
              <a:spcBef>
                <a:spcPts val="100"/>
              </a:spcBef>
              <a:tabLst>
                <a:tab pos="457200" algn="l"/>
                <a:tab pos="914400" algn="l"/>
                <a:tab pos="1371600" algn="l"/>
                <a:tab pos="1828800" algn="l"/>
                <a:tab pos="2286000" algn="l"/>
                <a:tab pos="2743200" algn="l"/>
              </a:tabLst>
              <a:defRPr sz="3200" b="1">
                <a:solidFill>
                  <a:srgbClr val="525252"/>
                </a:solidFill>
                <a:latin typeface="+mj-lt"/>
                <a:ea typeface="+mj-ea"/>
                <a:cs typeface="+mj-cs"/>
                <a:sym typeface="Helvetica"/>
              </a:defRPr>
            </a:lvl1pPr>
          </a:lstStyle>
          <a:p>
            <a:r>
              <a:rPr lang="es-ES" sz="3289"/>
              <a:t>Condiciones Comerciales</a:t>
            </a:r>
            <a:endParaRPr sz="3289"/>
          </a:p>
        </p:txBody>
      </p:sp>
      <p:pic>
        <p:nvPicPr>
          <p:cNvPr id="3" name="Imagen 2" descr="Forma&#10;&#10;Descripción generada automáticamente">
            <a:extLst>
              <a:ext uri="{FF2B5EF4-FFF2-40B4-BE49-F238E27FC236}">
                <a16:creationId xmlns:a16="http://schemas.microsoft.com/office/drawing/2014/main" id="{9E93DE92-90BC-BA5A-0607-C4FF493619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384779" y="6758836"/>
            <a:ext cx="1836717" cy="126596"/>
          </a:xfrm>
          <a:prstGeom prst="rect">
            <a:avLst/>
          </a:prstGeom>
        </p:spPr>
      </p:pic>
      <p:pic>
        <p:nvPicPr>
          <p:cNvPr id="4" name="Imagen 3">
            <a:extLst>
              <a:ext uri="{FF2B5EF4-FFF2-40B4-BE49-F238E27FC236}">
                <a16:creationId xmlns:a16="http://schemas.microsoft.com/office/drawing/2014/main" id="{0AF0A2B1-2F58-FE8D-C69C-C750B5F5BF7A}"/>
              </a:ext>
            </a:extLst>
          </p:cNvPr>
          <p:cNvPicPr>
            <a:picLocks noChangeAspect="1"/>
          </p:cNvPicPr>
          <p:nvPr/>
        </p:nvPicPr>
        <p:blipFill>
          <a:blip r:embed="rId5"/>
          <a:stretch>
            <a:fillRect/>
          </a:stretch>
        </p:blipFill>
        <p:spPr>
          <a:xfrm>
            <a:off x="10094625" y="6292143"/>
            <a:ext cx="2135676" cy="540000"/>
          </a:xfrm>
          <a:prstGeom prst="rect">
            <a:avLst/>
          </a:prstGeom>
        </p:spPr>
      </p:pic>
    </p:spTree>
    <p:extLst>
      <p:ext uri="{BB962C8B-B14F-4D97-AF65-F5344CB8AC3E}">
        <p14:creationId xmlns:p14="http://schemas.microsoft.com/office/powerpoint/2010/main" val="2656663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5.png"/>
          <p:cNvSpPr/>
          <p:nvPr/>
        </p:nvSpPr>
        <p:spPr>
          <a:xfrm>
            <a:off x="-6529" y="541867"/>
            <a:ext cx="12219747" cy="88135"/>
          </a:xfrm>
          <a:custGeom>
            <a:avLst/>
            <a:gdLst/>
            <a:ahLst/>
            <a:cxnLst/>
            <a:rect l="l" t="t" r="r" b="b"/>
            <a:pathLst>
              <a:path w="18329620" h="132202">
                <a:moveTo>
                  <a:pt x="0" y="0"/>
                </a:moveTo>
                <a:lnTo>
                  <a:pt x="18329620" y="0"/>
                </a:lnTo>
                <a:lnTo>
                  <a:pt x="18329620" y="132202"/>
                </a:lnTo>
                <a:lnTo>
                  <a:pt x="0" y="132202"/>
                </a:lnTo>
                <a:lnTo>
                  <a:pt x="0" y="0"/>
                </a:lnTo>
                <a:close/>
              </a:path>
            </a:pathLst>
          </a:custGeom>
          <a:blipFill>
            <a:blip r:embed="rId2"/>
            <a:stretch>
              <a:fillRect l="-10104" r="-10104"/>
            </a:stretch>
          </a:blipFill>
        </p:spPr>
        <p:txBody>
          <a:bodyPr/>
          <a:lstStyle/>
          <a:p>
            <a:endParaRPr lang="es-CO" sz="1200"/>
          </a:p>
        </p:txBody>
      </p:sp>
      <p:sp>
        <p:nvSpPr>
          <p:cNvPr id="3" name="TextBox 3"/>
          <p:cNvSpPr txBox="1"/>
          <p:nvPr/>
        </p:nvSpPr>
        <p:spPr>
          <a:xfrm>
            <a:off x="69735" y="171011"/>
            <a:ext cx="5215543" cy="230832"/>
          </a:xfrm>
          <a:prstGeom prst="rect">
            <a:avLst/>
          </a:prstGeom>
        </p:spPr>
        <p:txBody>
          <a:bodyPr lIns="0" tIns="0" rIns="0" bIns="0" rtlCol="0" anchor="t">
            <a:spAutoFit/>
          </a:bodyPr>
          <a:lstStyle/>
          <a:p>
            <a:pPr algn="ctr">
              <a:lnSpc>
                <a:spcPts val="1835"/>
              </a:lnSpc>
            </a:pPr>
            <a:r>
              <a:rPr lang="en-US" sz="1645">
                <a:solidFill>
                  <a:srgbClr val="3A3838"/>
                </a:solidFill>
                <a:latin typeface="Arial"/>
                <a:ea typeface="Arial"/>
                <a:cs typeface="Arial"/>
                <a:sym typeface="Arial"/>
              </a:rPr>
              <a:t>SOLUCIONES DE TRANSFORMACIÓN DIGITAL</a:t>
            </a:r>
          </a:p>
        </p:txBody>
      </p:sp>
      <p:sp>
        <p:nvSpPr>
          <p:cNvPr id="4" name="Freeform 4" descr="image13.png"/>
          <p:cNvSpPr/>
          <p:nvPr/>
        </p:nvSpPr>
        <p:spPr>
          <a:xfrm>
            <a:off x="11229044" y="6257581"/>
            <a:ext cx="765469" cy="432515"/>
          </a:xfrm>
          <a:custGeom>
            <a:avLst/>
            <a:gdLst/>
            <a:ahLst/>
            <a:cxnLst/>
            <a:rect l="l" t="t" r="r" b="b"/>
            <a:pathLst>
              <a:path w="1148203" h="648772">
                <a:moveTo>
                  <a:pt x="0" y="0"/>
                </a:moveTo>
                <a:lnTo>
                  <a:pt x="1148203" y="0"/>
                </a:lnTo>
                <a:lnTo>
                  <a:pt x="1148203" y="648772"/>
                </a:lnTo>
                <a:lnTo>
                  <a:pt x="0" y="648772"/>
                </a:lnTo>
                <a:lnTo>
                  <a:pt x="0" y="0"/>
                </a:lnTo>
                <a:close/>
              </a:path>
            </a:pathLst>
          </a:custGeom>
          <a:blipFill>
            <a:blip r:embed="rId3"/>
            <a:stretch>
              <a:fillRect l="-555" r="-555"/>
            </a:stretch>
          </a:blipFill>
        </p:spPr>
        <p:txBody>
          <a:bodyPr/>
          <a:lstStyle/>
          <a:p>
            <a:endParaRPr lang="es-CO" sz="1200"/>
          </a:p>
        </p:txBody>
      </p:sp>
      <p:grpSp>
        <p:nvGrpSpPr>
          <p:cNvPr id="5" name="Group 5"/>
          <p:cNvGrpSpPr/>
          <p:nvPr/>
        </p:nvGrpSpPr>
        <p:grpSpPr>
          <a:xfrm>
            <a:off x="-184481" y="1579862"/>
            <a:ext cx="12588070" cy="1099242"/>
            <a:chOff x="0" y="0"/>
            <a:chExt cx="5999897" cy="523936"/>
          </a:xfrm>
        </p:grpSpPr>
        <p:sp>
          <p:nvSpPr>
            <p:cNvPr id="6" name="Freeform 6"/>
            <p:cNvSpPr/>
            <p:nvPr/>
          </p:nvSpPr>
          <p:spPr>
            <a:xfrm>
              <a:off x="0" y="0"/>
              <a:ext cx="5999897" cy="523936"/>
            </a:xfrm>
            <a:custGeom>
              <a:avLst/>
              <a:gdLst/>
              <a:ahLst/>
              <a:cxnLst/>
              <a:rect l="l" t="t" r="r" b="b"/>
              <a:pathLst>
                <a:path w="5999897" h="523936">
                  <a:moveTo>
                    <a:pt x="0" y="0"/>
                  </a:moveTo>
                  <a:lnTo>
                    <a:pt x="5999897" y="0"/>
                  </a:lnTo>
                  <a:lnTo>
                    <a:pt x="5999897" y="523936"/>
                  </a:lnTo>
                  <a:lnTo>
                    <a:pt x="0" y="523936"/>
                  </a:lnTo>
                  <a:close/>
                </a:path>
              </a:pathLst>
            </a:custGeom>
            <a:solidFill>
              <a:srgbClr val="D9D9D9">
                <a:alpha val="22745"/>
              </a:srgbClr>
            </a:solidFill>
          </p:spPr>
          <p:txBody>
            <a:bodyPr/>
            <a:lstStyle/>
            <a:p>
              <a:endParaRPr lang="es-CO" sz="1200"/>
            </a:p>
          </p:txBody>
        </p:sp>
        <p:sp>
          <p:nvSpPr>
            <p:cNvPr id="7" name="TextBox 7"/>
            <p:cNvSpPr txBox="1"/>
            <p:nvPr/>
          </p:nvSpPr>
          <p:spPr>
            <a:xfrm>
              <a:off x="0" y="-47625"/>
              <a:ext cx="5999897" cy="571561"/>
            </a:xfrm>
            <a:prstGeom prst="rect">
              <a:avLst/>
            </a:prstGeom>
          </p:spPr>
          <p:txBody>
            <a:bodyPr lIns="33867" tIns="33867" rIns="33867" bIns="33867" rtlCol="0" anchor="ctr"/>
            <a:lstStyle/>
            <a:p>
              <a:pPr algn="ctr">
                <a:lnSpc>
                  <a:spcPts val="1773"/>
                </a:lnSpc>
              </a:pPr>
              <a:endParaRPr sz="1200"/>
            </a:p>
          </p:txBody>
        </p:sp>
      </p:grpSp>
      <p:sp>
        <p:nvSpPr>
          <p:cNvPr id="8" name="Freeform 8" descr="Logotipo  Descripción generada automáticamente"/>
          <p:cNvSpPr/>
          <p:nvPr/>
        </p:nvSpPr>
        <p:spPr>
          <a:xfrm>
            <a:off x="577927" y="1959206"/>
            <a:ext cx="1487804" cy="405872"/>
          </a:xfrm>
          <a:custGeom>
            <a:avLst/>
            <a:gdLst/>
            <a:ahLst/>
            <a:cxnLst/>
            <a:rect l="l" t="t" r="r" b="b"/>
            <a:pathLst>
              <a:path w="2231706" h="608808">
                <a:moveTo>
                  <a:pt x="0" y="0"/>
                </a:moveTo>
                <a:lnTo>
                  <a:pt x="2231706" y="0"/>
                </a:lnTo>
                <a:lnTo>
                  <a:pt x="2231706" y="608808"/>
                </a:lnTo>
                <a:lnTo>
                  <a:pt x="0" y="608808"/>
                </a:lnTo>
                <a:lnTo>
                  <a:pt x="0" y="0"/>
                </a:lnTo>
                <a:close/>
              </a:path>
            </a:pathLst>
          </a:custGeom>
          <a:blipFill>
            <a:blip r:embed="rId4"/>
            <a:stretch>
              <a:fillRect t="-54518" b="-51677"/>
            </a:stretch>
          </a:blipFill>
        </p:spPr>
        <p:txBody>
          <a:bodyPr/>
          <a:lstStyle/>
          <a:p>
            <a:endParaRPr lang="es-CO" sz="1200"/>
          </a:p>
        </p:txBody>
      </p:sp>
      <p:sp>
        <p:nvSpPr>
          <p:cNvPr id="9" name="Freeform 9" descr="Círculo  Descripción generada automáticamente con confianza media"/>
          <p:cNvSpPr/>
          <p:nvPr/>
        </p:nvSpPr>
        <p:spPr>
          <a:xfrm>
            <a:off x="2822564" y="1829492"/>
            <a:ext cx="857594" cy="599981"/>
          </a:xfrm>
          <a:custGeom>
            <a:avLst/>
            <a:gdLst/>
            <a:ahLst/>
            <a:cxnLst/>
            <a:rect l="l" t="t" r="r" b="b"/>
            <a:pathLst>
              <a:path w="1286391" h="899972">
                <a:moveTo>
                  <a:pt x="0" y="0"/>
                </a:moveTo>
                <a:lnTo>
                  <a:pt x="1286391" y="0"/>
                </a:lnTo>
                <a:lnTo>
                  <a:pt x="1286391" y="899972"/>
                </a:lnTo>
                <a:lnTo>
                  <a:pt x="0" y="899972"/>
                </a:lnTo>
                <a:lnTo>
                  <a:pt x="0" y="0"/>
                </a:lnTo>
                <a:close/>
              </a:path>
            </a:pathLst>
          </a:custGeom>
          <a:blipFill>
            <a:blip r:embed="rId5"/>
            <a:stretch>
              <a:fillRect/>
            </a:stretch>
          </a:blipFill>
        </p:spPr>
        <p:txBody>
          <a:bodyPr/>
          <a:lstStyle/>
          <a:p>
            <a:endParaRPr lang="es-CO" sz="1200"/>
          </a:p>
        </p:txBody>
      </p:sp>
      <p:sp>
        <p:nvSpPr>
          <p:cNvPr id="10" name="Freeform 10"/>
          <p:cNvSpPr/>
          <p:nvPr/>
        </p:nvSpPr>
        <p:spPr>
          <a:xfrm>
            <a:off x="6143676" y="2040408"/>
            <a:ext cx="1726919" cy="226677"/>
          </a:xfrm>
          <a:custGeom>
            <a:avLst/>
            <a:gdLst/>
            <a:ahLst/>
            <a:cxnLst/>
            <a:rect l="l" t="t" r="r" b="b"/>
            <a:pathLst>
              <a:path w="2590378" h="340016">
                <a:moveTo>
                  <a:pt x="0" y="0"/>
                </a:moveTo>
                <a:lnTo>
                  <a:pt x="2590378" y="0"/>
                </a:lnTo>
                <a:lnTo>
                  <a:pt x="2590378" y="340016"/>
                </a:lnTo>
                <a:lnTo>
                  <a:pt x="0" y="340016"/>
                </a:lnTo>
                <a:lnTo>
                  <a:pt x="0" y="0"/>
                </a:lnTo>
                <a:close/>
              </a:path>
            </a:pathLst>
          </a:custGeom>
          <a:blipFill>
            <a:blip r:embed="rId6"/>
            <a:stretch>
              <a:fillRect l="-485" r="-485"/>
            </a:stretch>
          </a:blipFill>
        </p:spPr>
        <p:txBody>
          <a:bodyPr/>
          <a:lstStyle/>
          <a:p>
            <a:endParaRPr lang="es-CO" sz="1200"/>
          </a:p>
        </p:txBody>
      </p:sp>
      <p:sp>
        <p:nvSpPr>
          <p:cNvPr id="11" name="Freeform 11" descr="Icono  Descripción generada automáticamente"/>
          <p:cNvSpPr/>
          <p:nvPr/>
        </p:nvSpPr>
        <p:spPr>
          <a:xfrm>
            <a:off x="8291655" y="1816392"/>
            <a:ext cx="674708" cy="674708"/>
          </a:xfrm>
          <a:custGeom>
            <a:avLst/>
            <a:gdLst/>
            <a:ahLst/>
            <a:cxnLst/>
            <a:rect l="l" t="t" r="r" b="b"/>
            <a:pathLst>
              <a:path w="1012062" h="1012062">
                <a:moveTo>
                  <a:pt x="0" y="0"/>
                </a:moveTo>
                <a:lnTo>
                  <a:pt x="1012063" y="0"/>
                </a:lnTo>
                <a:lnTo>
                  <a:pt x="1012063" y="1012062"/>
                </a:lnTo>
                <a:lnTo>
                  <a:pt x="0" y="1012062"/>
                </a:lnTo>
                <a:lnTo>
                  <a:pt x="0" y="0"/>
                </a:lnTo>
                <a:close/>
              </a:path>
            </a:pathLst>
          </a:custGeom>
          <a:blipFill>
            <a:blip r:embed="rId7"/>
            <a:stretch>
              <a:fillRect/>
            </a:stretch>
          </a:blipFill>
        </p:spPr>
        <p:txBody>
          <a:bodyPr/>
          <a:lstStyle/>
          <a:p>
            <a:endParaRPr lang="es-CO" sz="1200"/>
          </a:p>
        </p:txBody>
      </p:sp>
      <p:sp>
        <p:nvSpPr>
          <p:cNvPr id="12" name="Freeform 12" descr="Imagen que contiene Logotipo  Descripción generada automáticamente"/>
          <p:cNvSpPr/>
          <p:nvPr/>
        </p:nvSpPr>
        <p:spPr>
          <a:xfrm>
            <a:off x="4757764" y="1904712"/>
            <a:ext cx="877621" cy="498070"/>
          </a:xfrm>
          <a:custGeom>
            <a:avLst/>
            <a:gdLst/>
            <a:ahLst/>
            <a:cxnLst/>
            <a:rect l="l" t="t" r="r" b="b"/>
            <a:pathLst>
              <a:path w="1316432" h="747105">
                <a:moveTo>
                  <a:pt x="0" y="0"/>
                </a:moveTo>
                <a:lnTo>
                  <a:pt x="1316432" y="0"/>
                </a:lnTo>
                <a:lnTo>
                  <a:pt x="1316432" y="747105"/>
                </a:lnTo>
                <a:lnTo>
                  <a:pt x="0" y="747105"/>
                </a:lnTo>
                <a:lnTo>
                  <a:pt x="0" y="0"/>
                </a:lnTo>
                <a:close/>
              </a:path>
            </a:pathLst>
          </a:custGeom>
          <a:blipFill>
            <a:blip r:embed="rId8"/>
            <a:stretch>
              <a:fillRect t="-903" b="-903"/>
            </a:stretch>
          </a:blipFill>
        </p:spPr>
        <p:txBody>
          <a:bodyPr/>
          <a:lstStyle/>
          <a:p>
            <a:endParaRPr lang="es-CO" sz="1200"/>
          </a:p>
        </p:txBody>
      </p:sp>
      <p:sp>
        <p:nvSpPr>
          <p:cNvPr id="13" name="Freeform 13" descr="Logotipo  Descripción generada automáticamente"/>
          <p:cNvSpPr/>
          <p:nvPr/>
        </p:nvSpPr>
        <p:spPr>
          <a:xfrm>
            <a:off x="9385464" y="1931592"/>
            <a:ext cx="924327" cy="471190"/>
          </a:xfrm>
          <a:custGeom>
            <a:avLst/>
            <a:gdLst/>
            <a:ahLst/>
            <a:cxnLst/>
            <a:rect l="l" t="t" r="r" b="b"/>
            <a:pathLst>
              <a:path w="1386491" h="706785">
                <a:moveTo>
                  <a:pt x="0" y="0"/>
                </a:moveTo>
                <a:lnTo>
                  <a:pt x="1386491" y="0"/>
                </a:lnTo>
                <a:lnTo>
                  <a:pt x="1386491" y="706785"/>
                </a:lnTo>
                <a:lnTo>
                  <a:pt x="0" y="706785"/>
                </a:lnTo>
                <a:lnTo>
                  <a:pt x="0" y="0"/>
                </a:lnTo>
                <a:close/>
              </a:path>
            </a:pathLst>
          </a:custGeom>
          <a:blipFill>
            <a:blip r:embed="rId9"/>
            <a:stretch>
              <a:fillRect/>
            </a:stretch>
          </a:blipFill>
        </p:spPr>
        <p:txBody>
          <a:bodyPr/>
          <a:lstStyle/>
          <a:p>
            <a:endParaRPr lang="es-CO" sz="1200"/>
          </a:p>
        </p:txBody>
      </p:sp>
      <p:grpSp>
        <p:nvGrpSpPr>
          <p:cNvPr id="14" name="Group 14"/>
          <p:cNvGrpSpPr/>
          <p:nvPr/>
        </p:nvGrpSpPr>
        <p:grpSpPr>
          <a:xfrm>
            <a:off x="-196899" y="2833212"/>
            <a:ext cx="12588070" cy="1099242"/>
            <a:chOff x="0" y="0"/>
            <a:chExt cx="5999897" cy="523936"/>
          </a:xfrm>
        </p:grpSpPr>
        <p:sp>
          <p:nvSpPr>
            <p:cNvPr id="15" name="Freeform 15"/>
            <p:cNvSpPr/>
            <p:nvPr/>
          </p:nvSpPr>
          <p:spPr>
            <a:xfrm>
              <a:off x="0" y="0"/>
              <a:ext cx="5999897" cy="523936"/>
            </a:xfrm>
            <a:custGeom>
              <a:avLst/>
              <a:gdLst/>
              <a:ahLst/>
              <a:cxnLst/>
              <a:rect l="l" t="t" r="r" b="b"/>
              <a:pathLst>
                <a:path w="5999897" h="523936">
                  <a:moveTo>
                    <a:pt x="0" y="0"/>
                  </a:moveTo>
                  <a:lnTo>
                    <a:pt x="5999897" y="0"/>
                  </a:lnTo>
                  <a:lnTo>
                    <a:pt x="5999897" y="523936"/>
                  </a:lnTo>
                  <a:lnTo>
                    <a:pt x="0" y="523936"/>
                  </a:lnTo>
                  <a:close/>
                </a:path>
              </a:pathLst>
            </a:custGeom>
            <a:solidFill>
              <a:srgbClr val="D9D9D9">
                <a:alpha val="22745"/>
              </a:srgbClr>
            </a:solidFill>
          </p:spPr>
          <p:txBody>
            <a:bodyPr/>
            <a:lstStyle/>
            <a:p>
              <a:endParaRPr lang="es-CO" sz="1200"/>
            </a:p>
          </p:txBody>
        </p:sp>
        <p:sp>
          <p:nvSpPr>
            <p:cNvPr id="16" name="TextBox 16"/>
            <p:cNvSpPr txBox="1"/>
            <p:nvPr/>
          </p:nvSpPr>
          <p:spPr>
            <a:xfrm>
              <a:off x="0" y="-47625"/>
              <a:ext cx="5999897" cy="571561"/>
            </a:xfrm>
            <a:prstGeom prst="rect">
              <a:avLst/>
            </a:prstGeom>
          </p:spPr>
          <p:txBody>
            <a:bodyPr lIns="33867" tIns="33867" rIns="33867" bIns="33867" rtlCol="0" anchor="ctr"/>
            <a:lstStyle/>
            <a:p>
              <a:pPr algn="ctr">
                <a:lnSpc>
                  <a:spcPts val="1773"/>
                </a:lnSpc>
              </a:pPr>
              <a:endParaRPr sz="1200"/>
            </a:p>
          </p:txBody>
        </p:sp>
      </p:grpSp>
      <p:sp>
        <p:nvSpPr>
          <p:cNvPr id="17" name="Freeform 17" descr="Logotipo  Descripción generada automáticamente"/>
          <p:cNvSpPr/>
          <p:nvPr/>
        </p:nvSpPr>
        <p:spPr>
          <a:xfrm>
            <a:off x="497351" y="3061753"/>
            <a:ext cx="1301377" cy="732025"/>
          </a:xfrm>
          <a:custGeom>
            <a:avLst/>
            <a:gdLst/>
            <a:ahLst/>
            <a:cxnLst/>
            <a:rect l="l" t="t" r="r" b="b"/>
            <a:pathLst>
              <a:path w="1952066" h="1098037">
                <a:moveTo>
                  <a:pt x="0" y="0"/>
                </a:moveTo>
                <a:lnTo>
                  <a:pt x="1952066" y="0"/>
                </a:lnTo>
                <a:lnTo>
                  <a:pt x="1952066" y="1098038"/>
                </a:lnTo>
                <a:lnTo>
                  <a:pt x="0" y="1098038"/>
                </a:lnTo>
                <a:lnTo>
                  <a:pt x="0" y="0"/>
                </a:lnTo>
                <a:close/>
              </a:path>
            </a:pathLst>
          </a:custGeom>
          <a:blipFill>
            <a:blip r:embed="rId10"/>
            <a:stretch>
              <a:fillRect/>
            </a:stretch>
          </a:blipFill>
        </p:spPr>
        <p:txBody>
          <a:bodyPr/>
          <a:lstStyle/>
          <a:p>
            <a:endParaRPr lang="es-CO" sz="1200"/>
          </a:p>
        </p:txBody>
      </p:sp>
      <p:sp>
        <p:nvSpPr>
          <p:cNvPr id="18" name="Freeform 18" descr="Icono  Descripción generada automáticamente"/>
          <p:cNvSpPr/>
          <p:nvPr/>
        </p:nvSpPr>
        <p:spPr>
          <a:xfrm>
            <a:off x="10611762" y="1696371"/>
            <a:ext cx="979446" cy="946341"/>
          </a:xfrm>
          <a:custGeom>
            <a:avLst/>
            <a:gdLst/>
            <a:ahLst/>
            <a:cxnLst/>
            <a:rect l="l" t="t" r="r" b="b"/>
            <a:pathLst>
              <a:path w="1469169" h="1419511">
                <a:moveTo>
                  <a:pt x="0" y="0"/>
                </a:moveTo>
                <a:lnTo>
                  <a:pt x="1469168" y="0"/>
                </a:lnTo>
                <a:lnTo>
                  <a:pt x="1469168" y="1419511"/>
                </a:lnTo>
                <a:lnTo>
                  <a:pt x="0" y="1419511"/>
                </a:lnTo>
                <a:lnTo>
                  <a:pt x="0" y="0"/>
                </a:lnTo>
                <a:close/>
              </a:path>
            </a:pathLst>
          </a:custGeom>
          <a:blipFill>
            <a:blip r:embed="rId11"/>
            <a:stretch>
              <a:fillRect t="-3498"/>
            </a:stretch>
          </a:blipFill>
        </p:spPr>
        <p:txBody>
          <a:bodyPr/>
          <a:lstStyle/>
          <a:p>
            <a:endParaRPr lang="es-CO" sz="1200"/>
          </a:p>
        </p:txBody>
      </p:sp>
      <p:sp>
        <p:nvSpPr>
          <p:cNvPr id="19" name="Freeform 19" descr="Logotipo  Descripción generada automáticamente"/>
          <p:cNvSpPr/>
          <p:nvPr/>
        </p:nvSpPr>
        <p:spPr>
          <a:xfrm>
            <a:off x="1965710" y="3139983"/>
            <a:ext cx="1402194" cy="592647"/>
          </a:xfrm>
          <a:custGeom>
            <a:avLst/>
            <a:gdLst/>
            <a:ahLst/>
            <a:cxnLst/>
            <a:rect l="l" t="t" r="r" b="b"/>
            <a:pathLst>
              <a:path w="2103291" h="888971">
                <a:moveTo>
                  <a:pt x="0" y="0"/>
                </a:moveTo>
                <a:lnTo>
                  <a:pt x="2103291" y="0"/>
                </a:lnTo>
                <a:lnTo>
                  <a:pt x="2103291" y="888971"/>
                </a:lnTo>
                <a:lnTo>
                  <a:pt x="0" y="888971"/>
                </a:lnTo>
                <a:lnTo>
                  <a:pt x="0" y="0"/>
                </a:lnTo>
                <a:close/>
              </a:path>
            </a:pathLst>
          </a:custGeom>
          <a:blipFill>
            <a:blip r:embed="rId12"/>
            <a:stretch>
              <a:fillRect/>
            </a:stretch>
          </a:blipFill>
        </p:spPr>
        <p:txBody>
          <a:bodyPr/>
          <a:lstStyle/>
          <a:p>
            <a:endParaRPr lang="es-CO" sz="1200"/>
          </a:p>
        </p:txBody>
      </p:sp>
      <p:sp>
        <p:nvSpPr>
          <p:cNvPr id="20" name="Freeform 20" descr="Logotipo  Descripción generada automáticamente"/>
          <p:cNvSpPr/>
          <p:nvPr/>
        </p:nvSpPr>
        <p:spPr>
          <a:xfrm>
            <a:off x="6144714" y="3095731"/>
            <a:ext cx="1966320" cy="761191"/>
          </a:xfrm>
          <a:custGeom>
            <a:avLst/>
            <a:gdLst/>
            <a:ahLst/>
            <a:cxnLst/>
            <a:rect l="l" t="t" r="r" b="b"/>
            <a:pathLst>
              <a:path w="2949480" h="1141786">
                <a:moveTo>
                  <a:pt x="0" y="0"/>
                </a:moveTo>
                <a:lnTo>
                  <a:pt x="2949480" y="0"/>
                </a:lnTo>
                <a:lnTo>
                  <a:pt x="2949480" y="1141785"/>
                </a:lnTo>
                <a:lnTo>
                  <a:pt x="0" y="1141785"/>
                </a:lnTo>
                <a:lnTo>
                  <a:pt x="0" y="0"/>
                </a:lnTo>
                <a:close/>
              </a:path>
            </a:pathLst>
          </a:custGeom>
          <a:blipFill>
            <a:blip r:embed="rId13"/>
            <a:stretch>
              <a:fillRect t="-15436" b="-13724"/>
            </a:stretch>
          </a:blipFill>
        </p:spPr>
        <p:txBody>
          <a:bodyPr/>
          <a:lstStyle/>
          <a:p>
            <a:endParaRPr lang="es-CO" sz="1200"/>
          </a:p>
        </p:txBody>
      </p:sp>
      <p:grpSp>
        <p:nvGrpSpPr>
          <p:cNvPr id="21" name="Group 21"/>
          <p:cNvGrpSpPr/>
          <p:nvPr/>
        </p:nvGrpSpPr>
        <p:grpSpPr>
          <a:xfrm>
            <a:off x="-196899" y="4122954"/>
            <a:ext cx="12588070" cy="1099242"/>
            <a:chOff x="0" y="0"/>
            <a:chExt cx="5999897" cy="523936"/>
          </a:xfrm>
        </p:grpSpPr>
        <p:sp>
          <p:nvSpPr>
            <p:cNvPr id="22" name="Freeform 22"/>
            <p:cNvSpPr/>
            <p:nvPr/>
          </p:nvSpPr>
          <p:spPr>
            <a:xfrm>
              <a:off x="0" y="0"/>
              <a:ext cx="5999897" cy="523936"/>
            </a:xfrm>
            <a:custGeom>
              <a:avLst/>
              <a:gdLst/>
              <a:ahLst/>
              <a:cxnLst/>
              <a:rect l="l" t="t" r="r" b="b"/>
              <a:pathLst>
                <a:path w="5999897" h="523936">
                  <a:moveTo>
                    <a:pt x="0" y="0"/>
                  </a:moveTo>
                  <a:lnTo>
                    <a:pt x="5999897" y="0"/>
                  </a:lnTo>
                  <a:lnTo>
                    <a:pt x="5999897" y="523936"/>
                  </a:lnTo>
                  <a:lnTo>
                    <a:pt x="0" y="523936"/>
                  </a:lnTo>
                  <a:close/>
                </a:path>
              </a:pathLst>
            </a:custGeom>
            <a:solidFill>
              <a:srgbClr val="D9D9D9">
                <a:alpha val="22745"/>
              </a:srgbClr>
            </a:solidFill>
          </p:spPr>
          <p:txBody>
            <a:bodyPr/>
            <a:lstStyle/>
            <a:p>
              <a:endParaRPr lang="es-CO" sz="1200"/>
            </a:p>
          </p:txBody>
        </p:sp>
        <p:sp>
          <p:nvSpPr>
            <p:cNvPr id="23" name="TextBox 23"/>
            <p:cNvSpPr txBox="1"/>
            <p:nvPr/>
          </p:nvSpPr>
          <p:spPr>
            <a:xfrm>
              <a:off x="0" y="-47625"/>
              <a:ext cx="5999897" cy="571561"/>
            </a:xfrm>
            <a:prstGeom prst="rect">
              <a:avLst/>
            </a:prstGeom>
          </p:spPr>
          <p:txBody>
            <a:bodyPr lIns="33867" tIns="33867" rIns="33867" bIns="33867" rtlCol="0" anchor="ctr"/>
            <a:lstStyle/>
            <a:p>
              <a:pPr algn="ctr">
                <a:lnSpc>
                  <a:spcPts val="1773"/>
                </a:lnSpc>
              </a:pPr>
              <a:endParaRPr sz="1200"/>
            </a:p>
          </p:txBody>
        </p:sp>
      </p:grpSp>
      <p:sp>
        <p:nvSpPr>
          <p:cNvPr id="24" name="Freeform 24" descr="Logotipo  Descripción generada automáticamente"/>
          <p:cNvSpPr/>
          <p:nvPr/>
        </p:nvSpPr>
        <p:spPr>
          <a:xfrm>
            <a:off x="6202946" y="5768297"/>
            <a:ext cx="2019824" cy="453651"/>
          </a:xfrm>
          <a:custGeom>
            <a:avLst/>
            <a:gdLst/>
            <a:ahLst/>
            <a:cxnLst/>
            <a:rect l="l" t="t" r="r" b="b"/>
            <a:pathLst>
              <a:path w="3029736" h="680477">
                <a:moveTo>
                  <a:pt x="0" y="0"/>
                </a:moveTo>
                <a:lnTo>
                  <a:pt x="3029736" y="0"/>
                </a:lnTo>
                <a:lnTo>
                  <a:pt x="3029736" y="680477"/>
                </a:lnTo>
                <a:lnTo>
                  <a:pt x="0" y="680477"/>
                </a:lnTo>
                <a:lnTo>
                  <a:pt x="0" y="0"/>
                </a:lnTo>
                <a:close/>
              </a:path>
            </a:pathLst>
          </a:custGeom>
          <a:blipFill>
            <a:blip r:embed="rId14"/>
            <a:stretch>
              <a:fillRect t="-61726" b="-61025"/>
            </a:stretch>
          </a:blipFill>
        </p:spPr>
        <p:txBody>
          <a:bodyPr/>
          <a:lstStyle/>
          <a:p>
            <a:endParaRPr lang="es-CO" sz="1200"/>
          </a:p>
        </p:txBody>
      </p:sp>
      <p:sp>
        <p:nvSpPr>
          <p:cNvPr id="25" name="Freeform 25" descr="Logotipo  Descripción generada automáticamente"/>
          <p:cNvSpPr/>
          <p:nvPr/>
        </p:nvSpPr>
        <p:spPr>
          <a:xfrm>
            <a:off x="8295933" y="3133434"/>
            <a:ext cx="1621400" cy="578840"/>
          </a:xfrm>
          <a:custGeom>
            <a:avLst/>
            <a:gdLst/>
            <a:ahLst/>
            <a:cxnLst/>
            <a:rect l="l" t="t" r="r" b="b"/>
            <a:pathLst>
              <a:path w="2432100" h="868260">
                <a:moveTo>
                  <a:pt x="0" y="0"/>
                </a:moveTo>
                <a:lnTo>
                  <a:pt x="2432100" y="0"/>
                </a:lnTo>
                <a:lnTo>
                  <a:pt x="2432100" y="868260"/>
                </a:lnTo>
                <a:lnTo>
                  <a:pt x="0" y="868260"/>
                </a:lnTo>
                <a:lnTo>
                  <a:pt x="0" y="0"/>
                </a:lnTo>
                <a:close/>
              </a:path>
            </a:pathLst>
          </a:custGeom>
          <a:blipFill>
            <a:blip r:embed="rId15"/>
            <a:stretch>
              <a:fillRect/>
            </a:stretch>
          </a:blipFill>
        </p:spPr>
        <p:txBody>
          <a:bodyPr/>
          <a:lstStyle/>
          <a:p>
            <a:endParaRPr lang="es-CO" sz="1200"/>
          </a:p>
        </p:txBody>
      </p:sp>
      <p:sp>
        <p:nvSpPr>
          <p:cNvPr id="26" name="Freeform 26" descr="Logotipo  Descripción generada automáticamente"/>
          <p:cNvSpPr/>
          <p:nvPr/>
        </p:nvSpPr>
        <p:spPr>
          <a:xfrm>
            <a:off x="1202541" y="4373276"/>
            <a:ext cx="1827979" cy="459137"/>
          </a:xfrm>
          <a:custGeom>
            <a:avLst/>
            <a:gdLst/>
            <a:ahLst/>
            <a:cxnLst/>
            <a:rect l="l" t="t" r="r" b="b"/>
            <a:pathLst>
              <a:path w="2741968" h="688705">
                <a:moveTo>
                  <a:pt x="0" y="0"/>
                </a:moveTo>
                <a:lnTo>
                  <a:pt x="2741968" y="0"/>
                </a:lnTo>
                <a:lnTo>
                  <a:pt x="2741968" y="688705"/>
                </a:lnTo>
                <a:lnTo>
                  <a:pt x="0" y="688705"/>
                </a:lnTo>
                <a:lnTo>
                  <a:pt x="0" y="0"/>
                </a:lnTo>
                <a:close/>
              </a:path>
            </a:pathLst>
          </a:custGeom>
          <a:blipFill>
            <a:blip r:embed="rId16"/>
            <a:stretch>
              <a:fillRect/>
            </a:stretch>
          </a:blipFill>
        </p:spPr>
        <p:txBody>
          <a:bodyPr/>
          <a:lstStyle/>
          <a:p>
            <a:endParaRPr lang="es-CO" sz="1200"/>
          </a:p>
        </p:txBody>
      </p:sp>
      <p:sp>
        <p:nvSpPr>
          <p:cNvPr id="27" name="Freeform 27"/>
          <p:cNvSpPr/>
          <p:nvPr/>
        </p:nvSpPr>
        <p:spPr>
          <a:xfrm>
            <a:off x="3685421" y="4385976"/>
            <a:ext cx="2358427" cy="425792"/>
          </a:xfrm>
          <a:custGeom>
            <a:avLst/>
            <a:gdLst/>
            <a:ahLst/>
            <a:cxnLst/>
            <a:rect l="l" t="t" r="r" b="b"/>
            <a:pathLst>
              <a:path w="3537640" h="638688">
                <a:moveTo>
                  <a:pt x="0" y="0"/>
                </a:moveTo>
                <a:lnTo>
                  <a:pt x="3537640" y="0"/>
                </a:lnTo>
                <a:lnTo>
                  <a:pt x="3537640" y="638688"/>
                </a:lnTo>
                <a:lnTo>
                  <a:pt x="0" y="638688"/>
                </a:lnTo>
                <a:lnTo>
                  <a:pt x="0" y="0"/>
                </a:lnTo>
                <a:close/>
              </a:path>
            </a:pathLst>
          </a:custGeom>
          <a:blipFill>
            <a:blip r:embed="rId17"/>
            <a:stretch>
              <a:fillRect t="-127308" b="-121181"/>
            </a:stretch>
          </a:blipFill>
        </p:spPr>
        <p:txBody>
          <a:bodyPr/>
          <a:lstStyle/>
          <a:p>
            <a:endParaRPr lang="es-CO" sz="1200"/>
          </a:p>
        </p:txBody>
      </p:sp>
      <p:sp>
        <p:nvSpPr>
          <p:cNvPr id="28" name="Freeform 28"/>
          <p:cNvSpPr/>
          <p:nvPr/>
        </p:nvSpPr>
        <p:spPr>
          <a:xfrm>
            <a:off x="3802199" y="3278009"/>
            <a:ext cx="2123492" cy="391077"/>
          </a:xfrm>
          <a:custGeom>
            <a:avLst/>
            <a:gdLst/>
            <a:ahLst/>
            <a:cxnLst/>
            <a:rect l="l" t="t" r="r" b="b"/>
            <a:pathLst>
              <a:path w="3185238" h="586615">
                <a:moveTo>
                  <a:pt x="0" y="0"/>
                </a:moveTo>
                <a:lnTo>
                  <a:pt x="3185238" y="0"/>
                </a:lnTo>
                <a:lnTo>
                  <a:pt x="3185238" y="586614"/>
                </a:lnTo>
                <a:lnTo>
                  <a:pt x="0" y="586614"/>
                </a:lnTo>
                <a:lnTo>
                  <a:pt x="0" y="0"/>
                </a:lnTo>
                <a:close/>
              </a:path>
            </a:pathLst>
          </a:custGeom>
          <a:blipFill>
            <a:blip r:embed="rId18"/>
            <a:stretch>
              <a:fillRect/>
            </a:stretch>
          </a:blipFill>
        </p:spPr>
        <p:txBody>
          <a:bodyPr/>
          <a:lstStyle/>
          <a:p>
            <a:endParaRPr lang="es-CO" sz="1200"/>
          </a:p>
        </p:txBody>
      </p:sp>
      <p:grpSp>
        <p:nvGrpSpPr>
          <p:cNvPr id="29" name="Group 29"/>
          <p:cNvGrpSpPr/>
          <p:nvPr/>
        </p:nvGrpSpPr>
        <p:grpSpPr>
          <a:xfrm>
            <a:off x="-196899" y="5374596"/>
            <a:ext cx="12588070" cy="1099242"/>
            <a:chOff x="0" y="0"/>
            <a:chExt cx="5999897" cy="523936"/>
          </a:xfrm>
        </p:grpSpPr>
        <p:sp>
          <p:nvSpPr>
            <p:cNvPr id="30" name="Freeform 30"/>
            <p:cNvSpPr/>
            <p:nvPr/>
          </p:nvSpPr>
          <p:spPr>
            <a:xfrm>
              <a:off x="0" y="0"/>
              <a:ext cx="5999897" cy="523936"/>
            </a:xfrm>
            <a:custGeom>
              <a:avLst/>
              <a:gdLst/>
              <a:ahLst/>
              <a:cxnLst/>
              <a:rect l="l" t="t" r="r" b="b"/>
              <a:pathLst>
                <a:path w="5999897" h="523936">
                  <a:moveTo>
                    <a:pt x="0" y="0"/>
                  </a:moveTo>
                  <a:lnTo>
                    <a:pt x="5999897" y="0"/>
                  </a:lnTo>
                  <a:lnTo>
                    <a:pt x="5999897" y="523936"/>
                  </a:lnTo>
                  <a:lnTo>
                    <a:pt x="0" y="523936"/>
                  </a:lnTo>
                  <a:close/>
                </a:path>
              </a:pathLst>
            </a:custGeom>
            <a:solidFill>
              <a:srgbClr val="D9D9D9">
                <a:alpha val="22745"/>
              </a:srgbClr>
            </a:solidFill>
          </p:spPr>
          <p:txBody>
            <a:bodyPr/>
            <a:lstStyle/>
            <a:p>
              <a:endParaRPr lang="es-CO" sz="1200"/>
            </a:p>
          </p:txBody>
        </p:sp>
        <p:sp>
          <p:nvSpPr>
            <p:cNvPr id="31" name="TextBox 31"/>
            <p:cNvSpPr txBox="1"/>
            <p:nvPr/>
          </p:nvSpPr>
          <p:spPr>
            <a:xfrm>
              <a:off x="0" y="-47625"/>
              <a:ext cx="5999897" cy="571561"/>
            </a:xfrm>
            <a:prstGeom prst="rect">
              <a:avLst/>
            </a:prstGeom>
          </p:spPr>
          <p:txBody>
            <a:bodyPr lIns="33867" tIns="33867" rIns="33867" bIns="33867" rtlCol="0" anchor="ctr"/>
            <a:lstStyle/>
            <a:p>
              <a:pPr algn="ctr">
                <a:lnSpc>
                  <a:spcPts val="1773"/>
                </a:lnSpc>
              </a:pPr>
              <a:endParaRPr sz="1200"/>
            </a:p>
          </p:txBody>
        </p:sp>
      </p:grpSp>
      <p:sp>
        <p:nvSpPr>
          <p:cNvPr id="32" name="Freeform 32"/>
          <p:cNvSpPr/>
          <p:nvPr/>
        </p:nvSpPr>
        <p:spPr>
          <a:xfrm>
            <a:off x="540118" y="5621317"/>
            <a:ext cx="1454557" cy="515956"/>
          </a:xfrm>
          <a:custGeom>
            <a:avLst/>
            <a:gdLst/>
            <a:ahLst/>
            <a:cxnLst/>
            <a:rect l="l" t="t" r="r" b="b"/>
            <a:pathLst>
              <a:path w="2181836" h="773934">
                <a:moveTo>
                  <a:pt x="0" y="0"/>
                </a:moveTo>
                <a:lnTo>
                  <a:pt x="2181836" y="0"/>
                </a:lnTo>
                <a:lnTo>
                  <a:pt x="2181836" y="773935"/>
                </a:lnTo>
                <a:lnTo>
                  <a:pt x="0" y="773935"/>
                </a:lnTo>
                <a:lnTo>
                  <a:pt x="0" y="0"/>
                </a:lnTo>
                <a:close/>
              </a:path>
            </a:pathLst>
          </a:custGeom>
          <a:blipFill>
            <a:blip r:embed="rId19"/>
            <a:stretch>
              <a:fillRect/>
            </a:stretch>
          </a:blipFill>
        </p:spPr>
        <p:txBody>
          <a:bodyPr/>
          <a:lstStyle/>
          <a:p>
            <a:endParaRPr lang="es-CO" sz="1200"/>
          </a:p>
        </p:txBody>
      </p:sp>
      <p:sp>
        <p:nvSpPr>
          <p:cNvPr id="33" name="Freeform 33"/>
          <p:cNvSpPr/>
          <p:nvPr/>
        </p:nvSpPr>
        <p:spPr>
          <a:xfrm>
            <a:off x="2329031" y="5515725"/>
            <a:ext cx="1040292" cy="727143"/>
          </a:xfrm>
          <a:custGeom>
            <a:avLst/>
            <a:gdLst/>
            <a:ahLst/>
            <a:cxnLst/>
            <a:rect l="l" t="t" r="r" b="b"/>
            <a:pathLst>
              <a:path w="1560438" h="1090714">
                <a:moveTo>
                  <a:pt x="0" y="0"/>
                </a:moveTo>
                <a:lnTo>
                  <a:pt x="1560438" y="0"/>
                </a:lnTo>
                <a:lnTo>
                  <a:pt x="1560438" y="1090714"/>
                </a:lnTo>
                <a:lnTo>
                  <a:pt x="0" y="1090714"/>
                </a:lnTo>
                <a:lnTo>
                  <a:pt x="0" y="0"/>
                </a:lnTo>
                <a:close/>
              </a:path>
            </a:pathLst>
          </a:custGeom>
          <a:blipFill>
            <a:blip r:embed="rId20"/>
            <a:stretch>
              <a:fillRect/>
            </a:stretch>
          </a:blipFill>
        </p:spPr>
        <p:txBody>
          <a:bodyPr/>
          <a:lstStyle/>
          <a:p>
            <a:endParaRPr lang="es-CO" sz="1200"/>
          </a:p>
        </p:txBody>
      </p:sp>
      <p:sp>
        <p:nvSpPr>
          <p:cNvPr id="34" name="Freeform 34"/>
          <p:cNvSpPr/>
          <p:nvPr/>
        </p:nvSpPr>
        <p:spPr>
          <a:xfrm>
            <a:off x="3862535" y="5534105"/>
            <a:ext cx="2181312" cy="690382"/>
          </a:xfrm>
          <a:custGeom>
            <a:avLst/>
            <a:gdLst/>
            <a:ahLst/>
            <a:cxnLst/>
            <a:rect l="l" t="t" r="r" b="b"/>
            <a:pathLst>
              <a:path w="3271968" h="1035573">
                <a:moveTo>
                  <a:pt x="0" y="0"/>
                </a:moveTo>
                <a:lnTo>
                  <a:pt x="3271969" y="0"/>
                </a:lnTo>
                <a:lnTo>
                  <a:pt x="3271969" y="1035573"/>
                </a:lnTo>
                <a:lnTo>
                  <a:pt x="0" y="1035573"/>
                </a:lnTo>
                <a:lnTo>
                  <a:pt x="0" y="0"/>
                </a:lnTo>
                <a:close/>
              </a:path>
            </a:pathLst>
          </a:custGeom>
          <a:blipFill>
            <a:blip r:embed="rId21"/>
            <a:stretch>
              <a:fillRect/>
            </a:stretch>
          </a:blipFill>
        </p:spPr>
        <p:txBody>
          <a:bodyPr/>
          <a:lstStyle/>
          <a:p>
            <a:endParaRPr lang="es-CO" sz="1200"/>
          </a:p>
        </p:txBody>
      </p:sp>
      <p:sp>
        <p:nvSpPr>
          <p:cNvPr id="35" name="Freeform 35"/>
          <p:cNvSpPr/>
          <p:nvPr/>
        </p:nvSpPr>
        <p:spPr>
          <a:xfrm>
            <a:off x="6139585" y="4153421"/>
            <a:ext cx="1590219" cy="973472"/>
          </a:xfrm>
          <a:custGeom>
            <a:avLst/>
            <a:gdLst/>
            <a:ahLst/>
            <a:cxnLst/>
            <a:rect l="l" t="t" r="r" b="b"/>
            <a:pathLst>
              <a:path w="2385329" h="1460208">
                <a:moveTo>
                  <a:pt x="0" y="0"/>
                </a:moveTo>
                <a:lnTo>
                  <a:pt x="2385330" y="0"/>
                </a:lnTo>
                <a:lnTo>
                  <a:pt x="2385330" y="1460208"/>
                </a:lnTo>
                <a:lnTo>
                  <a:pt x="0" y="1460208"/>
                </a:lnTo>
                <a:lnTo>
                  <a:pt x="0" y="0"/>
                </a:lnTo>
                <a:close/>
              </a:path>
            </a:pathLst>
          </a:custGeom>
          <a:blipFill>
            <a:blip r:embed="rId22"/>
            <a:stretch>
              <a:fillRect/>
            </a:stretch>
          </a:blipFill>
        </p:spPr>
        <p:txBody>
          <a:bodyPr/>
          <a:lstStyle/>
          <a:p>
            <a:endParaRPr lang="es-CO" sz="1200"/>
          </a:p>
        </p:txBody>
      </p:sp>
      <p:sp>
        <p:nvSpPr>
          <p:cNvPr id="36" name="Freeform 36"/>
          <p:cNvSpPr/>
          <p:nvPr/>
        </p:nvSpPr>
        <p:spPr>
          <a:xfrm>
            <a:off x="8381520" y="5584146"/>
            <a:ext cx="1348978" cy="740413"/>
          </a:xfrm>
          <a:custGeom>
            <a:avLst/>
            <a:gdLst/>
            <a:ahLst/>
            <a:cxnLst/>
            <a:rect l="l" t="t" r="r" b="b"/>
            <a:pathLst>
              <a:path w="2023467" h="1110620">
                <a:moveTo>
                  <a:pt x="0" y="0"/>
                </a:moveTo>
                <a:lnTo>
                  <a:pt x="2023467" y="0"/>
                </a:lnTo>
                <a:lnTo>
                  <a:pt x="2023467" y="1110619"/>
                </a:lnTo>
                <a:lnTo>
                  <a:pt x="0" y="1110619"/>
                </a:lnTo>
                <a:lnTo>
                  <a:pt x="0" y="0"/>
                </a:lnTo>
                <a:close/>
              </a:path>
            </a:pathLst>
          </a:custGeom>
          <a:blipFill>
            <a:blip r:embed="rId23"/>
            <a:stretch>
              <a:fillRect l="-18827" t="-38338" r="-19342" b="-29485"/>
            </a:stretch>
          </a:blipFill>
        </p:spPr>
        <p:txBody>
          <a:bodyPr/>
          <a:lstStyle/>
          <a:p>
            <a:endParaRPr lang="es-CO" sz="1200"/>
          </a:p>
        </p:txBody>
      </p:sp>
      <p:sp>
        <p:nvSpPr>
          <p:cNvPr id="37" name="Freeform 37"/>
          <p:cNvSpPr/>
          <p:nvPr/>
        </p:nvSpPr>
        <p:spPr>
          <a:xfrm>
            <a:off x="10008066" y="5571105"/>
            <a:ext cx="1881170" cy="706223"/>
          </a:xfrm>
          <a:custGeom>
            <a:avLst/>
            <a:gdLst/>
            <a:ahLst/>
            <a:cxnLst/>
            <a:rect l="l" t="t" r="r" b="b"/>
            <a:pathLst>
              <a:path w="2821755" h="1059334">
                <a:moveTo>
                  <a:pt x="0" y="0"/>
                </a:moveTo>
                <a:lnTo>
                  <a:pt x="2821756" y="0"/>
                </a:lnTo>
                <a:lnTo>
                  <a:pt x="2821756" y="1059334"/>
                </a:lnTo>
                <a:lnTo>
                  <a:pt x="0" y="1059334"/>
                </a:lnTo>
                <a:lnTo>
                  <a:pt x="0" y="0"/>
                </a:lnTo>
                <a:close/>
              </a:path>
            </a:pathLst>
          </a:custGeom>
          <a:blipFill>
            <a:blip r:embed="rId24"/>
            <a:stretch>
              <a:fillRect/>
            </a:stretch>
          </a:blipFill>
        </p:spPr>
        <p:txBody>
          <a:bodyPr/>
          <a:lstStyle/>
          <a:p>
            <a:endParaRPr lang="es-CO" sz="1200"/>
          </a:p>
        </p:txBody>
      </p:sp>
      <p:sp>
        <p:nvSpPr>
          <p:cNvPr id="38" name="Freeform 38"/>
          <p:cNvSpPr/>
          <p:nvPr/>
        </p:nvSpPr>
        <p:spPr>
          <a:xfrm>
            <a:off x="7869666" y="4452486"/>
            <a:ext cx="2251139" cy="453522"/>
          </a:xfrm>
          <a:custGeom>
            <a:avLst/>
            <a:gdLst/>
            <a:ahLst/>
            <a:cxnLst/>
            <a:rect l="l" t="t" r="r" b="b"/>
            <a:pathLst>
              <a:path w="3376709" h="680283">
                <a:moveTo>
                  <a:pt x="0" y="0"/>
                </a:moveTo>
                <a:lnTo>
                  <a:pt x="3376710" y="0"/>
                </a:lnTo>
                <a:lnTo>
                  <a:pt x="3376710" y="680284"/>
                </a:lnTo>
                <a:lnTo>
                  <a:pt x="0" y="680284"/>
                </a:lnTo>
                <a:lnTo>
                  <a:pt x="0" y="0"/>
                </a:lnTo>
                <a:close/>
              </a:path>
            </a:pathLst>
          </a:custGeom>
          <a:blipFill>
            <a:blip r:embed="rId25"/>
            <a:stretch>
              <a:fillRect t="-35761" b="-43105"/>
            </a:stretch>
          </a:blipFill>
        </p:spPr>
        <p:txBody>
          <a:bodyPr/>
          <a:lstStyle/>
          <a:p>
            <a:endParaRPr lang="es-CO" sz="1200"/>
          </a:p>
        </p:txBody>
      </p:sp>
      <p:sp>
        <p:nvSpPr>
          <p:cNvPr id="39" name="TextBox 39"/>
          <p:cNvSpPr txBox="1"/>
          <p:nvPr/>
        </p:nvSpPr>
        <p:spPr>
          <a:xfrm>
            <a:off x="501053" y="963149"/>
            <a:ext cx="6066322" cy="371897"/>
          </a:xfrm>
          <a:prstGeom prst="rect">
            <a:avLst/>
          </a:prstGeom>
        </p:spPr>
        <p:txBody>
          <a:bodyPr lIns="0" tIns="0" rIns="0" bIns="0" rtlCol="0" anchor="t">
            <a:spAutoFit/>
          </a:bodyPr>
          <a:lstStyle/>
          <a:p>
            <a:pPr>
              <a:lnSpc>
                <a:spcPts val="2879"/>
              </a:lnSpc>
            </a:pPr>
            <a:r>
              <a:rPr lang="en-US" sz="2650" b="1" spc="-13" err="1">
                <a:solidFill>
                  <a:srgbClr val="007881"/>
                </a:solidFill>
                <a:latin typeface="Arial Bold"/>
                <a:ea typeface="Arial Bold"/>
                <a:cs typeface="Arial Bold"/>
                <a:sym typeface="Arial Bold"/>
              </a:rPr>
              <a:t>Algunos</a:t>
            </a:r>
            <a:r>
              <a:rPr lang="en-US" sz="2650" b="1" spc="-13">
                <a:solidFill>
                  <a:srgbClr val="007881"/>
                </a:solidFill>
                <a:latin typeface="Arial Bold"/>
                <a:ea typeface="Arial Bold"/>
                <a:cs typeface="Arial Bold"/>
                <a:sym typeface="Arial Bold"/>
              </a:rPr>
              <a:t> de </a:t>
            </a:r>
            <a:r>
              <a:rPr lang="en-US" sz="2650" b="1" spc="-13" err="1">
                <a:solidFill>
                  <a:srgbClr val="007881"/>
                </a:solidFill>
                <a:latin typeface="Arial Bold"/>
                <a:ea typeface="Arial Bold"/>
                <a:cs typeface="Arial Bold"/>
                <a:sym typeface="Arial Bold"/>
              </a:rPr>
              <a:t>los</a:t>
            </a:r>
            <a:r>
              <a:rPr lang="en-US" sz="2650" b="1" spc="-13">
                <a:solidFill>
                  <a:srgbClr val="007881"/>
                </a:solidFill>
                <a:latin typeface="Arial Bold"/>
                <a:ea typeface="Arial Bold"/>
                <a:cs typeface="Arial Bold"/>
                <a:sym typeface="Arial Bold"/>
              </a:rPr>
              <a:t> </a:t>
            </a:r>
            <a:r>
              <a:rPr lang="en-US" sz="2650" b="1" spc="-13" err="1">
                <a:solidFill>
                  <a:srgbClr val="007881"/>
                </a:solidFill>
                <a:latin typeface="Arial Bold"/>
                <a:ea typeface="Arial Bold"/>
                <a:cs typeface="Arial Bold"/>
                <a:sym typeface="Arial Bold"/>
              </a:rPr>
              <a:t>principales</a:t>
            </a:r>
            <a:r>
              <a:rPr lang="en-US" sz="2650" b="1" spc="-13">
                <a:solidFill>
                  <a:srgbClr val="007881"/>
                </a:solidFill>
                <a:latin typeface="Arial Bold"/>
                <a:ea typeface="Arial Bold"/>
                <a:cs typeface="Arial Bold"/>
                <a:sym typeface="Arial Bold"/>
              </a:rPr>
              <a:t> </a:t>
            </a:r>
            <a:r>
              <a:rPr lang="en-US" sz="2650" b="1" spc="-13" err="1">
                <a:solidFill>
                  <a:srgbClr val="007881"/>
                </a:solidFill>
                <a:latin typeface="Arial Bold"/>
                <a:ea typeface="Arial Bold"/>
                <a:cs typeface="Arial Bold"/>
                <a:sym typeface="Arial Bold"/>
              </a:rPr>
              <a:t>Aliados</a:t>
            </a:r>
            <a:endParaRPr lang="en-US" sz="2650" b="1" spc="-13" err="1">
              <a:solidFill>
                <a:srgbClr val="007881"/>
              </a:solidFill>
              <a:latin typeface="Arial Bold"/>
              <a:ea typeface="Arial Bold"/>
              <a:cs typeface="Arial Bold"/>
            </a:endParaRPr>
          </a:p>
        </p:txBody>
      </p:sp>
      <p:pic>
        <p:nvPicPr>
          <p:cNvPr id="44" name="Imagen 43" descr="Five9 Logo PNG Vector (AI) Free Download">
            <a:extLst>
              <a:ext uri="{FF2B5EF4-FFF2-40B4-BE49-F238E27FC236}">
                <a16:creationId xmlns:a16="http://schemas.microsoft.com/office/drawing/2014/main" id="{C6D6B709-D0D5-BE26-1DCB-F999CE3B483A}"/>
              </a:ext>
            </a:extLst>
          </p:cNvPr>
          <p:cNvPicPr>
            <a:picLocks noChangeAspect="1"/>
          </p:cNvPicPr>
          <p:nvPr/>
        </p:nvPicPr>
        <p:blipFill>
          <a:blip r:embed="rId26"/>
          <a:stretch>
            <a:fillRect/>
          </a:stretch>
        </p:blipFill>
        <p:spPr>
          <a:xfrm>
            <a:off x="10339136" y="4248566"/>
            <a:ext cx="1032043" cy="566660"/>
          </a:xfrm>
          <a:prstGeom prst="rect">
            <a:avLst/>
          </a:prstGeom>
        </p:spPr>
      </p:pic>
      <p:pic>
        <p:nvPicPr>
          <p:cNvPr id="45" name="Imagen 44" descr="Archivo:IBM logo.svg - Wikipedia, la enciclopedia libre">
            <a:extLst>
              <a:ext uri="{FF2B5EF4-FFF2-40B4-BE49-F238E27FC236}">
                <a16:creationId xmlns:a16="http://schemas.microsoft.com/office/drawing/2014/main" id="{75AF2E6B-C0D2-78B7-0459-AC7653DEE727}"/>
              </a:ext>
            </a:extLst>
          </p:cNvPr>
          <p:cNvPicPr>
            <a:picLocks noChangeAspect="1"/>
          </p:cNvPicPr>
          <p:nvPr/>
        </p:nvPicPr>
        <p:blipFill>
          <a:blip r:embed="rId27"/>
          <a:stretch>
            <a:fillRect/>
          </a:stretch>
        </p:blipFill>
        <p:spPr>
          <a:xfrm>
            <a:off x="10312399" y="3185547"/>
            <a:ext cx="1259306" cy="473537"/>
          </a:xfrm>
          <a:prstGeom prst="rect">
            <a:avLst/>
          </a:prstGeom>
        </p:spPr>
      </p:pic>
      <p:pic>
        <p:nvPicPr>
          <p:cNvPr id="43" name="Imagen 42" descr="Forma&#10;&#10;Descripción generada automáticamente">
            <a:extLst>
              <a:ext uri="{FF2B5EF4-FFF2-40B4-BE49-F238E27FC236}">
                <a16:creationId xmlns:a16="http://schemas.microsoft.com/office/drawing/2014/main" id="{675A525B-7EF6-3E09-AE1B-E199DA6EE6B6}"/>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10377877" y="416223"/>
            <a:ext cx="1836717" cy="126596"/>
          </a:xfrm>
          <a:prstGeom prst="rect">
            <a:avLst/>
          </a:prstGeom>
        </p:spPr>
      </p:pic>
      <p:pic>
        <p:nvPicPr>
          <p:cNvPr id="46" name="Imagen 45">
            <a:extLst>
              <a:ext uri="{FF2B5EF4-FFF2-40B4-BE49-F238E27FC236}">
                <a16:creationId xmlns:a16="http://schemas.microsoft.com/office/drawing/2014/main" id="{EBCC4746-73A7-1943-E33A-7F9F749CF760}"/>
              </a:ext>
            </a:extLst>
          </p:cNvPr>
          <p:cNvPicPr>
            <a:picLocks noChangeAspect="1"/>
          </p:cNvPicPr>
          <p:nvPr/>
        </p:nvPicPr>
        <p:blipFill>
          <a:blip r:embed="rId29"/>
          <a:stretch>
            <a:fillRect/>
          </a:stretch>
        </p:blipFill>
        <p:spPr>
          <a:xfrm>
            <a:off x="10307918" y="3136"/>
            <a:ext cx="1884082" cy="476385"/>
          </a:xfrm>
          <a:prstGeom prst="rect">
            <a:avLst/>
          </a:prstGeom>
        </p:spPr>
      </p:pic>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descr="Imagen 2"/>
          <p:cNvSpPr/>
          <p:nvPr/>
        </p:nvSpPr>
        <p:spPr>
          <a:xfrm>
            <a:off x="0" y="0"/>
            <a:ext cx="12192000" cy="6858000"/>
          </a:xfrm>
          <a:custGeom>
            <a:avLst/>
            <a:gdLst/>
            <a:ahLst/>
            <a:cxnLst/>
            <a:rect l="l" t="t" r="r" b="b"/>
            <a:pathLst>
              <a:path w="20088241" h="10502096">
                <a:moveTo>
                  <a:pt x="0" y="0"/>
                </a:moveTo>
                <a:lnTo>
                  <a:pt x="20088241" y="0"/>
                </a:lnTo>
                <a:lnTo>
                  <a:pt x="20088241" y="10502096"/>
                </a:lnTo>
                <a:lnTo>
                  <a:pt x="0" y="10502096"/>
                </a:lnTo>
                <a:lnTo>
                  <a:pt x="0" y="0"/>
                </a:lnTo>
                <a:close/>
              </a:path>
            </a:pathLst>
          </a:custGeom>
          <a:blipFill>
            <a:blip r:embed="rId2"/>
            <a:stretch>
              <a:fillRect l="-44" r="-44"/>
            </a:stretch>
          </a:blipFill>
        </p:spPr>
        <p:txBody>
          <a:bodyPr/>
          <a:lstStyle/>
          <a:p>
            <a:endParaRPr lang="es-CO" sz="1200"/>
          </a:p>
        </p:txBody>
      </p:sp>
      <p:sp>
        <p:nvSpPr>
          <p:cNvPr id="3" name="Freeform 3" descr="Gráfico 6"/>
          <p:cNvSpPr/>
          <p:nvPr/>
        </p:nvSpPr>
        <p:spPr>
          <a:xfrm>
            <a:off x="-368110" y="642835"/>
            <a:ext cx="12600000" cy="88119"/>
          </a:xfrm>
          <a:custGeom>
            <a:avLst/>
            <a:gdLst/>
            <a:ahLst/>
            <a:cxnLst/>
            <a:rect l="l" t="t" r="r" b="b"/>
            <a:pathLst>
              <a:path w="18329622" h="132178">
                <a:moveTo>
                  <a:pt x="0" y="0"/>
                </a:moveTo>
                <a:lnTo>
                  <a:pt x="18329621" y="0"/>
                </a:lnTo>
                <a:lnTo>
                  <a:pt x="18329621" y="132178"/>
                </a:lnTo>
                <a:lnTo>
                  <a:pt x="0" y="132178"/>
                </a:lnTo>
                <a:lnTo>
                  <a:pt x="0" y="0"/>
                </a:lnTo>
                <a:close/>
              </a:path>
            </a:pathLst>
          </a:custGeom>
          <a:blipFill>
            <a:blip r:embed="rId3"/>
            <a:stretch>
              <a:fillRect l="-10092" r="-10092"/>
            </a:stretch>
          </a:blipFill>
        </p:spPr>
        <p:txBody>
          <a:bodyPr/>
          <a:lstStyle/>
          <a:p>
            <a:endParaRPr lang="es-CO" sz="1200"/>
          </a:p>
        </p:txBody>
      </p:sp>
      <p:sp>
        <p:nvSpPr>
          <p:cNvPr id="4" name="TextBox 4"/>
          <p:cNvSpPr txBox="1"/>
          <p:nvPr/>
        </p:nvSpPr>
        <p:spPr>
          <a:xfrm>
            <a:off x="2176" y="68934"/>
            <a:ext cx="5368009" cy="240387"/>
          </a:xfrm>
          <a:prstGeom prst="rect">
            <a:avLst/>
          </a:prstGeom>
        </p:spPr>
        <p:txBody>
          <a:bodyPr lIns="0" tIns="0" rIns="0" bIns="0" rtlCol="0" anchor="t">
            <a:spAutoFit/>
          </a:bodyPr>
          <a:lstStyle/>
          <a:p>
            <a:pPr algn="ctr">
              <a:lnSpc>
                <a:spcPts val="1973"/>
              </a:lnSpc>
            </a:pPr>
            <a:r>
              <a:rPr lang="en-US" sz="1645" spc="-5">
                <a:solidFill>
                  <a:srgbClr val="DBDBDB"/>
                </a:solidFill>
                <a:latin typeface="Arial"/>
                <a:ea typeface="Arial"/>
                <a:cs typeface="Arial"/>
                <a:sym typeface="Arial"/>
              </a:rPr>
              <a:t>SOLUCIONES DE TRANSFORMACIÓN DIGITAL</a:t>
            </a:r>
          </a:p>
        </p:txBody>
      </p:sp>
      <p:sp>
        <p:nvSpPr>
          <p:cNvPr id="7" name="TextBox 7"/>
          <p:cNvSpPr txBox="1"/>
          <p:nvPr/>
        </p:nvSpPr>
        <p:spPr>
          <a:xfrm>
            <a:off x="1117117" y="5518006"/>
            <a:ext cx="5215543" cy="474489"/>
          </a:xfrm>
          <a:prstGeom prst="rect">
            <a:avLst/>
          </a:prstGeom>
        </p:spPr>
        <p:txBody>
          <a:bodyPr lIns="0" tIns="0" rIns="0" bIns="0" rtlCol="0" anchor="t">
            <a:spAutoFit/>
          </a:bodyPr>
          <a:lstStyle/>
          <a:p>
            <a:pPr algn="ctr">
              <a:lnSpc>
                <a:spcPts val="3720"/>
              </a:lnSpc>
            </a:pPr>
            <a:r>
              <a:rPr lang="en-US" sz="3334" b="1">
                <a:solidFill>
                  <a:srgbClr val="FFFFFF"/>
                </a:solidFill>
                <a:latin typeface="Arial Bold"/>
                <a:ea typeface="Arial Bold"/>
                <a:cs typeface="Arial Bold"/>
                <a:sym typeface="Arial Bold"/>
              </a:rPr>
              <a:t>GRACIAS</a:t>
            </a:r>
          </a:p>
        </p:txBody>
      </p:sp>
      <p:pic>
        <p:nvPicPr>
          <p:cNvPr id="8" name="Imagen 7" descr="Texto&#10;&#10;Descripción generada automáticamente">
            <a:extLst>
              <a:ext uri="{FF2B5EF4-FFF2-40B4-BE49-F238E27FC236}">
                <a16:creationId xmlns:a16="http://schemas.microsoft.com/office/drawing/2014/main" id="{D7F43AD0-CF06-D20B-A57C-E4DAACE13D2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51985" y="6287589"/>
            <a:ext cx="2025780" cy="548790"/>
          </a:xfrm>
          <a:prstGeom prst="rect">
            <a:avLst/>
          </a:prstGeom>
        </p:spPr>
      </p:pic>
    </p:spTree>
  </p:cSld>
  <p:clrMapOvr>
    <a:masterClrMapping/>
  </p:clrMapOvr>
  <p:transition>
    <p:fade/>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49e4846-88cf-4894-bf06-ac98d70f27be}" enabled="1" method="Privileged" siteId="{5fd5460a-b425-49de-9bd0-fcd26270d30c}" removed="0"/>
</clbl:labelList>
</file>

<file path=docProps/app.xml><?xml version="1.0" encoding="utf-8"?>
<Properties xmlns="http://schemas.openxmlformats.org/officeDocument/2006/extended-properties" xmlns:vt="http://schemas.openxmlformats.org/officeDocument/2006/docPropsVTypes">
  <TotalTime>595</TotalTime>
  <Words>1736</Words>
  <Application>Microsoft Office PowerPoint</Application>
  <PresentationFormat>Panorámica</PresentationFormat>
  <Paragraphs>189</Paragraphs>
  <Slides>16</Slides>
  <Notes>1</Notes>
  <HiddenSlides>0</HiddenSlides>
  <MMClips>0</MMClips>
  <ScaleCrop>false</ScaleCrop>
  <HeadingPairs>
    <vt:vector size="6" baseType="variant">
      <vt:variant>
        <vt:lpstr>Fuentes usadas</vt:lpstr>
      </vt:variant>
      <vt:variant>
        <vt:i4>11</vt:i4>
      </vt:variant>
      <vt:variant>
        <vt:lpstr>Tema</vt:lpstr>
      </vt:variant>
      <vt:variant>
        <vt:i4>1</vt:i4>
      </vt:variant>
      <vt:variant>
        <vt:lpstr>Títulos de diapositiva</vt:lpstr>
      </vt:variant>
      <vt:variant>
        <vt:i4>16</vt:i4>
      </vt:variant>
    </vt:vector>
  </HeadingPairs>
  <TitlesOfParts>
    <vt:vector size="28" baseType="lpstr">
      <vt:lpstr>Aptos</vt:lpstr>
      <vt:lpstr>Aptos Display</vt:lpstr>
      <vt:lpstr>Arial</vt:lpstr>
      <vt:lpstr>Arial Black</vt:lpstr>
      <vt:lpstr>Arial Bold</vt:lpstr>
      <vt:lpstr>Canva Sans Bold</vt:lpstr>
      <vt:lpstr>Century Gothic</vt:lpstr>
      <vt:lpstr>Montserrat</vt:lpstr>
      <vt:lpstr>Symbol</vt:lpstr>
      <vt:lpstr>TT Rounds Condensed</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Camilo Andres Ruiz Martinez</dc:creator>
  <cp:lastModifiedBy>Andres Felipe Lara Duran</cp:lastModifiedBy>
  <cp:revision>4</cp:revision>
  <dcterms:created xsi:type="dcterms:W3CDTF">2024-11-08T22:32:50Z</dcterms:created>
  <dcterms:modified xsi:type="dcterms:W3CDTF">2026-02-02T22:23:41Z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49e4846-88cf-4894-bf06-ac98d70f27be_Enabled">
    <vt:lpwstr>true</vt:lpwstr>
  </property>
  <property fmtid="{D5CDD505-2E9C-101B-9397-08002B2CF9AE}" pid="3" name="MSIP_Label_349e4846-88cf-4894-bf06-ac98d70f27be_SetDate">
    <vt:lpwstr>2024-11-08T22:33:35Z</vt:lpwstr>
  </property>
  <property fmtid="{D5CDD505-2E9C-101B-9397-08002B2CF9AE}" pid="4" name="MSIP_Label_349e4846-88cf-4894-bf06-ac98d70f27be_Method">
    <vt:lpwstr>Privileged</vt:lpwstr>
  </property>
  <property fmtid="{D5CDD505-2E9C-101B-9397-08002B2CF9AE}" pid="5" name="MSIP_Label_349e4846-88cf-4894-bf06-ac98d70f27be_Name">
    <vt:lpwstr>Pública</vt:lpwstr>
  </property>
  <property fmtid="{D5CDD505-2E9C-101B-9397-08002B2CF9AE}" pid="6" name="MSIP_Label_349e4846-88cf-4894-bf06-ac98d70f27be_SiteId">
    <vt:lpwstr>5fd5460a-b425-49de-9bd0-fcd26270d30c</vt:lpwstr>
  </property>
  <property fmtid="{D5CDD505-2E9C-101B-9397-08002B2CF9AE}" pid="7" name="MSIP_Label_349e4846-88cf-4894-bf06-ac98d70f27be_ActionId">
    <vt:lpwstr>7a8ccbb9-c616-4469-97b9-6992871addbd</vt:lpwstr>
  </property>
  <property fmtid="{D5CDD505-2E9C-101B-9397-08002B2CF9AE}" pid="8" name="MSIP_Label_349e4846-88cf-4894-bf06-ac98d70f27be_ContentBits">
    <vt:lpwstr>0</vt:lpwstr>
  </property>
</Properties>
</file>