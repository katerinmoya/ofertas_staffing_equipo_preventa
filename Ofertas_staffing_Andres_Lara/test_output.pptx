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15.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7.svg" ContentType="image/svg+xml"/>
  <Override PartName="/ppt/media/image41.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147470967" r:id="rId3"/>
    <p:sldId id="258" r:id="rId4"/>
    <p:sldId id="259" r:id="rId5"/>
    <p:sldId id="260" r:id="rId6"/>
    <p:sldId id="261" r:id="rId7"/>
    <p:sldId id="262" r:id="rId8"/>
    <p:sldId id="2147470880" r:id="rId9"/>
    <p:sldId id="2147470985" r:id="rId10"/>
    <p:sldId id="2147470986" r:id="rId11"/>
    <p:sldId id="2147470980" r:id="rId12"/>
    <p:sldId id="283" r:id="rId13"/>
    <p:sldId id="287" r:id="rId14"/>
    <p:sldId id="288" r:id="rId15"/>
    <p:sldId id="265" r:id="rId16"/>
    <p:sldId id="266"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5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839A0-E0C7-4D33-9285-9C5E9EC2744D}" v="30" dt="2026-02-02T22:22:59.9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Felipe Lara Duran" userId="e94cf2f6-97e0-44e5-9621-bd4ba960640e" providerId="ADAL" clId="{A6BE1491-AFEC-4DE2-9F9B-08CF916157F5}"/>
    <pc:docChg chg="undo custSel modSld">
      <pc:chgData name="Andres Felipe Lara Duran" userId="e94cf2f6-97e0-44e5-9621-bd4ba960640e" providerId="ADAL" clId="{A6BE1491-AFEC-4DE2-9F9B-08CF916157F5}" dt="2026-02-02T22:23:39.303" v="1405" actId="20577"/>
      <pc:docMkLst>
        <pc:docMk/>
      </pc:docMkLst>
      <pc:sldChg chg="addSp delSp modSp mod">
        <pc:chgData name="Andres Felipe Lara Duran" userId="e94cf2f6-97e0-44e5-9621-bd4ba960640e" providerId="ADAL" clId="{A6BE1491-AFEC-4DE2-9F9B-08CF916157F5}" dt="2026-02-02T16:44:51.465" v="46" actId="20577"/>
        <pc:sldMkLst>
          <pc:docMk/>
          <pc:sldMk cId="0" sldId="256"/>
        </pc:sldMkLst>
        <pc:spChg chg="mod">
          <ac:chgData name="Andres Felipe Lara Duran" userId="e94cf2f6-97e0-44e5-9621-bd4ba960640e" providerId="ADAL" clId="{A6BE1491-AFEC-4DE2-9F9B-08CF916157F5}" dt="2026-02-02T16:44:51.465" v="46" actId="20577"/>
          <ac:spMkLst>
            <pc:docMk/>
            <pc:sldMk cId="0" sldId="256"/>
            <ac:spMk id="11" creationId="{CF949063-7485-9806-82B9-42DC44709799}"/>
          </ac:spMkLst>
        </pc:spChg>
        <pc:picChg chg="del">
          <ac:chgData name="Andres Felipe Lara Duran" userId="e94cf2f6-97e0-44e5-9621-bd4ba960640e" providerId="ADAL" clId="{A6BE1491-AFEC-4DE2-9F9B-08CF916157F5}" dt="2026-02-02T16:40:30.049" v="0" actId="478"/>
          <ac:picMkLst>
            <pc:docMk/>
            <pc:sldMk cId="0" sldId="256"/>
            <ac:picMk id="12" creationId="{845AD206-96DD-D29F-3C85-0FF61C05DF83}"/>
          </ac:picMkLst>
        </pc:picChg>
        <pc:picChg chg="add mod">
          <ac:chgData name="Andres Felipe Lara Duran" userId="e94cf2f6-97e0-44e5-9621-bd4ba960640e" providerId="ADAL" clId="{A6BE1491-AFEC-4DE2-9F9B-08CF916157F5}" dt="2026-02-02T16:42:34.506" v="4" actId="1076"/>
          <ac:picMkLst>
            <pc:docMk/>
            <pc:sldMk cId="0" sldId="256"/>
            <ac:picMk id="1026" creationId="{12AB9937-8EFB-0487-0236-9AB82D51A42C}"/>
          </ac:picMkLst>
        </pc:picChg>
      </pc:sldChg>
      <pc:sldChg chg="modSp">
        <pc:chgData name="Andres Felipe Lara Duran" userId="e94cf2f6-97e0-44e5-9621-bd4ba960640e" providerId="ADAL" clId="{A6BE1491-AFEC-4DE2-9F9B-08CF916157F5}" dt="2026-02-02T18:02:09.677" v="1102"/>
        <pc:sldMkLst>
          <pc:docMk/>
          <pc:sldMk cId="1985589952" sldId="283"/>
        </pc:sldMkLst>
        <pc:spChg chg="mod">
          <ac:chgData name="Andres Felipe Lara Duran" userId="e94cf2f6-97e0-44e5-9621-bd4ba960640e" providerId="ADAL" clId="{A6BE1491-AFEC-4DE2-9F9B-08CF916157F5}" dt="2026-02-02T18:02:09.677" v="1102"/>
          <ac:spMkLst>
            <pc:docMk/>
            <pc:sldMk cId="1985589952" sldId="283"/>
            <ac:spMk id="2" creationId="{F6436C8D-714C-FD4E-3D9F-60B5D1038406}"/>
          </ac:spMkLst>
        </pc:spChg>
      </pc:sldChg>
      <pc:sldChg chg="addSp delSp modSp mod">
        <pc:chgData name="Andres Felipe Lara Duran" userId="e94cf2f6-97e0-44e5-9621-bd4ba960640e" providerId="ADAL" clId="{A6BE1491-AFEC-4DE2-9F9B-08CF916157F5}" dt="2026-02-02T22:23:39.303" v="1405" actId="20577"/>
        <pc:sldMkLst>
          <pc:docMk/>
          <pc:sldMk cId="1300835553" sldId="287"/>
        </pc:sldMkLst>
        <pc:spChg chg="mod">
          <ac:chgData name="Andres Felipe Lara Duran" userId="e94cf2f6-97e0-44e5-9621-bd4ba960640e" providerId="ADAL" clId="{A6BE1491-AFEC-4DE2-9F9B-08CF916157F5}" dt="2026-02-02T18:07:21.241" v="1135" actId="20577"/>
          <ac:spMkLst>
            <pc:docMk/>
            <pc:sldMk cId="1300835553" sldId="287"/>
            <ac:spMk id="5" creationId="{D62EF3D7-2D8E-37D8-00C6-A3584E9099B1}"/>
          </ac:spMkLst>
        </pc:spChg>
        <pc:graphicFrameChg chg="add mod modGraphic">
          <ac:chgData name="Andres Felipe Lara Duran" userId="e94cf2f6-97e0-44e5-9621-bd4ba960640e" providerId="ADAL" clId="{A6BE1491-AFEC-4DE2-9F9B-08CF916157F5}" dt="2026-02-02T22:23:39.303" v="1405" actId="20577"/>
          <ac:graphicFrameMkLst>
            <pc:docMk/>
            <pc:sldMk cId="1300835553" sldId="287"/>
            <ac:graphicFrameMk id="2" creationId="{EAE83608-0CFB-EC94-3F45-647449B97AF1}"/>
          </ac:graphicFrameMkLst>
        </pc:graphicFrameChg>
        <pc:picChg chg="del mod">
          <ac:chgData name="Andres Felipe Lara Duran" userId="e94cf2f6-97e0-44e5-9621-bd4ba960640e" providerId="ADAL" clId="{A6BE1491-AFEC-4DE2-9F9B-08CF916157F5}" dt="2026-02-02T18:20:22.849" v="1308" actId="478"/>
          <ac:picMkLst>
            <pc:docMk/>
            <pc:sldMk cId="1300835553" sldId="287"/>
            <ac:picMk id="3" creationId="{6792B021-0169-7223-2177-997890361133}"/>
          </ac:picMkLst>
        </pc:picChg>
      </pc:sldChg>
      <pc:sldChg chg="modSp">
        <pc:chgData name="Andres Felipe Lara Duran" userId="e94cf2f6-97e0-44e5-9621-bd4ba960640e" providerId="ADAL" clId="{A6BE1491-AFEC-4DE2-9F9B-08CF916157F5}" dt="2026-02-02T18:02:09.677" v="1102"/>
        <pc:sldMkLst>
          <pc:docMk/>
          <pc:sldMk cId="2656663507" sldId="288"/>
        </pc:sldMkLst>
        <pc:spChg chg="mod">
          <ac:chgData name="Andres Felipe Lara Duran" userId="e94cf2f6-97e0-44e5-9621-bd4ba960640e" providerId="ADAL" clId="{A6BE1491-AFEC-4DE2-9F9B-08CF916157F5}" dt="2026-02-02T18:02:09.677" v="1102"/>
          <ac:spMkLst>
            <pc:docMk/>
            <pc:sldMk cId="2656663507" sldId="288"/>
            <ac:spMk id="474" creationId="{00000000-0000-0000-0000-000000000000}"/>
          </ac:spMkLst>
        </pc:spChg>
      </pc:sldChg>
      <pc:sldChg chg="modSp mod">
        <pc:chgData name="Andres Felipe Lara Duran" userId="e94cf2f6-97e0-44e5-9621-bd4ba960640e" providerId="ADAL" clId="{A6BE1491-AFEC-4DE2-9F9B-08CF916157F5}" dt="2026-02-02T18:00:00.067" v="1036" actId="20577"/>
        <pc:sldMkLst>
          <pc:docMk/>
          <pc:sldMk cId="1085074409" sldId="2147470980"/>
        </pc:sldMkLst>
        <pc:spChg chg="mod">
          <ac:chgData name="Andres Felipe Lara Duran" userId="e94cf2f6-97e0-44e5-9621-bd4ba960640e" providerId="ADAL" clId="{A6BE1491-AFEC-4DE2-9F9B-08CF916157F5}" dt="2026-02-02T18:00:00.067" v="1036" actId="20577"/>
          <ac:spMkLst>
            <pc:docMk/>
            <pc:sldMk cId="1085074409" sldId="2147470980"/>
            <ac:spMk id="3" creationId="{8160A746-65FA-E650-50DE-5B795A1BB081}"/>
          </ac:spMkLst>
        </pc:spChg>
      </pc:sldChg>
      <pc:sldChg chg="addSp delSp modSp mod">
        <pc:chgData name="Andres Felipe Lara Duran" userId="e94cf2f6-97e0-44e5-9621-bd4ba960640e" providerId="ADAL" clId="{A6BE1491-AFEC-4DE2-9F9B-08CF916157F5}" dt="2026-02-02T17:41:15.552" v="863" actId="20577"/>
        <pc:sldMkLst>
          <pc:docMk/>
          <pc:sldMk cId="3872538693" sldId="2147470985"/>
        </pc:sldMkLst>
        <pc:spChg chg="add del mod">
          <ac:chgData name="Andres Felipe Lara Duran" userId="e94cf2f6-97e0-44e5-9621-bd4ba960640e" providerId="ADAL" clId="{A6BE1491-AFEC-4DE2-9F9B-08CF916157F5}" dt="2026-02-02T17:40:34.210" v="817" actId="478"/>
          <ac:spMkLst>
            <pc:docMk/>
            <pc:sldMk cId="3872538693" sldId="2147470985"/>
            <ac:spMk id="3" creationId="{865324F4-A621-D3D3-8AA3-A6C394AC55A7}"/>
          </ac:spMkLst>
        </pc:spChg>
        <pc:spChg chg="mod">
          <ac:chgData name="Andres Felipe Lara Duran" userId="e94cf2f6-97e0-44e5-9621-bd4ba960640e" providerId="ADAL" clId="{A6BE1491-AFEC-4DE2-9F9B-08CF916157F5}" dt="2026-02-02T16:47:28.785" v="88" actId="20577"/>
          <ac:spMkLst>
            <pc:docMk/>
            <pc:sldMk cId="3872538693" sldId="2147470985"/>
            <ac:spMk id="6" creationId="{75A1B2D9-DC3B-515B-87A5-2440CE248DE2}"/>
          </ac:spMkLst>
        </pc:spChg>
        <pc:spChg chg="mod">
          <ac:chgData name="Andres Felipe Lara Duran" userId="e94cf2f6-97e0-44e5-9621-bd4ba960640e" providerId="ADAL" clId="{A6BE1491-AFEC-4DE2-9F9B-08CF916157F5}" dt="2026-02-02T17:40:47.648" v="819" actId="1076"/>
          <ac:spMkLst>
            <pc:docMk/>
            <pc:sldMk cId="3872538693" sldId="2147470985"/>
            <ac:spMk id="12" creationId="{E90C77A2-D717-A02A-F5C0-95FDBAEA4ACB}"/>
          </ac:spMkLst>
        </pc:spChg>
        <pc:spChg chg="mod">
          <ac:chgData name="Andres Felipe Lara Duran" userId="e94cf2f6-97e0-44e5-9621-bd4ba960640e" providerId="ADAL" clId="{A6BE1491-AFEC-4DE2-9F9B-08CF916157F5}" dt="2026-02-02T17:41:15.552" v="863" actId="20577"/>
          <ac:spMkLst>
            <pc:docMk/>
            <pc:sldMk cId="3872538693" sldId="2147470985"/>
            <ac:spMk id="19" creationId="{97D68A57-2A49-5367-5E67-74FC15FFFB77}"/>
          </ac:spMkLst>
        </pc:spChg>
        <pc:spChg chg="mod">
          <ac:chgData name="Andres Felipe Lara Duran" userId="e94cf2f6-97e0-44e5-9621-bd4ba960640e" providerId="ADAL" clId="{A6BE1491-AFEC-4DE2-9F9B-08CF916157F5}" dt="2026-02-02T17:32:30.219" v="479" actId="1076"/>
          <ac:spMkLst>
            <pc:docMk/>
            <pc:sldMk cId="3872538693" sldId="2147470985"/>
            <ac:spMk id="476" creationId="{4A62481D-F2BC-C3C7-A2B5-5C3940C7F2EA}"/>
          </ac:spMkLst>
        </pc:spChg>
      </pc:sldChg>
      <pc:sldChg chg="addSp modSp mod">
        <pc:chgData name="Andres Felipe Lara Duran" userId="e94cf2f6-97e0-44e5-9621-bd4ba960640e" providerId="ADAL" clId="{A6BE1491-AFEC-4DE2-9F9B-08CF916157F5}" dt="2026-02-02T18:01:23.457" v="1101" actId="1035"/>
        <pc:sldMkLst>
          <pc:docMk/>
          <pc:sldMk cId="871233446" sldId="2147470986"/>
        </pc:sldMkLst>
        <pc:spChg chg="add mod">
          <ac:chgData name="Andres Felipe Lara Duran" userId="e94cf2f6-97e0-44e5-9621-bd4ba960640e" providerId="ADAL" clId="{A6BE1491-AFEC-4DE2-9F9B-08CF916157F5}" dt="2026-02-02T18:00:59.451" v="1095" actId="14100"/>
          <ac:spMkLst>
            <pc:docMk/>
            <pc:sldMk cId="871233446" sldId="2147470986"/>
            <ac:spMk id="3" creationId="{D41290DE-A501-40B9-CC3A-E95C7AD88D77}"/>
          </ac:spMkLst>
        </pc:spChg>
        <pc:spChg chg="add mod">
          <ac:chgData name="Andres Felipe Lara Duran" userId="e94cf2f6-97e0-44e5-9621-bd4ba960640e" providerId="ADAL" clId="{A6BE1491-AFEC-4DE2-9F9B-08CF916157F5}" dt="2026-02-02T18:00:59.451" v="1095" actId="14100"/>
          <ac:spMkLst>
            <pc:docMk/>
            <pc:sldMk cId="871233446" sldId="2147470986"/>
            <ac:spMk id="4" creationId="{2485EF9C-59F8-2578-D39D-2D7A903AF4AE}"/>
          </ac:spMkLst>
        </pc:spChg>
        <pc:spChg chg="mod">
          <ac:chgData name="Andres Felipe Lara Duran" userId="e94cf2f6-97e0-44e5-9621-bd4ba960640e" providerId="ADAL" clId="{A6BE1491-AFEC-4DE2-9F9B-08CF916157F5}" dt="2026-02-02T18:01:14.162" v="1096" actId="14100"/>
          <ac:spMkLst>
            <pc:docMk/>
            <pc:sldMk cId="871233446" sldId="2147470986"/>
            <ac:spMk id="5" creationId="{81188510-62DD-3A1C-3889-709295D74A42}"/>
          </ac:spMkLst>
        </pc:spChg>
        <pc:spChg chg="add">
          <ac:chgData name="Andres Felipe Lara Duran" userId="e94cf2f6-97e0-44e5-9621-bd4ba960640e" providerId="ADAL" clId="{A6BE1491-AFEC-4DE2-9F9B-08CF916157F5}" dt="2026-02-02T17:47:33.200" v="881"/>
          <ac:spMkLst>
            <pc:docMk/>
            <pc:sldMk cId="871233446" sldId="2147470986"/>
            <ac:spMk id="6" creationId="{F2BDF4B8-269F-666D-6BBB-9003D7260229}"/>
          </ac:spMkLst>
        </pc:spChg>
        <pc:spChg chg="add">
          <ac:chgData name="Andres Felipe Lara Duran" userId="e94cf2f6-97e0-44e5-9621-bd4ba960640e" providerId="ADAL" clId="{A6BE1491-AFEC-4DE2-9F9B-08CF916157F5}" dt="2026-02-02T17:47:46.596" v="883"/>
          <ac:spMkLst>
            <pc:docMk/>
            <pc:sldMk cId="871233446" sldId="2147470986"/>
            <ac:spMk id="7" creationId="{3696A780-9515-4253-C340-291303EEB52C}"/>
          </ac:spMkLst>
        </pc:spChg>
        <pc:spChg chg="mod">
          <ac:chgData name="Andres Felipe Lara Duran" userId="e94cf2f6-97e0-44e5-9621-bd4ba960640e" providerId="ADAL" clId="{A6BE1491-AFEC-4DE2-9F9B-08CF916157F5}" dt="2026-02-02T18:01:23.457" v="1101" actId="1035"/>
          <ac:spMkLst>
            <pc:docMk/>
            <pc:sldMk cId="871233446" sldId="2147470986"/>
            <ac:spMk id="19" creationId="{50C170F4-D961-E415-61AF-34E1A4A5F7F8}"/>
          </ac:spMkLst>
        </pc:spChg>
        <pc:spChg chg="mod">
          <ac:chgData name="Andres Felipe Lara Duran" userId="e94cf2f6-97e0-44e5-9621-bd4ba960640e" providerId="ADAL" clId="{A6BE1491-AFEC-4DE2-9F9B-08CF916157F5}" dt="2026-02-02T18:00:37.852" v="1060" actId="1035"/>
          <ac:spMkLst>
            <pc:docMk/>
            <pc:sldMk cId="871233446" sldId="2147470986"/>
            <ac:spMk id="476" creationId="{A67EA3DB-285C-B26B-B9F3-F0226ABB5004}"/>
          </ac:spMkLst>
        </pc:spChg>
        <pc:spChg chg="mod">
          <ac:chgData name="Andres Felipe Lara Duran" userId="e94cf2f6-97e0-44e5-9621-bd4ba960640e" providerId="ADAL" clId="{A6BE1491-AFEC-4DE2-9F9B-08CF916157F5}" dt="2026-02-02T18:01:23.457" v="1101" actId="1035"/>
          <ac:spMkLst>
            <pc:docMk/>
            <pc:sldMk cId="871233446" sldId="2147470986"/>
            <ac:spMk id="481" creationId="{C49B8395-8F6B-7787-8124-E01E61CE10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30D3A-6AAB-4EF8-B5E3-09EC7B3D8F9D}" type="datetimeFigureOut">
              <a:rPr lang="es-CO" smtClean="0"/>
              <a:t>2/02/2026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64704F-77BF-4CB9-9857-19FB428383F9}" type="slidenum">
              <a:rPr lang="es-CO" smtClean="0"/>
              <a:t>‹Nº›</a:t>
            </a:fld>
            <a:endParaRPr lang="es-CO"/>
          </a:p>
        </p:txBody>
      </p:sp>
    </p:spTree>
    <p:extLst>
      <p:ext uri="{BB962C8B-B14F-4D97-AF65-F5344CB8AC3E}">
        <p14:creationId xmlns:p14="http://schemas.microsoft.com/office/powerpoint/2010/main" val="410511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txBody>
          <a:bodyPr/>
          <a:lstStyle/>
          <a:p>
            <a:endParaRPr lang="es-CO"/>
          </a:p>
        </p:txBody>
      </p:sp>
      <p:sp>
        <p:nvSpPr>
          <p:cNvPr id="3" name="Marcador de notas 2"/>
          <p:cNvSpPr>
            <a:spLocks noGrp="1"/>
          </p:cNvSpPr>
          <p:nvPr>
            <p:ph type="body" idx="1"/>
          </p:nvPr>
        </p:nvSpPr>
        <p:spPr/>
        <p:txBody>
          <a:bodyPr/>
          <a:lstStyle/>
          <a:p>
            <a:r>
              <a:rPr lang="es-ES"/>
              <a:t>15%    -   19,5%</a:t>
            </a:r>
            <a:endParaRPr lang="es-CO"/>
          </a:p>
        </p:txBody>
      </p:sp>
    </p:spTree>
    <p:extLst>
      <p:ext uri="{BB962C8B-B14F-4D97-AF65-F5344CB8AC3E}">
        <p14:creationId xmlns:p14="http://schemas.microsoft.com/office/powerpoint/2010/main" val="1805502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F5F0B8-51E7-09F6-BFE9-41B2069F942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98FCC53C-87DA-70D0-5F7B-8D5DFD3ADD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370D36B5-AD41-8DBE-61B1-C205223015B3}"/>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1DB051AE-E82D-85FC-1D28-80F1A1E4907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D83863F-237D-26A4-FE9D-9202C18C9D37}"/>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939492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7DEE2-5ED4-0BDF-1C3F-FB3355702A4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6A571F6-F9F6-4625-66B8-54AE4A9AC84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6EC5DD-C056-1C64-68CA-958B5F2226F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F7201DBD-B96D-28EC-D409-28916920504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3976EC-6D2F-1C4D-89FD-877026FBA27B}"/>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4096747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561DD4-7611-A722-10AD-9D4BDBABC55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EA24AE4-2A0C-A5A3-28AD-E90416074D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8D63F96-2EC7-1D05-7A0B-A29118A4C4C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2F784177-021B-687B-A311-579BFC67016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DCD3F47-BB78-0556-88D5-45241167968D}"/>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221458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FD0611-69DE-7775-5237-96C12A0171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58AD28A-90BF-1DBD-B2D4-F12744ACF63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FBA410EC-089E-42AB-B48D-18F9229EE8A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78777FB-DF9F-15C8-B80A-F39B68523DBF}"/>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08F9C016-31E8-23B8-1988-03CEF3C95C1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FD39CD4-5D66-8E48-5D7D-D1069FAE7B9E}"/>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0606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735D7-7E0B-0EC6-DD69-74A0D889A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3547AE-BAD7-7C09-B99D-E9028DFF78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70E158B-143A-2FD3-6A35-F536EB7EDB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C7F58EA-75D8-0665-6BF2-E575DBC5F9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DF74262-2392-220E-4807-7100C303E03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AEA9B53-B5C6-D913-DB5F-558215FA5CE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8" name="Marcador de pie de página 7">
            <a:extLst>
              <a:ext uri="{FF2B5EF4-FFF2-40B4-BE49-F238E27FC236}">
                <a16:creationId xmlns:a16="http://schemas.microsoft.com/office/drawing/2014/main" id="{BCEAFB85-E39D-EB91-732A-503BBE35B06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84D163C-4DB8-F5A1-2257-D61F2D280D89}"/>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019605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D01AF4-C243-B2D4-44BE-8909797B12E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571DCC-77F1-2E2F-CFFF-467310D25D54}"/>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4" name="Marcador de pie de página 3">
            <a:extLst>
              <a:ext uri="{FF2B5EF4-FFF2-40B4-BE49-F238E27FC236}">
                <a16:creationId xmlns:a16="http://schemas.microsoft.com/office/drawing/2014/main" id="{51A68829-7A87-7CA3-5EF7-61A651C5146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7DB97B2-06BF-F271-82E2-A4C8ED515462}"/>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05536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B4B46E9-D5F6-684E-105F-89985F26B85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3" name="Marcador de pie de página 2">
            <a:extLst>
              <a:ext uri="{FF2B5EF4-FFF2-40B4-BE49-F238E27FC236}">
                <a16:creationId xmlns:a16="http://schemas.microsoft.com/office/drawing/2014/main" id="{32F14F20-D018-690C-BDE1-EC8C1641825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8714A24A-DB20-E159-FC88-FBC69D25D335}"/>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390075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75FF43-3E2D-1D00-B9AF-3527E1C1E30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7A6CE2F-3410-68E4-B4DF-75600F8A3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79701AB-3BDA-979B-3E44-9B343C785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30A6C2A-B023-64E3-AD8A-816706A28240}"/>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DADE10AF-FFBF-F94E-4EAF-F95C046E3CE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C6D86A3-64BC-2989-7432-BBA79320B078}"/>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26188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AA227F-50AE-03AF-9180-49FCF8B574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ED16946-3135-405C-064D-CEB3F035B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189F45B-6969-59E4-EDEC-98509140B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017473-BBC1-26A5-12D4-6B9F9BB2689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80CF4FC4-2C58-A7AF-BA3E-B222015A4F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6D912D5-9926-938E-6B1D-16A875E25A7A}"/>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424801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D59929-8D2C-FC8A-7245-0592CBC0AFE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EBB0A97-837C-07B2-11A1-57AAB1D594C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F339F42-A4DB-0B78-5C95-A2AA28A62427}"/>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8FF98BDE-20BC-391F-09D9-3763A18A62B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D63388-F1B6-9DAC-22A2-FAEFEC631D60}"/>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1893444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E62B08D-23E3-9AF8-C2C8-AD059561371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C89D541-7FD2-1699-55F0-03C68D9E04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5EEFE96-4C9C-D97C-C2D4-1B73F4089C10}"/>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3032119B-1B61-4160-9052-CE440F4EFC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F53B4D4-1923-7302-008E-C5DB4E76A19E}"/>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19189240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C4893A6-86A2-0CAF-B433-53421D483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0DD60B-61BD-34EF-36E4-85641EEA29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568DC53-3EC9-C045-B285-3A388754C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EFFC631D-45A1-707A-C68A-473229FF3E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3EF985B-80A4-6086-96A6-32816F5D30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D27101-C6CF-4305-96C1-2A4E1B8F7EB5}" type="slidenum">
              <a:rPr lang="es-CO" smtClean="0"/>
              <a:t>‹Nº›</a:t>
            </a:fld>
            <a:endParaRPr lang="es-CO"/>
          </a:p>
        </p:txBody>
      </p:sp>
    </p:spTree>
    <p:extLst>
      <p:ext uri="{BB962C8B-B14F-4D97-AF65-F5344CB8AC3E}">
        <p14:creationId xmlns:p14="http://schemas.microsoft.com/office/powerpoint/2010/main" val="699274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 Id="rId12" Type="http://schemas.openxmlformats.org/officeDocument/2006/relationships/image" Target="../media/image14.png"/><Relationship Id="rId13" Type="http://schemas.openxmlformats.org/officeDocument/2006/relationships/image" Target="../media/image15.svg"/><Relationship Id="rId14" Type="http://schemas.openxmlformats.org/officeDocument/2006/relationships/image" Target="../media/image16.png"/><Relationship Id="rId15" Type="http://schemas.openxmlformats.org/officeDocument/2006/relationships/image" Target="../media/image17.svg"/><Relationship Id="rId16" Type="http://schemas.openxmlformats.org/officeDocument/2006/relationships/image" Target="../media/image18.png"/><Relationship Id="rId17" Type="http://schemas.openxmlformats.org/officeDocument/2006/relationships/image" Target="../media/image19.svg"/><Relationship Id="rId18" Type="http://schemas.openxmlformats.org/officeDocument/2006/relationships/image" Target="../media/image20.png"/><Relationship Id="rId19" Type="http://schemas.openxmlformats.org/officeDocument/2006/relationships/image" Target="../media/image21.svg"/><Relationship Id="rId20" Type="http://schemas.openxmlformats.org/officeDocument/2006/relationships/image" Target="../media/image22.png"/><Relationship Id="rId21" Type="http://schemas.openxmlformats.org/officeDocument/2006/relationships/image" Target="../media/image23.svg"/><Relationship Id="rId22" Type="http://schemas.openxmlformats.org/officeDocument/2006/relationships/image" Target="../media/image24.png"/><Relationship Id="rId23" Type="http://schemas.openxmlformats.org/officeDocument/2006/relationships/image" Target="../media/image2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eg"/><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png"/><Relationship Id="rId6" Type="http://schemas.openxmlformats.org/officeDocument/2006/relationships/image" Target="../media/image37.svg"/><Relationship Id="rId7" Type="http://schemas.openxmlformats.org/officeDocument/2006/relationships/image" Target="../media/image38.jpeg"/><Relationship Id="rId8" Type="http://schemas.openxmlformats.org/officeDocument/2006/relationships/image" Target="../media/image39.jpeg"/><Relationship Id="rId9" Type="http://schemas.openxmlformats.org/officeDocument/2006/relationships/image" Target="../media/image40.png"/><Relationship Id="rId10" Type="http://schemas.openxmlformats.org/officeDocument/2006/relationships/image" Target="../media/image41.sv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50.png"/><Relationship Id="rId8" Type="http://schemas.openxmlformats.org/officeDocument/2006/relationships/image" Target="../media/image51.svg"/><Relationship Id="rId9" Type="http://schemas.openxmlformats.org/officeDocument/2006/relationships/image" Target="../media/image52.png"/><Relationship Id="rId10" Type="http://schemas.openxmlformats.org/officeDocument/2006/relationships/image" Target="../media/image53.svg"/><Relationship Id="rId11" Type="http://schemas.openxmlformats.org/officeDocument/2006/relationships/image" Target="../media/image54.png"/><Relationship Id="rId12" Type="http://schemas.openxmlformats.org/officeDocument/2006/relationships/image" Target="../media/image55.svg"/><Relationship Id="rId13" Type="http://schemas.openxmlformats.org/officeDocument/2006/relationships/image" Target="../media/image56.png"/><Relationship Id="rId14" Type="http://schemas.openxmlformats.org/officeDocument/2006/relationships/image" Target="../media/image57.svg"/><Relationship Id="rId15" Type="http://schemas.openxmlformats.org/officeDocument/2006/relationships/image" Target="../media/image58.png"/><Relationship Id="rId16" Type="http://schemas.openxmlformats.org/officeDocument/2006/relationships/image" Target="../media/image59.svg"/><Relationship Id="rId17" Type="http://schemas.openxmlformats.org/officeDocument/2006/relationships/image" Target="../media/image60.png"/><Relationship Id="rId18" Type="http://schemas.openxmlformats.org/officeDocument/2006/relationships/image" Target="../media/image61.svg"/><Relationship Id="rId19" Type="http://schemas.openxmlformats.org/officeDocument/2006/relationships/image" Target="../media/image62.png"/><Relationship Id="rId20" Type="http://schemas.openxmlformats.org/officeDocument/2006/relationships/image" Target="../media/image63.svg"/><Relationship Id="rId21" Type="http://schemas.openxmlformats.org/officeDocument/2006/relationships/image" Target="../media/image64.png"/><Relationship Id="rId22" Type="http://schemas.openxmlformats.org/officeDocument/2006/relationships/image" Target="../media/image65.svg"/><Relationship Id="rId23" Type="http://schemas.openxmlformats.org/officeDocument/2006/relationships/image" Target="../media/image66.png"/><Relationship Id="rId24" Type="http://schemas.openxmlformats.org/officeDocument/2006/relationships/image" Target="../media/image67.svg"/><Relationship Id="rId25" Type="http://schemas.openxmlformats.org/officeDocument/2006/relationships/image" Target="../media/image32.png"/><Relationship Id="rId2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68.png"/><Relationship Id="rId4" Type="http://schemas.openxmlformats.org/officeDocument/2006/relationships/image" Target="../media/image69.svg"/><Relationship Id="rId5" Type="http://schemas.openxmlformats.org/officeDocument/2006/relationships/image" Target="../media/image70.png"/><Relationship Id="rId6" Type="http://schemas.openxmlformats.org/officeDocument/2006/relationships/image" Target="../media/image71.svg"/><Relationship Id="rId7" Type="http://schemas.openxmlformats.org/officeDocument/2006/relationships/image" Target="../media/image72.png"/><Relationship Id="rId8" Type="http://schemas.openxmlformats.org/officeDocument/2006/relationships/image" Target="../media/image73.svg"/><Relationship Id="rId9" Type="http://schemas.openxmlformats.org/officeDocument/2006/relationships/image" Target="../media/image74.png"/><Relationship Id="rId10" Type="http://schemas.openxmlformats.org/officeDocument/2006/relationships/image" Target="../media/image75.svg"/><Relationship Id="rId11" Type="http://schemas.openxmlformats.org/officeDocument/2006/relationships/image" Target="../media/image76.png"/><Relationship Id="rId12" Type="http://schemas.openxmlformats.org/officeDocument/2006/relationships/image" Target="../media/image77.svg"/><Relationship Id="rId13" Type="http://schemas.openxmlformats.org/officeDocument/2006/relationships/image" Target="../media/image78.png"/><Relationship Id="rId14" Type="http://schemas.openxmlformats.org/officeDocument/2006/relationships/image" Target="../media/image79.svg"/><Relationship Id="rId15" Type="http://schemas.openxmlformats.org/officeDocument/2006/relationships/image" Target="../media/image80.png"/><Relationship Id="rId16" Type="http://schemas.openxmlformats.org/officeDocument/2006/relationships/image" Target="../media/image81.svg"/><Relationship Id="rId17" Type="http://schemas.openxmlformats.org/officeDocument/2006/relationships/image" Target="../media/image82.png"/><Relationship Id="rId18" Type="http://schemas.openxmlformats.org/officeDocument/2006/relationships/image" Target="../media/image83.svg"/><Relationship Id="rId19" Type="http://schemas.openxmlformats.org/officeDocument/2006/relationships/image" Target="../media/image84.png"/><Relationship Id="rId20" Type="http://schemas.openxmlformats.org/officeDocument/2006/relationships/image" Target="../media/image85.svg"/><Relationship Id="rId21" Type="http://schemas.openxmlformats.org/officeDocument/2006/relationships/image" Target="../media/image86.png"/><Relationship Id="rId22" Type="http://schemas.openxmlformats.org/officeDocument/2006/relationships/image" Target="../media/image87.svg"/><Relationship Id="rId23" Type="http://schemas.openxmlformats.org/officeDocument/2006/relationships/image" Target="../media/image88.png"/><Relationship Id="rId24" Type="http://schemas.openxmlformats.org/officeDocument/2006/relationships/image" Target="../media/image89.svg"/><Relationship Id="rId25" Type="http://schemas.openxmlformats.org/officeDocument/2006/relationships/image" Target="../media/image90.png"/><Relationship Id="rId26" Type="http://schemas.openxmlformats.org/officeDocument/2006/relationships/image" Target="../media/image91.svg"/><Relationship Id="rId27" Type="http://schemas.openxmlformats.org/officeDocument/2006/relationships/image" Target="../media/image92.png"/><Relationship Id="rId28" Type="http://schemas.openxmlformats.org/officeDocument/2006/relationships/image" Target="../media/image93.svg"/><Relationship Id="rId29" Type="http://schemas.openxmlformats.org/officeDocument/2006/relationships/image" Target="../media/image94.png"/><Relationship Id="rId30" Type="http://schemas.openxmlformats.org/officeDocument/2006/relationships/image" Target="../media/image95.svg"/><Relationship Id="rId31" Type="http://schemas.openxmlformats.org/officeDocument/2006/relationships/image" Target="../media/image32.png"/><Relationship Id="rId3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2.png"/><Relationship Id="rId4" Type="http://schemas.openxmlformats.org/officeDocument/2006/relationships/image" Target="../media/image2.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99.png"/><Relationship Id="rId9" Type="http://schemas.openxmlformats.org/officeDocument/2006/relationships/image" Target="../media/image100.png"/><Relationship Id="rId10" Type="http://schemas.openxmlformats.org/officeDocument/2006/relationships/image" Target="../media/image101.png"/><Relationship Id="rId11" Type="http://schemas.openxmlformats.org/officeDocument/2006/relationships/image" Target="../media/image102.png"/><Relationship Id="rId12" Type="http://schemas.openxmlformats.org/officeDocument/2006/relationships/image" Target="../media/image103.png"/><Relationship Id="rId13" Type="http://schemas.openxmlformats.org/officeDocument/2006/relationships/image" Target="../media/image104.png"/><Relationship Id="rId14" Type="http://schemas.openxmlformats.org/officeDocument/2006/relationships/image" Target="../media/image10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06.png"/><Relationship Id="rId4" Type="http://schemas.openxmlformats.org/officeDocument/2006/relationships/image" Target="../media/image107.svg"/><Relationship Id="rId5" Type="http://schemas.openxmlformats.org/officeDocument/2006/relationships/image" Target="../media/image108.png"/><Relationship Id="rId6" Type="http://schemas.openxmlformats.org/officeDocument/2006/relationships/image" Target="../media/image109.svg"/><Relationship Id="rId7" Type="http://schemas.openxmlformats.org/officeDocument/2006/relationships/image" Target="../media/image110.png"/><Relationship Id="rId8" Type="http://schemas.openxmlformats.org/officeDocument/2006/relationships/image" Target="../media/image111.svg"/><Relationship Id="rId9" Type="http://schemas.openxmlformats.org/officeDocument/2006/relationships/image" Target="../media/image112.png"/><Relationship Id="rId10" Type="http://schemas.openxmlformats.org/officeDocument/2006/relationships/image" Target="../media/image113.svg"/><Relationship Id="rId11" Type="http://schemas.openxmlformats.org/officeDocument/2006/relationships/image" Target="../media/image114.png"/><Relationship Id="rId12" Type="http://schemas.openxmlformats.org/officeDocument/2006/relationships/image" Target="../media/image115.svg"/><Relationship Id="rId13" Type="http://schemas.openxmlformats.org/officeDocument/2006/relationships/image" Target="../media/image32.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17.png"/><Relationship Id="rId4" Type="http://schemas.openxmlformats.org/officeDocument/2006/relationships/image" Target="../media/image32.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image" Target="../media/image118.png"/><Relationship Id="rId4" Type="http://schemas.openxmlformats.org/officeDocument/2006/relationships/image" Target="../media/image32.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png"/><Relationship Id="rId14" Type="http://schemas.openxmlformats.org/officeDocument/2006/relationships/image" Target="../media/image130.png"/><Relationship Id="rId15" Type="http://schemas.openxmlformats.org/officeDocument/2006/relationships/image" Target="../media/image131.png"/><Relationship Id="rId16" Type="http://schemas.openxmlformats.org/officeDocument/2006/relationships/image" Target="../media/image132.png"/><Relationship Id="rId17" Type="http://schemas.openxmlformats.org/officeDocument/2006/relationships/image" Target="../media/image133.png"/><Relationship Id="rId18" Type="http://schemas.openxmlformats.org/officeDocument/2006/relationships/image" Target="../media/image134.png"/><Relationship Id="rId19" Type="http://schemas.openxmlformats.org/officeDocument/2006/relationships/image" Target="../media/image135.png"/><Relationship Id="rId20" Type="http://schemas.openxmlformats.org/officeDocument/2006/relationships/image" Target="../media/image136.png"/><Relationship Id="rId21" Type="http://schemas.openxmlformats.org/officeDocument/2006/relationships/image" Target="../media/image137.png"/><Relationship Id="rId22" Type="http://schemas.openxmlformats.org/officeDocument/2006/relationships/image" Target="../media/image138.png"/><Relationship Id="rId23" Type="http://schemas.openxmlformats.org/officeDocument/2006/relationships/image" Target="../media/image139.png"/><Relationship Id="rId24" Type="http://schemas.openxmlformats.org/officeDocument/2006/relationships/image" Target="../media/image140.png"/><Relationship Id="rId25" Type="http://schemas.openxmlformats.org/officeDocument/2006/relationships/image" Target="../media/image141.png"/><Relationship Id="rId26" Type="http://schemas.openxmlformats.org/officeDocument/2006/relationships/image" Target="../media/image142.png"/><Relationship Id="rId27" Type="http://schemas.openxmlformats.org/officeDocument/2006/relationships/image" Target="../media/image143.png"/><Relationship Id="rId28" Type="http://schemas.openxmlformats.org/officeDocument/2006/relationships/image" Target="../media/image32.png"/><Relationship Id="rId29"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2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63160" y="440322"/>
            <a:ext cx="10480370" cy="602729"/>
          </a:xfrm>
          <a:prstGeom prst="rect">
            <a:avLst/>
          </a:prstGeom>
        </p:spPr>
        <p:txBody>
          <a:bodyPr lIns="0" tIns="0" rIns="0" bIns="0" rtlCol="0" anchor="t">
            <a:spAutoFit/>
          </a:bodyPr>
          <a:lstStyle/>
          <a:p>
            <a:pPr>
              <a:lnSpc>
                <a:spcPts val="4664"/>
              </a:lnSpc>
            </a:pPr>
            <a:r>
              <a:rPr lang="en-US" sz="4318" spc="-26">
                <a:solidFill>
                  <a:srgbClr val="000000"/>
                </a:solidFill>
                <a:latin typeface="TT Rounds Condensed"/>
                <a:ea typeface="TT Rounds Condensed"/>
                <a:cs typeface="TT Rounds Condensed"/>
                <a:sym typeface="TT Rounds Condensed"/>
              </a:rPr>
              <a:t>v</a:t>
            </a:r>
          </a:p>
        </p:txBody>
      </p:sp>
      <p:sp>
        <p:nvSpPr>
          <p:cNvPr id="3" name="Freeform 3" descr="Imagen 8"/>
          <p:cNvSpPr/>
          <p:nvPr/>
        </p:nvSpPr>
        <p:spPr>
          <a:xfrm>
            <a:off x="-11999" y="0"/>
            <a:ext cx="12219748" cy="6854802"/>
          </a:xfrm>
          <a:custGeom>
            <a:avLst/>
            <a:gdLst/>
            <a:ahLst/>
            <a:cxnLst/>
            <a:rect l="l" t="t" r="r" b="b"/>
            <a:pathLst>
              <a:path w="18329622" h="10282203">
                <a:moveTo>
                  <a:pt x="0" y="0"/>
                </a:moveTo>
                <a:lnTo>
                  <a:pt x="18329622" y="0"/>
                </a:lnTo>
                <a:lnTo>
                  <a:pt x="18329622" y="10282203"/>
                </a:lnTo>
                <a:lnTo>
                  <a:pt x="0" y="10282203"/>
                </a:lnTo>
                <a:lnTo>
                  <a:pt x="0" y="0"/>
                </a:lnTo>
                <a:close/>
              </a:path>
            </a:pathLst>
          </a:custGeom>
          <a:blipFill>
            <a:blip r:embed="rId2"/>
            <a:stretch>
              <a:fillRect l="-41" r="-41"/>
            </a:stretch>
          </a:blipFill>
        </p:spPr>
        <p:txBody>
          <a:bodyPr/>
          <a:lstStyle/>
          <a:p>
            <a:endParaRPr lang="es-CO" sz="1200"/>
          </a:p>
        </p:txBody>
      </p:sp>
      <p:sp>
        <p:nvSpPr>
          <p:cNvPr id="5" name="TextBox 5"/>
          <p:cNvSpPr txBox="1"/>
          <p:nvPr/>
        </p:nvSpPr>
        <p:spPr>
          <a:xfrm>
            <a:off x="1270002" y="6373069"/>
            <a:ext cx="5368009" cy="240387"/>
          </a:xfrm>
          <a:prstGeom prst="rect">
            <a:avLst/>
          </a:prstGeom>
        </p:spPr>
        <p:txBody>
          <a:bodyPr lIns="0" tIns="0" rIns="0" bIns="0" rtlCol="0" anchor="t">
            <a:spAutoFit/>
          </a:bodyPr>
          <a:lstStyle/>
          <a:p>
            <a:pPr algn="ctr">
              <a:lnSpc>
                <a:spcPts val="1973"/>
              </a:lnSpc>
            </a:pPr>
            <a:r>
              <a:rPr lang="en-US" sz="1645" spc="-5">
                <a:solidFill>
                  <a:srgbClr val="3B3838"/>
                </a:solidFill>
                <a:latin typeface="Arial"/>
                <a:ea typeface="Arial"/>
                <a:cs typeface="Arial"/>
                <a:sym typeface="Arial"/>
              </a:rPr>
              <a:t>SOLUCIONES DE TRANSFORMACIÓN DIGITAL</a:t>
            </a:r>
          </a:p>
        </p:txBody>
      </p:sp>
      <p:sp>
        <p:nvSpPr>
          <p:cNvPr id="8" name="object 7">
            <a:extLst>
              <a:ext uri="{FF2B5EF4-FFF2-40B4-BE49-F238E27FC236}">
                <a16:creationId xmlns:a16="http://schemas.microsoft.com/office/drawing/2014/main" id="{A36444DD-06FA-EFB9-6D66-C1BF4831891A}"/>
              </a:ext>
            </a:extLst>
          </p:cNvPr>
          <p:cNvSpPr txBox="1"/>
          <p:nvPr/>
        </p:nvSpPr>
        <p:spPr>
          <a:xfrm>
            <a:off x="4919238" y="3451773"/>
            <a:ext cx="5718170"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p>
            <a:pPr indent="12700" algn="ctr" defTabSz="890443">
              <a:spcBef>
                <a:spcPts val="100"/>
              </a:spcBef>
              <a:defRPr sz="2800" b="1" spc="-5">
                <a:solidFill>
                  <a:srgbClr val="3B3838"/>
                </a:solidFill>
                <a:uFill>
                  <a:solidFill>
                    <a:srgbClr val="000000"/>
                  </a:solidFill>
                </a:uFill>
                <a:latin typeface="Arial Narrow"/>
                <a:ea typeface="Arial Narrow"/>
                <a:cs typeface="Arial Narrow"/>
                <a:sym typeface="Arial Narrow"/>
              </a:defRPr>
            </a:pPr>
            <a:r>
              <a:rPr lang="es-ES"/>
              <a:t>PERSONAL ESPECIALIZADO</a:t>
            </a:r>
          </a:p>
        </p:txBody>
      </p:sp>
      <p:sp>
        <p:nvSpPr>
          <p:cNvPr id="9" name="object 7">
            <a:extLst>
              <a:ext uri="{FF2B5EF4-FFF2-40B4-BE49-F238E27FC236}">
                <a16:creationId xmlns:a16="http://schemas.microsoft.com/office/drawing/2014/main" id="{80A7EF3C-BEC2-43B8-AFDB-607337EA7D96}"/>
              </a:ext>
            </a:extLst>
          </p:cNvPr>
          <p:cNvSpPr txBox="1"/>
          <p:nvPr/>
        </p:nvSpPr>
        <p:spPr>
          <a:xfrm>
            <a:off x="6103345" y="2830331"/>
            <a:ext cx="4275073"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pPr indent="12700" algn="ctr" defTabSz="890443">
              <a:spcBef>
                <a:spcPts val="100"/>
              </a:spcBef>
              <a:defRPr sz="2800" b="1" spc="-5">
                <a:solidFill>
                  <a:srgbClr val="3B3838"/>
                </a:solidFill>
                <a:uFill>
                  <a:solidFill>
                    <a:srgbClr val="000000"/>
                  </a:solidFill>
                </a:uFill>
                <a:latin typeface="Arial Narrow"/>
                <a:ea typeface="Arial Narrow"/>
                <a:cs typeface="Arial Narrow"/>
                <a:sym typeface="Arial Narrow"/>
              </a:defRPr>
            </a:pPr>
            <a:r>
              <a:rPr lang="es-ES"/>
              <a:t>OFERTA COMERCIAL</a:t>
            </a:r>
          </a:p>
        </p:txBody>
      </p:sp>
      <p:sp>
        <p:nvSpPr>
          <p:cNvPr id="11" name="CuadroTexto 10">
            <a:extLst>
              <a:ext uri="{FF2B5EF4-FFF2-40B4-BE49-F238E27FC236}">
                <a16:creationId xmlns:a16="http://schemas.microsoft.com/office/drawing/2014/main" id="{CF949063-7485-9806-82B9-42DC44709799}"/>
              </a:ext>
            </a:extLst>
          </p:cNvPr>
          <p:cNvSpPr txBox="1"/>
          <p:nvPr/>
        </p:nvSpPr>
        <p:spPr>
          <a:xfrm>
            <a:off x="9483324" y="5595102"/>
            <a:ext cx="2568268" cy="646331"/>
          </a:xfrm>
          <a:prstGeom prst="rect">
            <a:avLst/>
          </a:prstGeom>
          <a:noFill/>
        </p:spPr>
        <p:txBody>
          <a:bodyPr wrap="none" lIns="91440" tIns="45720" rIns="91440" bIns="45720" rtlCol="0" anchor="t">
            <a:spAutoFit/>
          </a:bodyPr>
          <a:lstStyle/>
          <a:p>
            <a:pPr algn="r"/>
            <a:r>
              <a:rPr lang="es-ES" sz="1200" b="1" dirty="0">
                <a:solidFill>
                  <a:schemeClr val="tx1">
                    <a:lumMod val="75000"/>
                    <a:lumOff val="25000"/>
                  </a:schemeClr>
                </a:solidFill>
              </a:rPr>
              <a:t>Comercial</a:t>
            </a:r>
            <a:r>
              <a:rPr lang="es-ES" sz="1200" dirty="0">
                <a:solidFill>
                  <a:schemeClr val="tx1">
                    <a:lumMod val="75000"/>
                    <a:lumOff val="25000"/>
                  </a:schemeClr>
                </a:solidFill>
              </a:rPr>
              <a:t> : </a:t>
            </a:r>
            <a:r>
              <a:rPr lang="es-ES" sz="1200" i="1" dirty="0">
                <a:solidFill>
                  <a:schemeClr val="tx1">
                    <a:lumMod val="75000"/>
                    <a:lumOff val="25000"/>
                  </a:schemeClr>
                </a:solidFill>
              </a:rPr>
              <a:t>TEST COMERCIAL</a:t>
            </a:r>
          </a:p>
          <a:p>
            <a:pPr algn="r"/>
            <a:r>
              <a:rPr lang="es-ES" sz="1200" b="1" i="1" dirty="0">
                <a:solidFill>
                  <a:schemeClr val="tx1">
                    <a:lumMod val="75000"/>
                    <a:lumOff val="25000"/>
                  </a:schemeClr>
                </a:solidFill>
              </a:rPr>
              <a:t>Fecha:</a:t>
            </a:r>
            <a:r>
              <a:rPr lang="es-ES" sz="1200" i="1" dirty="0">
                <a:solidFill>
                  <a:schemeClr val="tx1">
                    <a:lumMod val="75000"/>
                    <a:lumOff val="25000"/>
                  </a:schemeClr>
                </a:solidFill>
              </a:rPr>
              <a:t>30-06-2026</a:t>
            </a:r>
          </a:p>
          <a:p>
            <a:pPr algn="r"/>
            <a:r>
              <a:rPr lang="es-ES" sz="1200" b="1" i="1" dirty="0">
                <a:solidFill>
                  <a:schemeClr val="tx1">
                    <a:lumMod val="75000"/>
                    <a:lumOff val="25000"/>
                  </a:schemeClr>
                </a:solidFill>
              </a:rPr>
              <a:t>Preventa</a:t>
            </a:r>
            <a:r>
              <a:rPr lang="es-ES" sz="1200" i="1" dirty="0">
                <a:solidFill>
                  <a:schemeClr val="tx1">
                    <a:lumMod val="75000"/>
                    <a:lumOff val="25000"/>
                  </a:schemeClr>
                </a:solidFill>
              </a:rPr>
              <a:t>TEST PREVENTA</a:t>
            </a:r>
          </a:p>
        </p:txBody>
      </p:sp>
      <p:pic>
        <p:nvPicPr>
          <p:cNvPr id="7" name="Imagen 6">
            <a:extLst>
              <a:ext uri="{FF2B5EF4-FFF2-40B4-BE49-F238E27FC236}">
                <a16:creationId xmlns:a16="http://schemas.microsoft.com/office/drawing/2014/main" id="{9654C865-570E-56C6-AAA1-2D121480838B}"/>
              </a:ext>
            </a:extLst>
          </p:cNvPr>
          <p:cNvPicPr>
            <a:picLocks noChangeAspect="1"/>
          </p:cNvPicPr>
          <p:nvPr/>
        </p:nvPicPr>
        <p:blipFill>
          <a:blip r:embed="rId3"/>
          <a:stretch>
            <a:fillRect/>
          </a:stretch>
        </p:blipFill>
        <p:spPr>
          <a:xfrm>
            <a:off x="9515624" y="6230001"/>
            <a:ext cx="2676376" cy="676715"/>
          </a:xfrm>
          <a:prstGeom prst="rect">
            <a:avLst/>
          </a:prstGeom>
        </p:spPr>
      </p:pic>
      <p:pic>
        <p:nvPicPr>
          <p:cNvPr id="1026" name="Picture 2">
            <a:extLst>
              <a:ext uri="{FF2B5EF4-FFF2-40B4-BE49-F238E27FC236}">
                <a16:creationId xmlns:a16="http://schemas.microsoft.com/office/drawing/2014/main" id="{12AB9937-8EFB-0487-0236-9AB82D51A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8944" y="4173186"/>
            <a:ext cx="3118757" cy="875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61605-F7D2-FEFC-A2C7-C13582854CE1}"/>
              </a:ext>
            </a:extLst>
          </p:cNvPr>
          <p:cNvSpPr>
            <a:spLocks noGrp="1"/>
          </p:cNvSpPr>
          <p:nvPr>
            <p:ph type="ctrTitle"/>
          </p:nvPr>
        </p:nvSpPr>
        <p:spPr/>
        <p:txBody>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endParaRPr lang="es-CO"/>
          </a:p>
        </p:txBody>
      </p:sp>
      <p:sp>
        <p:nvSpPr>
          <p:cNvPr id="3" name="Subtítulo 2">
            <a:extLst>
              <a:ext uri="{FF2B5EF4-FFF2-40B4-BE49-F238E27FC236}">
                <a16:creationId xmlns:a16="http://schemas.microsoft.com/office/drawing/2014/main" id="{0F01810D-FE57-4272-321D-AA9666986CD8}"/>
              </a:ext>
            </a:extLst>
          </p:cNvPr>
          <p:cNvSpPr>
            <a:spLocks noGrp="1"/>
          </p:cNvSpPr>
          <p:nvPr>
            <p:ph type="subTitle" idx="1"/>
          </p:nvPr>
        </p:nvSpPr>
        <p:spPr>
          <a:xfrm>
            <a:off x="1524068" y="3210146"/>
            <a:ext cx="9143864" cy="1655738"/>
          </a:xfrm>
        </p:spPr>
        <p:txBody>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endParaRPr lang="es-CO"/>
          </a:p>
        </p:txBody>
      </p:sp>
      <p:pic>
        <p:nvPicPr>
          <p:cNvPr id="5" name="Gráfico 4">
            <a:extLst>
              <a:ext uri="{FF2B5EF4-FFF2-40B4-BE49-F238E27FC236}">
                <a16:creationId xmlns:a16="http://schemas.microsoft.com/office/drawing/2014/main" id="{1A35EE36-12D0-1FD9-9049-DBC43B71AC97}"/>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18198" y="-62432"/>
            <a:ext cx="13889530" cy="6944765"/>
          </a:xfrm>
          <a:prstGeom prst="rect">
            <a:avLst/>
          </a:prstGeom>
        </p:spPr>
      </p:pic>
      <p:pic>
        <p:nvPicPr>
          <p:cNvPr id="7" name="Gráfico 6">
            <a:extLst>
              <a:ext uri="{FF2B5EF4-FFF2-40B4-BE49-F238E27FC236}">
                <a16:creationId xmlns:a16="http://schemas.microsoft.com/office/drawing/2014/main" id="{5869AB88-8094-ECED-A37D-824228FB4B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 y="-89863"/>
            <a:ext cx="12244078" cy="7167265"/>
          </a:xfrm>
          <a:prstGeom prst="rect">
            <a:avLst/>
          </a:prstGeom>
        </p:spPr>
      </p:pic>
      <p:sp>
        <p:nvSpPr>
          <p:cNvPr id="9" name="Marcador de contenido 2">
            <a:extLst>
              <a:ext uri="{FF2B5EF4-FFF2-40B4-BE49-F238E27FC236}">
                <a16:creationId xmlns:a16="http://schemas.microsoft.com/office/drawing/2014/main" id="{9AABFF12-C886-2F7B-0CC9-B66DD751901C}"/>
              </a:ext>
            </a:extLst>
          </p:cNvPr>
          <p:cNvSpPr txBox="1">
            <a:spLocks/>
          </p:cNvSpPr>
          <p:nvPr/>
        </p:nvSpPr>
        <p:spPr>
          <a:xfrm>
            <a:off x="5394970" y="489249"/>
            <a:ext cx="6143153" cy="370326"/>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r>
              <a:rPr lang="es-CO" sz="2400" b="1">
                <a:solidFill>
                  <a:schemeClr val="bg1"/>
                </a:solidFill>
                <a:latin typeface="Arial" panose="020B0604020202020204" pitchFamily="34" charset="0"/>
                <a:cs typeface="Arial" panose="020B0604020202020204" pitchFamily="34" charset="0"/>
              </a:rPr>
              <a:t>¿POR QUÉ NOSOTROS?​</a:t>
            </a:r>
          </a:p>
        </p:txBody>
      </p:sp>
      <p:sp>
        <p:nvSpPr>
          <p:cNvPr id="10" name="Marcador de contenido 2">
            <a:extLst>
              <a:ext uri="{FF2B5EF4-FFF2-40B4-BE49-F238E27FC236}">
                <a16:creationId xmlns:a16="http://schemas.microsoft.com/office/drawing/2014/main" id="{FEB9DB58-3071-CB98-7E31-28093C7BF27F}"/>
              </a:ext>
            </a:extLst>
          </p:cNvPr>
          <p:cNvSpPr txBox="1">
            <a:spLocks/>
          </p:cNvSpPr>
          <p:nvPr/>
        </p:nvSpPr>
        <p:spPr>
          <a:xfrm>
            <a:off x="5341631" y="887006"/>
            <a:ext cx="6143153" cy="856412"/>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err="1">
                <a:solidFill>
                  <a:schemeClr val="bg1"/>
                </a:solidFill>
                <a:latin typeface="Arial" panose="020B0604020202020204" pitchFamily="34" charset="0"/>
                <a:cs typeface="Arial" panose="020B0604020202020204" pitchFamily="34" charset="0"/>
              </a:rPr>
              <a:t>Hitss</a:t>
            </a:r>
            <a:r>
              <a:rPr lang="es-ES" sz="1400">
                <a:solidFill>
                  <a:schemeClr val="bg1"/>
                </a:solidFill>
                <a:latin typeface="Arial" panose="020B0604020202020204" pitchFamily="34" charset="0"/>
                <a:cs typeface="Arial" panose="020B0604020202020204" pitchFamily="34" charset="0"/>
              </a:rPr>
              <a:t> cuenta con la infraestructura tecnológica, financiera, los servicios de consultoría y el </a:t>
            </a:r>
            <a:r>
              <a:rPr lang="es-ES" sz="1400" b="1">
                <a:solidFill>
                  <a:schemeClr val="bg1"/>
                </a:solidFill>
                <a:latin typeface="Arial" panose="020B0604020202020204" pitchFamily="34" charset="0"/>
                <a:cs typeface="Arial" panose="020B0604020202020204" pitchFamily="34" charset="0"/>
              </a:rPr>
              <a:t>ecosistema de socios de negocio más grande de la región</a:t>
            </a:r>
            <a:r>
              <a:rPr lang="es-ES" sz="1400">
                <a:solidFill>
                  <a:schemeClr val="bg1"/>
                </a:solidFill>
                <a:latin typeface="Arial" panose="020B0604020202020204" pitchFamily="34" charset="0"/>
                <a:cs typeface="Arial" panose="020B0604020202020204" pitchFamily="34" charset="0"/>
              </a:rPr>
              <a:t>, para integrar tecnologías de información, comunicaciones y soluciones digitales que permitan hacer más eficiente su negocio. ​	</a:t>
            </a:r>
            <a:endParaRPr lang="es-CO" sz="1400">
              <a:solidFill>
                <a:schemeClr val="bg1"/>
              </a:solidFill>
              <a:latin typeface="Arial" panose="020B0604020202020204" pitchFamily="34" charset="0"/>
              <a:cs typeface="Arial" panose="020B0604020202020204" pitchFamily="34" charset="0"/>
            </a:endParaRPr>
          </a:p>
        </p:txBody>
      </p:sp>
      <p:pic>
        <p:nvPicPr>
          <p:cNvPr id="12" name="Gráfico 11">
            <a:extLst>
              <a:ext uri="{FF2B5EF4-FFF2-40B4-BE49-F238E27FC236}">
                <a16:creationId xmlns:a16="http://schemas.microsoft.com/office/drawing/2014/main" id="{DE4AE292-F1D5-C594-D394-2C9DCAA92C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2" y="1989378"/>
            <a:ext cx="6806653" cy="701716"/>
          </a:xfrm>
          <a:prstGeom prst="rect">
            <a:avLst/>
          </a:prstGeom>
        </p:spPr>
      </p:pic>
      <p:pic>
        <p:nvPicPr>
          <p:cNvPr id="13" name="Gráfico 12">
            <a:extLst>
              <a:ext uri="{FF2B5EF4-FFF2-40B4-BE49-F238E27FC236}">
                <a16:creationId xmlns:a16="http://schemas.microsoft.com/office/drawing/2014/main" id="{6D575891-B0F2-B962-C5DB-05F9D42F1D9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1" y="2850474"/>
            <a:ext cx="6806653" cy="701716"/>
          </a:xfrm>
          <a:prstGeom prst="rect">
            <a:avLst/>
          </a:prstGeom>
        </p:spPr>
      </p:pic>
      <p:pic>
        <p:nvPicPr>
          <p:cNvPr id="14" name="Gráfico 13">
            <a:extLst>
              <a:ext uri="{FF2B5EF4-FFF2-40B4-BE49-F238E27FC236}">
                <a16:creationId xmlns:a16="http://schemas.microsoft.com/office/drawing/2014/main" id="{8575001E-999D-20A1-D557-45A56037D6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1" y="3745354"/>
            <a:ext cx="6806653" cy="1120530"/>
          </a:xfrm>
          <a:prstGeom prst="rect">
            <a:avLst/>
          </a:prstGeom>
        </p:spPr>
      </p:pic>
      <p:pic>
        <p:nvPicPr>
          <p:cNvPr id="16" name="Gráfico 15">
            <a:extLst>
              <a:ext uri="{FF2B5EF4-FFF2-40B4-BE49-F238E27FC236}">
                <a16:creationId xmlns:a16="http://schemas.microsoft.com/office/drawing/2014/main" id="{51525B60-2F27-B4D7-F985-C77EE97F441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50999" y="2098114"/>
            <a:ext cx="472434" cy="564100"/>
          </a:xfrm>
          <a:prstGeom prst="rect">
            <a:avLst/>
          </a:prstGeom>
        </p:spPr>
      </p:pic>
      <p:pic>
        <p:nvPicPr>
          <p:cNvPr id="18" name="Gráfico 17">
            <a:extLst>
              <a:ext uri="{FF2B5EF4-FFF2-40B4-BE49-F238E27FC236}">
                <a16:creationId xmlns:a16="http://schemas.microsoft.com/office/drawing/2014/main" id="{5EDA2B2F-39E1-24C7-06E2-6AACF98C13F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67775" y="2994795"/>
            <a:ext cx="361355" cy="450109"/>
          </a:xfrm>
          <a:prstGeom prst="rect">
            <a:avLst/>
          </a:prstGeom>
        </p:spPr>
      </p:pic>
      <p:sp>
        <p:nvSpPr>
          <p:cNvPr id="19" name="Marcador de contenido 2">
            <a:extLst>
              <a:ext uri="{FF2B5EF4-FFF2-40B4-BE49-F238E27FC236}">
                <a16:creationId xmlns:a16="http://schemas.microsoft.com/office/drawing/2014/main" id="{F574EBF2-B201-FDFB-21F2-0471F1348EE9}"/>
              </a:ext>
            </a:extLst>
          </p:cNvPr>
          <p:cNvSpPr txBox="1">
            <a:spLocks/>
          </p:cNvSpPr>
          <p:nvPr/>
        </p:nvSpPr>
        <p:spPr>
          <a:xfrm>
            <a:off x="6662921" y="2090032"/>
            <a:ext cx="3903860" cy="551833"/>
          </a:xfrm>
          <a:prstGeom prst="rect">
            <a:avLst/>
          </a:prstGeom>
        </p:spPr>
        <p:txBody>
          <a:bodyPr vert="horz" lIns="91439" tIns="45719" rIns="91439" bIns="45719" rtlCol="0" anchor="t">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386">
                <a:solidFill>
                  <a:schemeClr val="bg1"/>
                </a:solidFill>
                <a:latin typeface="Arial"/>
                <a:cs typeface="Arial"/>
              </a:rPr>
              <a:t>Tenemos presencia en varios países de Latinoamérica.​</a:t>
            </a:r>
            <a:endParaRPr lang="es-CO" sz="1386">
              <a:solidFill>
                <a:schemeClr val="bg1"/>
              </a:solidFill>
              <a:latin typeface="Arial"/>
              <a:cs typeface="Arial"/>
            </a:endParaRPr>
          </a:p>
        </p:txBody>
      </p:sp>
      <p:sp>
        <p:nvSpPr>
          <p:cNvPr id="20" name="Marcador de contenido 2">
            <a:extLst>
              <a:ext uri="{FF2B5EF4-FFF2-40B4-BE49-F238E27FC236}">
                <a16:creationId xmlns:a16="http://schemas.microsoft.com/office/drawing/2014/main" id="{9EBE2DDB-F2ED-F0E5-40E3-394E03A86E6B}"/>
              </a:ext>
            </a:extLst>
          </p:cNvPr>
          <p:cNvSpPr txBox="1">
            <a:spLocks/>
          </p:cNvSpPr>
          <p:nvPr/>
        </p:nvSpPr>
        <p:spPr>
          <a:xfrm>
            <a:off x="6714863" y="2938739"/>
            <a:ext cx="3903860" cy="551833"/>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a:solidFill>
                  <a:schemeClr val="bg1"/>
                </a:solidFill>
                <a:latin typeface="Arial" panose="020B0604020202020204" pitchFamily="34" charset="0"/>
                <a:cs typeface="Arial" panose="020B0604020202020204" pitchFamily="34" charset="0"/>
              </a:rPr>
              <a:t>Estamos certificados como CMMI nivel 5 en la región y CMMI nivel 3 en Colombia.​</a:t>
            </a:r>
            <a:endParaRPr lang="es-CO" sz="1400">
              <a:solidFill>
                <a:schemeClr val="bg1"/>
              </a:solidFill>
              <a:latin typeface="Arial" panose="020B0604020202020204" pitchFamily="34" charset="0"/>
              <a:cs typeface="Arial" panose="020B0604020202020204" pitchFamily="34" charset="0"/>
            </a:endParaRPr>
          </a:p>
        </p:txBody>
      </p:sp>
      <p:sp>
        <p:nvSpPr>
          <p:cNvPr id="21" name="Marcador de contenido 2">
            <a:extLst>
              <a:ext uri="{FF2B5EF4-FFF2-40B4-BE49-F238E27FC236}">
                <a16:creationId xmlns:a16="http://schemas.microsoft.com/office/drawing/2014/main" id="{9BB37546-3B81-22F5-D853-95F90AAE9BC7}"/>
              </a:ext>
            </a:extLst>
          </p:cNvPr>
          <p:cNvSpPr txBox="1">
            <a:spLocks/>
          </p:cNvSpPr>
          <p:nvPr/>
        </p:nvSpPr>
        <p:spPr>
          <a:xfrm>
            <a:off x="6764072" y="3773956"/>
            <a:ext cx="3903860" cy="551833"/>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a:solidFill>
                  <a:schemeClr val="bg1"/>
                </a:solidFill>
                <a:latin typeface="Arial" panose="020B0604020202020204" pitchFamily="34" charset="0"/>
                <a:cs typeface="Arial" panose="020B0604020202020204" pitchFamily="34" charset="0"/>
              </a:rPr>
              <a:t>Ofrecemos soluciones ‘</a:t>
            </a:r>
            <a:r>
              <a:rPr lang="es-ES" sz="1400" err="1">
                <a:solidFill>
                  <a:schemeClr val="bg1"/>
                </a:solidFill>
                <a:latin typeface="Arial" panose="020B0604020202020204" pitchFamily="34" charset="0"/>
                <a:cs typeface="Arial" panose="020B0604020202020204" pitchFamily="34" charset="0"/>
              </a:rPr>
              <a:t>end</a:t>
            </a:r>
            <a:r>
              <a:rPr lang="es-ES" sz="1400">
                <a:solidFill>
                  <a:schemeClr val="bg1"/>
                </a:solidFill>
                <a:latin typeface="Arial" panose="020B0604020202020204" pitchFamily="34" charset="0"/>
                <a:cs typeface="Arial" panose="020B0604020202020204" pitchFamily="34" charset="0"/>
              </a:rPr>
              <a:t> </a:t>
            </a:r>
            <a:r>
              <a:rPr lang="es-ES" sz="1400" err="1">
                <a:solidFill>
                  <a:schemeClr val="bg1"/>
                </a:solidFill>
                <a:latin typeface="Arial" panose="020B0604020202020204" pitchFamily="34" charset="0"/>
                <a:cs typeface="Arial" panose="020B0604020202020204" pitchFamily="34" charset="0"/>
              </a:rPr>
              <a:t>to</a:t>
            </a:r>
            <a:r>
              <a:rPr lang="es-ES" sz="1400">
                <a:solidFill>
                  <a:schemeClr val="bg1"/>
                </a:solidFill>
                <a:latin typeface="Arial" panose="020B0604020202020204" pitchFamily="34" charset="0"/>
                <a:cs typeface="Arial" panose="020B0604020202020204" pitchFamily="34" charset="0"/>
              </a:rPr>
              <a:t> </a:t>
            </a:r>
            <a:r>
              <a:rPr lang="es-ES" sz="1400" err="1">
                <a:solidFill>
                  <a:schemeClr val="bg1"/>
                </a:solidFill>
                <a:latin typeface="Arial" panose="020B0604020202020204" pitchFamily="34" charset="0"/>
                <a:cs typeface="Arial" panose="020B0604020202020204" pitchFamily="34" charset="0"/>
              </a:rPr>
              <a:t>end</a:t>
            </a:r>
            <a:r>
              <a:rPr lang="es-ES" sz="1400">
                <a:solidFill>
                  <a:schemeClr val="bg1"/>
                </a:solidFill>
                <a:latin typeface="Arial" panose="020B0604020202020204" pitchFamily="34" charset="0"/>
                <a:cs typeface="Arial" panose="020B0604020202020204" pitchFamily="34" charset="0"/>
              </a:rPr>
              <a:t>’ en alianza con las empresas que forman parte del grupo América Móvil, y mantenemos fuertes negociaciones y alianzas con los fabricantes número uno de tecnología. ​</a:t>
            </a:r>
            <a:endParaRPr lang="es-CO" sz="1400">
              <a:solidFill>
                <a:schemeClr val="bg1"/>
              </a:solidFill>
              <a:latin typeface="Arial" panose="020B0604020202020204" pitchFamily="34" charset="0"/>
              <a:cs typeface="Arial" panose="020B0604020202020204" pitchFamily="34" charset="0"/>
            </a:endParaRPr>
          </a:p>
        </p:txBody>
      </p:sp>
      <p:sp>
        <p:nvSpPr>
          <p:cNvPr id="22" name="Marcador de contenido 2">
            <a:extLst>
              <a:ext uri="{FF2B5EF4-FFF2-40B4-BE49-F238E27FC236}">
                <a16:creationId xmlns:a16="http://schemas.microsoft.com/office/drawing/2014/main" id="{281942C1-FFCF-F478-D5E4-08FDE426627C}"/>
              </a:ext>
            </a:extLst>
          </p:cNvPr>
          <p:cNvSpPr txBox="1">
            <a:spLocks/>
          </p:cNvSpPr>
          <p:nvPr/>
        </p:nvSpPr>
        <p:spPr>
          <a:xfrm>
            <a:off x="5335536" y="5009938"/>
            <a:ext cx="2903177" cy="88790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100">
                <a:solidFill>
                  <a:schemeClr val="bg1"/>
                </a:solidFill>
                <a:latin typeface="Arial" panose="020B0604020202020204" pitchFamily="34" charset="0"/>
                <a:cs typeface="Arial" panose="020B0604020202020204" pitchFamily="34" charset="0"/>
              </a:rPr>
              <a:t>Somos una empresa que valora el talento humano, la diversidad, la innovación y el compromiso con los resultados. Contamos con más de 10.500 colaboradores en 9 países de América Latina.</a:t>
            </a:r>
            <a:endParaRPr lang="es-CO" sz="1100">
              <a:solidFill>
                <a:schemeClr val="bg1"/>
              </a:solidFill>
              <a:latin typeface="Arial" panose="020B0604020202020204" pitchFamily="34" charset="0"/>
              <a:cs typeface="Arial" panose="020B0604020202020204" pitchFamily="34" charset="0"/>
            </a:endParaRPr>
          </a:p>
        </p:txBody>
      </p:sp>
      <p:cxnSp>
        <p:nvCxnSpPr>
          <p:cNvPr id="24" name="Conector recto 23">
            <a:extLst>
              <a:ext uri="{FF2B5EF4-FFF2-40B4-BE49-F238E27FC236}">
                <a16:creationId xmlns:a16="http://schemas.microsoft.com/office/drawing/2014/main" id="{F548836B-DB0D-8DC2-F204-B12084569E30}"/>
              </a:ext>
            </a:extLst>
          </p:cNvPr>
          <p:cNvCxnSpPr/>
          <p:nvPr/>
        </p:nvCxnSpPr>
        <p:spPr>
          <a:xfrm>
            <a:off x="8494741" y="5009939"/>
            <a:ext cx="0" cy="81475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5" name="Marcador de contenido 2">
            <a:extLst>
              <a:ext uri="{FF2B5EF4-FFF2-40B4-BE49-F238E27FC236}">
                <a16:creationId xmlns:a16="http://schemas.microsoft.com/office/drawing/2014/main" id="{434C56B5-BE7B-447B-8FDF-449A1D88F0E4}"/>
              </a:ext>
            </a:extLst>
          </p:cNvPr>
          <p:cNvSpPr txBox="1">
            <a:spLocks/>
          </p:cNvSpPr>
          <p:nvPr/>
        </p:nvSpPr>
        <p:spPr>
          <a:xfrm>
            <a:off x="8666794" y="4986203"/>
            <a:ext cx="2903177" cy="88790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100">
                <a:solidFill>
                  <a:schemeClr val="bg1"/>
                </a:solidFill>
                <a:latin typeface="Arial" panose="020B0604020202020204" pitchFamily="34" charset="0"/>
                <a:cs typeface="Arial" panose="020B0604020202020204" pitchFamily="34" charset="0"/>
              </a:rPr>
              <a:t>Entregamos a nuestros clientes desde la capa de comunicaciones y procesamiento con nuestros </a:t>
            </a:r>
            <a:r>
              <a:rPr lang="es-ES" sz="1100" err="1">
                <a:solidFill>
                  <a:schemeClr val="bg1"/>
                </a:solidFill>
                <a:latin typeface="Arial" panose="020B0604020202020204" pitchFamily="34" charset="0"/>
                <a:cs typeface="Arial" panose="020B0604020202020204" pitchFamily="34" charset="0"/>
              </a:rPr>
              <a:t>datacenters</a:t>
            </a:r>
            <a:r>
              <a:rPr lang="es-ES" sz="1100">
                <a:solidFill>
                  <a:schemeClr val="bg1"/>
                </a:solidFill>
                <a:latin typeface="Arial" panose="020B0604020202020204" pitchFamily="34" charset="0"/>
                <a:cs typeface="Arial" panose="020B0604020202020204" pitchFamily="34" charset="0"/>
              </a:rPr>
              <a:t>, hasta la fábrica de software y consultoría para entregar soluciones robustas para su empresa.​</a:t>
            </a:r>
            <a:endParaRPr lang="es-CO" sz="1100">
              <a:solidFill>
                <a:schemeClr val="bg1"/>
              </a:solidFill>
              <a:latin typeface="Arial" panose="020B0604020202020204" pitchFamily="34" charset="0"/>
              <a:cs typeface="Arial" panose="020B0604020202020204" pitchFamily="34" charset="0"/>
            </a:endParaRPr>
          </a:p>
        </p:txBody>
      </p:sp>
      <p:pic>
        <p:nvPicPr>
          <p:cNvPr id="27" name="Gráfico 26">
            <a:extLst>
              <a:ext uri="{FF2B5EF4-FFF2-40B4-BE49-F238E27FC236}">
                <a16:creationId xmlns:a16="http://schemas.microsoft.com/office/drawing/2014/main" id="{DF4E1704-BBB7-6614-E26D-AFF255BBE08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94971" y="6173431"/>
            <a:ext cx="1552552" cy="438144"/>
          </a:xfrm>
          <a:prstGeom prst="rect">
            <a:avLst/>
          </a:prstGeom>
        </p:spPr>
      </p:pic>
      <p:pic>
        <p:nvPicPr>
          <p:cNvPr id="29" name="Gráfico 28">
            <a:extLst>
              <a:ext uri="{FF2B5EF4-FFF2-40B4-BE49-F238E27FC236}">
                <a16:creationId xmlns:a16="http://schemas.microsoft.com/office/drawing/2014/main" id="{80246F28-6B2E-90C7-EA93-A6186630BD8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02930" y="6302980"/>
            <a:ext cx="1249376" cy="319962"/>
          </a:xfrm>
          <a:prstGeom prst="rect">
            <a:avLst/>
          </a:prstGeom>
        </p:spPr>
      </p:pic>
      <p:pic>
        <p:nvPicPr>
          <p:cNvPr id="31" name="Gráfico 30">
            <a:extLst>
              <a:ext uri="{FF2B5EF4-FFF2-40B4-BE49-F238E27FC236}">
                <a16:creationId xmlns:a16="http://schemas.microsoft.com/office/drawing/2014/main" id="{2130F2B6-C61C-9BF0-A22F-7DD918D20BD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186708" y="6213685"/>
            <a:ext cx="859223" cy="485647"/>
          </a:xfrm>
          <a:prstGeom prst="rect">
            <a:avLst/>
          </a:prstGeom>
        </p:spPr>
      </p:pic>
      <p:pic>
        <p:nvPicPr>
          <p:cNvPr id="33" name="Gráfico 32">
            <a:extLst>
              <a:ext uri="{FF2B5EF4-FFF2-40B4-BE49-F238E27FC236}">
                <a16:creationId xmlns:a16="http://schemas.microsoft.com/office/drawing/2014/main" id="{86A809C2-74E4-E56C-73F7-DB775716D8A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413493" y="6329828"/>
            <a:ext cx="1282843" cy="281746"/>
          </a:xfrm>
          <a:prstGeom prst="rect">
            <a:avLst/>
          </a:prstGeom>
        </p:spPr>
      </p:pic>
      <p:sp>
        <p:nvSpPr>
          <p:cNvPr id="35" name="Marcador de contenido 2">
            <a:extLst>
              <a:ext uri="{FF2B5EF4-FFF2-40B4-BE49-F238E27FC236}">
                <a16:creationId xmlns:a16="http://schemas.microsoft.com/office/drawing/2014/main" id="{F5660871-1084-24A9-1FB0-0FC227392884}"/>
              </a:ext>
            </a:extLst>
          </p:cNvPr>
          <p:cNvSpPr txBox="1">
            <a:spLocks/>
          </p:cNvSpPr>
          <p:nvPr/>
        </p:nvSpPr>
        <p:spPr>
          <a:xfrm>
            <a:off x="495666" y="2732211"/>
            <a:ext cx="1543508" cy="856412"/>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2400" b="1">
                <a:solidFill>
                  <a:schemeClr val="bg1"/>
                </a:solidFill>
                <a:latin typeface="Arial" panose="020B0604020202020204" pitchFamily="34" charset="0"/>
                <a:cs typeface="Arial" panose="020B0604020202020204" pitchFamily="34" charset="0"/>
              </a:rPr>
              <a:t>Más de +11,500:</a:t>
            </a:r>
          </a:p>
        </p:txBody>
      </p:sp>
      <p:sp>
        <p:nvSpPr>
          <p:cNvPr id="36" name="Marcador de contenido 2">
            <a:extLst>
              <a:ext uri="{FF2B5EF4-FFF2-40B4-BE49-F238E27FC236}">
                <a16:creationId xmlns:a16="http://schemas.microsoft.com/office/drawing/2014/main" id="{24B901A8-6873-7ACC-7F7A-9D9D32ADAE34}"/>
              </a:ext>
            </a:extLst>
          </p:cNvPr>
          <p:cNvSpPr txBox="1">
            <a:spLocks/>
          </p:cNvSpPr>
          <p:nvPr/>
        </p:nvSpPr>
        <p:spPr>
          <a:xfrm>
            <a:off x="436541" y="3379515"/>
            <a:ext cx="2175057" cy="281134"/>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800" b="1">
                <a:solidFill>
                  <a:schemeClr val="bg1"/>
                </a:solidFill>
                <a:latin typeface="Arial" panose="020B0604020202020204" pitchFamily="34" charset="0"/>
                <a:cs typeface="Arial" panose="020B0604020202020204" pitchFamily="34" charset="0"/>
              </a:rPr>
              <a:t>colaboradores en:</a:t>
            </a:r>
          </a:p>
        </p:txBody>
      </p:sp>
      <p:pic>
        <p:nvPicPr>
          <p:cNvPr id="43" name="Gráfico 42">
            <a:extLst>
              <a:ext uri="{FF2B5EF4-FFF2-40B4-BE49-F238E27FC236}">
                <a16:creationId xmlns:a16="http://schemas.microsoft.com/office/drawing/2014/main" id="{130EC048-5DB0-31BE-8156-8B0EC757033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28142" y="356561"/>
            <a:ext cx="2038431" cy="1627244"/>
          </a:xfrm>
          <a:prstGeom prst="rect">
            <a:avLst/>
          </a:prstGeom>
        </p:spPr>
      </p:pic>
      <p:sp>
        <p:nvSpPr>
          <p:cNvPr id="48" name="Marcador de contenido 2">
            <a:extLst>
              <a:ext uri="{FF2B5EF4-FFF2-40B4-BE49-F238E27FC236}">
                <a16:creationId xmlns:a16="http://schemas.microsoft.com/office/drawing/2014/main" id="{6413140C-51CE-0538-5B58-2825A61B9F77}"/>
              </a:ext>
            </a:extLst>
          </p:cNvPr>
          <p:cNvSpPr txBox="1">
            <a:spLocks/>
          </p:cNvSpPr>
          <p:nvPr/>
        </p:nvSpPr>
        <p:spPr>
          <a:xfrm>
            <a:off x="190310" y="525546"/>
            <a:ext cx="1216736" cy="94118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lnSpc>
                <a:spcPct val="100000"/>
              </a:lnSpc>
            </a:pPr>
            <a:r>
              <a:rPr lang="es-ES" sz="2800" b="1">
                <a:solidFill>
                  <a:schemeClr val="bg1"/>
                </a:solidFill>
                <a:latin typeface="Arial" panose="020B0604020202020204" pitchFamily="34" charset="0"/>
                <a:cs typeface="Arial" panose="020B0604020202020204" pitchFamily="34" charset="0"/>
              </a:rPr>
              <a:t>36 años</a:t>
            </a:r>
          </a:p>
        </p:txBody>
      </p:sp>
      <p:sp>
        <p:nvSpPr>
          <p:cNvPr id="50" name="CuadroTexto 49">
            <a:extLst>
              <a:ext uri="{FF2B5EF4-FFF2-40B4-BE49-F238E27FC236}">
                <a16:creationId xmlns:a16="http://schemas.microsoft.com/office/drawing/2014/main" id="{8FC08FEF-F9C5-4EB0-5F54-A19B76C2C30F}"/>
              </a:ext>
            </a:extLst>
          </p:cNvPr>
          <p:cNvSpPr txBox="1"/>
          <p:nvPr/>
        </p:nvSpPr>
        <p:spPr>
          <a:xfrm>
            <a:off x="166075" y="1361413"/>
            <a:ext cx="1216736" cy="369327"/>
          </a:xfrm>
          <a:prstGeom prst="rect">
            <a:avLst/>
          </a:prstGeom>
          <a:noFill/>
        </p:spPr>
        <p:txBody>
          <a:bodyPr wrap="square">
            <a:sp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lnSpc>
                <a:spcPct val="100000"/>
              </a:lnSpc>
            </a:pPr>
            <a:r>
              <a:rPr lang="es-ES" sz="1800" b="1">
                <a:solidFill>
                  <a:schemeClr val="bg1"/>
                </a:solidFill>
                <a:latin typeface="Arial" panose="020B0604020202020204" pitchFamily="34" charset="0"/>
                <a:cs typeface="Arial" panose="020B0604020202020204" pitchFamily="34" charset="0"/>
              </a:rPr>
              <a:t>De </a:t>
            </a:r>
            <a:r>
              <a:rPr lang="es-ES" sz="1800" b="1" err="1">
                <a:solidFill>
                  <a:schemeClr val="bg1"/>
                </a:solidFill>
                <a:latin typeface="Arial" panose="020B0604020202020204" pitchFamily="34" charset="0"/>
                <a:cs typeface="Arial" panose="020B0604020202020204" pitchFamily="34" charset="0"/>
              </a:rPr>
              <a:t>Exp</a:t>
            </a:r>
            <a:r>
              <a:rPr lang="es-ES" sz="1800" b="1">
                <a:solidFill>
                  <a:schemeClr val="bg1"/>
                </a:solidFill>
                <a:latin typeface="Arial" panose="020B0604020202020204" pitchFamily="34" charset="0"/>
                <a:cs typeface="Arial" panose="020B0604020202020204" pitchFamily="34" charset="0"/>
              </a:rPr>
              <a:t>.</a:t>
            </a:r>
          </a:p>
        </p:txBody>
      </p:sp>
      <p:pic>
        <p:nvPicPr>
          <p:cNvPr id="52" name="Gráfico 51">
            <a:extLst>
              <a:ext uri="{FF2B5EF4-FFF2-40B4-BE49-F238E27FC236}">
                <a16:creationId xmlns:a16="http://schemas.microsoft.com/office/drawing/2014/main" id="{D2894AEA-D841-9FCB-14A0-E1A67E32DAC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36540" y="3830020"/>
            <a:ext cx="2050019" cy="1560740"/>
          </a:xfrm>
          <a:prstGeom prst="rect">
            <a:avLst/>
          </a:prstGeom>
        </p:spPr>
      </p:pic>
    </p:spTree>
    <p:extLst>
      <p:ext uri="{BB962C8B-B14F-4D97-AF65-F5344CB8AC3E}">
        <p14:creationId xmlns:p14="http://schemas.microsoft.com/office/powerpoint/2010/main" val="380850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5" name="TextBox 5"/>
          <p:cNvSpPr txBox="1"/>
          <p:nvPr/>
        </p:nvSpPr>
        <p:spPr>
          <a:xfrm>
            <a:off x="981752" y="4420608"/>
            <a:ext cx="1886693" cy="529760"/>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ESTRATEGIA Y CONSULTORÍA</a:t>
            </a:r>
          </a:p>
        </p:txBody>
      </p:sp>
      <p:sp>
        <p:nvSpPr>
          <p:cNvPr id="6" name="TextBox 6"/>
          <p:cNvSpPr txBox="1"/>
          <p:nvPr/>
        </p:nvSpPr>
        <p:spPr>
          <a:xfrm>
            <a:off x="685800" y="5073180"/>
            <a:ext cx="2478597" cy="811889"/>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Creamos Ecosistemas Digitales Integrados. Acompañamos y cocreamos soluciones.</a:t>
            </a:r>
          </a:p>
        </p:txBody>
      </p:sp>
      <p:sp>
        <p:nvSpPr>
          <p:cNvPr id="7" name="TextBox 7"/>
          <p:cNvSpPr txBox="1"/>
          <p:nvPr/>
        </p:nvSpPr>
        <p:spPr>
          <a:xfrm>
            <a:off x="4049306" y="4469619"/>
            <a:ext cx="1690740" cy="247632"/>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ECOSISTEMA</a:t>
            </a:r>
          </a:p>
        </p:txBody>
      </p:sp>
      <p:sp>
        <p:nvSpPr>
          <p:cNvPr id="8" name="TextBox 8"/>
          <p:cNvSpPr txBox="1"/>
          <p:nvPr/>
        </p:nvSpPr>
        <p:spPr>
          <a:xfrm>
            <a:off x="3619397" y="5073180"/>
            <a:ext cx="2478597" cy="1094017"/>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Contamos con capacidades de Telco, TI, Soluciones Digitales,</a:t>
            </a:r>
          </a:p>
          <a:p>
            <a:pPr algn="ctr">
              <a:lnSpc>
                <a:spcPts val="2157"/>
              </a:lnSpc>
            </a:pPr>
            <a:r>
              <a:rPr lang="en-US" sz="1233" spc="-5">
                <a:solidFill>
                  <a:srgbClr val="3A3838"/>
                </a:solidFill>
                <a:latin typeface="Arial"/>
                <a:ea typeface="Arial"/>
                <a:cs typeface="Arial"/>
                <a:sym typeface="Arial"/>
              </a:rPr>
              <a:t>y socios de negocios globales líderes.</a:t>
            </a:r>
          </a:p>
        </p:txBody>
      </p:sp>
      <p:sp>
        <p:nvSpPr>
          <p:cNvPr id="9" name="TextBox 9"/>
          <p:cNvSpPr txBox="1"/>
          <p:nvPr/>
        </p:nvSpPr>
        <p:spPr>
          <a:xfrm>
            <a:off x="6873634" y="4469619"/>
            <a:ext cx="1782541" cy="247632"/>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INNOVACIÓN</a:t>
            </a:r>
          </a:p>
        </p:txBody>
      </p:sp>
      <p:sp>
        <p:nvSpPr>
          <p:cNvPr id="10" name="TextBox 10"/>
          <p:cNvSpPr txBox="1"/>
          <p:nvPr/>
        </p:nvSpPr>
        <p:spPr>
          <a:xfrm>
            <a:off x="6544760" y="5073180"/>
            <a:ext cx="2478597" cy="529760"/>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Capturamos más oportunidades de negocios para nuestros clientes.</a:t>
            </a:r>
          </a:p>
        </p:txBody>
      </p:sp>
      <p:sp>
        <p:nvSpPr>
          <p:cNvPr id="11" name="TextBox 11"/>
          <p:cNvSpPr txBox="1"/>
          <p:nvPr/>
        </p:nvSpPr>
        <p:spPr>
          <a:xfrm>
            <a:off x="9702057" y="4420608"/>
            <a:ext cx="2258954" cy="529760"/>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ORGANIZACIONES</a:t>
            </a:r>
          </a:p>
          <a:p>
            <a:pPr algn="ctr">
              <a:lnSpc>
                <a:spcPts val="2219"/>
              </a:lnSpc>
            </a:pPr>
            <a:r>
              <a:rPr lang="en-US" sz="1233" b="1" spc="308">
                <a:solidFill>
                  <a:srgbClr val="44546A"/>
                </a:solidFill>
                <a:latin typeface="Arial Bold"/>
                <a:ea typeface="Arial Bold"/>
                <a:cs typeface="Arial Bold"/>
                <a:sym typeface="Arial Bold"/>
              </a:rPr>
              <a:t>DIGITALES</a:t>
            </a:r>
          </a:p>
        </p:txBody>
      </p:sp>
      <p:sp>
        <p:nvSpPr>
          <p:cNvPr id="12" name="TextBox 12"/>
          <p:cNvSpPr txBox="1"/>
          <p:nvPr/>
        </p:nvSpPr>
        <p:spPr>
          <a:xfrm>
            <a:off x="9482414" y="5073180"/>
            <a:ext cx="2478597" cy="811889"/>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Colaboramos en el ingreso exitoso de negocios e instituciones en el mundo digital.</a:t>
            </a:r>
          </a:p>
        </p:txBody>
      </p:sp>
      <p:sp>
        <p:nvSpPr>
          <p:cNvPr id="13" name="Freeform 13"/>
          <p:cNvSpPr/>
          <p:nvPr/>
        </p:nvSpPr>
        <p:spPr>
          <a:xfrm>
            <a:off x="978399" y="3724528"/>
            <a:ext cx="10671939" cy="759301"/>
          </a:xfrm>
          <a:custGeom>
            <a:avLst/>
            <a:gdLst/>
            <a:ahLst/>
            <a:cxnLst/>
            <a:rect l="l" t="t" r="r" b="b"/>
            <a:pathLst>
              <a:path w="16007909" h="1138952">
                <a:moveTo>
                  <a:pt x="0" y="0"/>
                </a:moveTo>
                <a:lnTo>
                  <a:pt x="16007909" y="0"/>
                </a:lnTo>
                <a:lnTo>
                  <a:pt x="16007909" y="1138952"/>
                </a:lnTo>
                <a:lnTo>
                  <a:pt x="0" y="1138952"/>
                </a:lnTo>
                <a:lnTo>
                  <a:pt x="0" y="0"/>
                </a:lnTo>
                <a:close/>
              </a:path>
            </a:pathLst>
          </a:custGeom>
          <a:blipFill>
            <a:blip r:embed="rId3"/>
            <a:stretch>
              <a:fillRect/>
            </a:stretch>
          </a:blipFill>
        </p:spPr>
        <p:txBody>
          <a:bodyPr/>
          <a:lstStyle/>
          <a:p>
            <a:endParaRPr lang="es-CO" sz="1200"/>
          </a:p>
        </p:txBody>
      </p:sp>
      <p:sp>
        <p:nvSpPr>
          <p:cNvPr id="14" name="Freeform 14"/>
          <p:cNvSpPr/>
          <p:nvPr/>
        </p:nvSpPr>
        <p:spPr>
          <a:xfrm>
            <a:off x="9813893" y="2115394"/>
            <a:ext cx="1753925" cy="1753925"/>
          </a:xfrm>
          <a:custGeom>
            <a:avLst/>
            <a:gdLst/>
            <a:ahLst/>
            <a:cxnLst/>
            <a:rect l="l" t="t" r="r" b="b"/>
            <a:pathLst>
              <a:path w="2630888" h="2630888">
                <a:moveTo>
                  <a:pt x="0" y="0"/>
                </a:moveTo>
                <a:lnTo>
                  <a:pt x="2630888" y="0"/>
                </a:lnTo>
                <a:lnTo>
                  <a:pt x="2630888" y="2630889"/>
                </a:lnTo>
                <a:lnTo>
                  <a:pt x="0" y="2630889"/>
                </a:lnTo>
                <a:lnTo>
                  <a:pt x="0" y="0"/>
                </a:lnTo>
                <a:close/>
              </a:path>
            </a:pathLst>
          </a:custGeom>
          <a:blipFill>
            <a:blip r:embed="rId4"/>
            <a:stretch>
              <a:fillRect/>
            </a:stretch>
          </a:blipFill>
        </p:spPr>
        <p:txBody>
          <a:bodyPr/>
          <a:lstStyle/>
          <a:p>
            <a:endParaRPr lang="es-CO" sz="1200"/>
          </a:p>
        </p:txBody>
      </p:sp>
      <p:sp>
        <p:nvSpPr>
          <p:cNvPr id="15" name="Freeform 15"/>
          <p:cNvSpPr/>
          <p:nvPr/>
        </p:nvSpPr>
        <p:spPr>
          <a:xfrm>
            <a:off x="6902250" y="2115394"/>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5"/>
            <a:stretch>
              <a:fillRect/>
            </a:stretch>
          </a:blipFill>
        </p:spPr>
        <p:txBody>
          <a:bodyPr/>
          <a:lstStyle/>
          <a:p>
            <a:endParaRPr lang="es-CO" sz="1200"/>
          </a:p>
        </p:txBody>
      </p:sp>
      <p:sp>
        <p:nvSpPr>
          <p:cNvPr id="16" name="Freeform 16"/>
          <p:cNvSpPr/>
          <p:nvPr/>
        </p:nvSpPr>
        <p:spPr>
          <a:xfrm>
            <a:off x="3986120" y="2115394"/>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6"/>
            <a:stretch>
              <a:fillRect/>
            </a:stretch>
          </a:blipFill>
        </p:spPr>
        <p:txBody>
          <a:bodyPr/>
          <a:lstStyle/>
          <a:p>
            <a:endParaRPr lang="es-CO" sz="1200"/>
          </a:p>
        </p:txBody>
      </p:sp>
      <p:sp>
        <p:nvSpPr>
          <p:cNvPr id="17" name="Freeform 17"/>
          <p:cNvSpPr/>
          <p:nvPr/>
        </p:nvSpPr>
        <p:spPr>
          <a:xfrm>
            <a:off x="1059176" y="2115112"/>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7"/>
            <a:stretch>
              <a:fillRect/>
            </a:stretch>
          </a:blipFill>
        </p:spPr>
        <p:txBody>
          <a:bodyPr/>
          <a:lstStyle/>
          <a:p>
            <a:endParaRPr lang="es-CO" sz="1200"/>
          </a:p>
        </p:txBody>
      </p:sp>
      <p:sp>
        <p:nvSpPr>
          <p:cNvPr id="18" name="TextBox 18"/>
          <p:cNvSpPr txBox="1"/>
          <p:nvPr/>
        </p:nvSpPr>
        <p:spPr>
          <a:xfrm>
            <a:off x="696498" y="1139257"/>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Propuesta de Valor</a:t>
            </a:r>
          </a:p>
        </p:txBody>
      </p:sp>
      <p:pic>
        <p:nvPicPr>
          <p:cNvPr id="21" name="Imagen 20" descr="Forma&#10;&#10;Descripción generada automáticamente">
            <a:extLst>
              <a:ext uri="{FF2B5EF4-FFF2-40B4-BE49-F238E27FC236}">
                <a16:creationId xmlns:a16="http://schemas.microsoft.com/office/drawing/2014/main" id="{45FF1EC4-FB54-70FD-30AB-AF70AAF140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59786" y="6719493"/>
            <a:ext cx="2132214" cy="146964"/>
          </a:xfrm>
          <a:prstGeom prst="rect">
            <a:avLst/>
          </a:prstGeom>
        </p:spPr>
      </p:pic>
      <p:pic>
        <p:nvPicPr>
          <p:cNvPr id="22" name="Imagen 21">
            <a:extLst>
              <a:ext uri="{FF2B5EF4-FFF2-40B4-BE49-F238E27FC236}">
                <a16:creationId xmlns:a16="http://schemas.microsoft.com/office/drawing/2014/main" id="{24853A24-09B6-878A-BEAD-109A4E792C97}"/>
              </a:ext>
            </a:extLst>
          </p:cNvPr>
          <p:cNvPicPr>
            <a:picLocks noChangeAspect="1"/>
          </p:cNvPicPr>
          <p:nvPr/>
        </p:nvPicPr>
        <p:blipFill>
          <a:blip r:embed="rId9"/>
          <a:stretch>
            <a:fillRect/>
          </a:stretch>
        </p:blipFill>
        <p:spPr>
          <a:xfrm>
            <a:off x="10063773" y="6231130"/>
            <a:ext cx="2135674" cy="54000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69" r="-1369"/>
            </a:stretch>
          </a:blipFill>
        </p:spPr>
        <p:txBody>
          <a:bodyPr/>
          <a:lstStyle/>
          <a:p>
            <a:endParaRPr lang="es-CO" sz="1200"/>
          </a:p>
        </p:txBody>
      </p:sp>
      <p:grpSp>
        <p:nvGrpSpPr>
          <p:cNvPr id="3" name="Group 3"/>
          <p:cNvGrpSpPr/>
          <p:nvPr/>
        </p:nvGrpSpPr>
        <p:grpSpPr>
          <a:xfrm>
            <a:off x="-259237" y="-141402"/>
            <a:ext cx="12709688" cy="7265709"/>
            <a:chOff x="0" y="0"/>
            <a:chExt cx="5021111" cy="2870404"/>
          </a:xfrm>
        </p:grpSpPr>
        <p:sp>
          <p:nvSpPr>
            <p:cNvPr id="4" name="Freeform 4"/>
            <p:cNvSpPr/>
            <p:nvPr/>
          </p:nvSpPr>
          <p:spPr>
            <a:xfrm>
              <a:off x="0" y="0"/>
              <a:ext cx="5021111" cy="2870403"/>
            </a:xfrm>
            <a:custGeom>
              <a:avLst/>
              <a:gdLst/>
              <a:ahLst/>
              <a:cxnLst/>
              <a:rect l="l" t="t" r="r" b="b"/>
              <a:pathLst>
                <a:path w="5021111" h="2870403">
                  <a:moveTo>
                    <a:pt x="0" y="0"/>
                  </a:moveTo>
                  <a:lnTo>
                    <a:pt x="5021111" y="0"/>
                  </a:lnTo>
                  <a:lnTo>
                    <a:pt x="5021111" y="2870403"/>
                  </a:lnTo>
                  <a:lnTo>
                    <a:pt x="0" y="2870403"/>
                  </a:lnTo>
                  <a:close/>
                </a:path>
              </a:pathLst>
            </a:custGeom>
            <a:solidFill>
              <a:srgbClr val="1B2434">
                <a:alpha val="87843"/>
              </a:srgbClr>
            </a:solidFill>
          </p:spPr>
          <p:txBody>
            <a:bodyPr/>
            <a:lstStyle/>
            <a:p>
              <a:endParaRPr lang="es-CO" sz="1200"/>
            </a:p>
          </p:txBody>
        </p:sp>
        <p:sp>
          <p:nvSpPr>
            <p:cNvPr id="5" name="TextBox 5"/>
            <p:cNvSpPr txBox="1"/>
            <p:nvPr/>
          </p:nvSpPr>
          <p:spPr>
            <a:xfrm>
              <a:off x="0" y="-47625"/>
              <a:ext cx="5021111" cy="2918029"/>
            </a:xfrm>
            <a:prstGeom prst="rect">
              <a:avLst/>
            </a:prstGeom>
          </p:spPr>
          <p:txBody>
            <a:bodyPr lIns="33867" tIns="33867" rIns="33867" bIns="33867" rtlCol="0" anchor="ctr"/>
            <a:lstStyle/>
            <a:p>
              <a:pPr algn="ctr">
                <a:lnSpc>
                  <a:spcPts val="1773"/>
                </a:lnSpc>
              </a:pPr>
              <a:endParaRPr sz="1200"/>
            </a:p>
          </p:txBody>
        </p:sp>
      </p:grpSp>
      <p:grpSp>
        <p:nvGrpSpPr>
          <p:cNvPr id="6" name="Group 6"/>
          <p:cNvGrpSpPr/>
          <p:nvPr/>
        </p:nvGrpSpPr>
        <p:grpSpPr>
          <a:xfrm>
            <a:off x="9012572" y="4027729"/>
            <a:ext cx="1416815" cy="14168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7071" r="-27071"/>
              </a:stretch>
            </a:blipFill>
            <a:ln w="38100" cap="sq">
              <a:solidFill>
                <a:srgbClr val="FFFFFF"/>
              </a:solidFill>
              <a:prstDash val="solid"/>
              <a:miter/>
            </a:ln>
          </p:spPr>
          <p:txBody>
            <a:bodyPr/>
            <a:lstStyle/>
            <a:p>
              <a:endParaRPr lang="es-CO" sz="1200"/>
            </a:p>
          </p:txBody>
        </p:sp>
      </p:grpSp>
      <p:grpSp>
        <p:nvGrpSpPr>
          <p:cNvPr id="8" name="Group 8"/>
          <p:cNvGrpSpPr/>
          <p:nvPr/>
        </p:nvGrpSpPr>
        <p:grpSpPr>
          <a:xfrm>
            <a:off x="7221761" y="2859530"/>
            <a:ext cx="1790811" cy="179081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a:ln w="47625" cap="sq">
              <a:solidFill>
                <a:srgbClr val="FFFFFF"/>
              </a:solidFill>
              <a:prstDash val="solid"/>
              <a:miter/>
            </a:ln>
          </p:spPr>
          <p:txBody>
            <a:bodyPr/>
            <a:lstStyle/>
            <a:p>
              <a:endParaRPr lang="es-CO" sz="1200"/>
            </a:p>
          </p:txBody>
        </p:sp>
      </p:grpSp>
      <p:sp>
        <p:nvSpPr>
          <p:cNvPr id="10" name="Freeform 10"/>
          <p:cNvSpPr/>
          <p:nvPr/>
        </p:nvSpPr>
        <p:spPr>
          <a:xfrm>
            <a:off x="6960144" y="4856232"/>
            <a:ext cx="1764153" cy="1811710"/>
          </a:xfrm>
          <a:custGeom>
            <a:avLst/>
            <a:gdLst/>
            <a:ahLst/>
            <a:cxnLst/>
            <a:rect l="l" t="t" r="r" b="b"/>
            <a:pathLst>
              <a:path w="2646229" h="2717565">
                <a:moveTo>
                  <a:pt x="0" y="0"/>
                </a:moveTo>
                <a:lnTo>
                  <a:pt x="2646229" y="0"/>
                </a:lnTo>
                <a:lnTo>
                  <a:pt x="2646229" y="2717565"/>
                </a:lnTo>
                <a:lnTo>
                  <a:pt x="0" y="27175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grpSp>
        <p:nvGrpSpPr>
          <p:cNvPr id="11" name="Group 11"/>
          <p:cNvGrpSpPr/>
          <p:nvPr/>
        </p:nvGrpSpPr>
        <p:grpSpPr>
          <a:xfrm>
            <a:off x="7193102" y="5112968"/>
            <a:ext cx="1298237" cy="1298237"/>
            <a:chOff x="0" y="0"/>
            <a:chExt cx="812800" cy="812800"/>
          </a:xfrm>
        </p:grpSpPr>
        <p:sp>
          <p:nvSpPr>
            <p:cNvPr id="12" name="Freeform 12"/>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7"/>
              <a:stretch>
                <a:fillRect l="-25046" r="-25046"/>
              </a:stretch>
            </a:blipFill>
          </p:spPr>
          <p:txBody>
            <a:bodyPr/>
            <a:lstStyle/>
            <a:p>
              <a:endParaRPr lang="es-CO" sz="1200"/>
            </a:p>
          </p:txBody>
        </p:sp>
      </p:grpSp>
      <p:grpSp>
        <p:nvGrpSpPr>
          <p:cNvPr id="13" name="Group 13"/>
          <p:cNvGrpSpPr/>
          <p:nvPr/>
        </p:nvGrpSpPr>
        <p:grpSpPr>
          <a:xfrm>
            <a:off x="9012571" y="1388376"/>
            <a:ext cx="2270531" cy="2233210"/>
            <a:chOff x="0" y="0"/>
            <a:chExt cx="4541061" cy="4466420"/>
          </a:xfrm>
        </p:grpSpPr>
        <p:grpSp>
          <p:nvGrpSpPr>
            <p:cNvPr id="14" name="Group 14"/>
            <p:cNvGrpSpPr/>
            <p:nvPr/>
          </p:nvGrpSpPr>
          <p:grpSpPr>
            <a:xfrm>
              <a:off x="609612" y="534971"/>
              <a:ext cx="3931449" cy="393144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26045" r="-26045"/>
                </a:stretch>
              </a:blipFill>
            </p:spPr>
            <p:txBody>
              <a:bodyPr/>
              <a:lstStyle/>
              <a:p>
                <a:endParaRPr lang="es-CO" sz="1200"/>
              </a:p>
            </p:txBody>
          </p:sp>
        </p:grpSp>
        <p:sp>
          <p:nvSpPr>
            <p:cNvPr id="16" name="Freeform 16"/>
            <p:cNvSpPr/>
            <p:nvPr/>
          </p:nvSpPr>
          <p:spPr>
            <a:xfrm>
              <a:off x="0" y="0"/>
              <a:ext cx="2887469" cy="4081228"/>
            </a:xfrm>
            <a:custGeom>
              <a:avLst/>
              <a:gdLst/>
              <a:ahLst/>
              <a:cxnLst/>
              <a:rect l="l" t="t" r="r" b="b"/>
              <a:pathLst>
                <a:path w="2887469" h="4081228">
                  <a:moveTo>
                    <a:pt x="0" y="0"/>
                  </a:moveTo>
                  <a:lnTo>
                    <a:pt x="2887469" y="0"/>
                  </a:lnTo>
                  <a:lnTo>
                    <a:pt x="2887469" y="4081228"/>
                  </a:lnTo>
                  <a:lnTo>
                    <a:pt x="0" y="40812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grpSp>
      <p:sp>
        <p:nvSpPr>
          <p:cNvPr id="17" name="Freeform 17"/>
          <p:cNvSpPr/>
          <p:nvPr/>
        </p:nvSpPr>
        <p:spPr>
          <a:xfrm>
            <a:off x="1242745" y="4193265"/>
            <a:ext cx="4353330" cy="707416"/>
          </a:xfrm>
          <a:custGeom>
            <a:avLst/>
            <a:gdLst/>
            <a:ahLst/>
            <a:cxnLst/>
            <a:rect l="l" t="t" r="r" b="b"/>
            <a:pathLst>
              <a:path w="6529995" h="1061124">
                <a:moveTo>
                  <a:pt x="0" y="0"/>
                </a:moveTo>
                <a:lnTo>
                  <a:pt x="6529995" y="0"/>
                </a:lnTo>
                <a:lnTo>
                  <a:pt x="6529995" y="1061125"/>
                </a:lnTo>
                <a:lnTo>
                  <a:pt x="0" y="1061125"/>
                </a:lnTo>
                <a:lnTo>
                  <a:pt x="0" y="0"/>
                </a:lnTo>
                <a:close/>
              </a:path>
            </a:pathLst>
          </a:custGeom>
          <a:blipFill>
            <a:blip r:embed="rId11"/>
            <a:stretch>
              <a:fillRect/>
            </a:stretch>
          </a:blipFill>
        </p:spPr>
        <p:txBody>
          <a:bodyPr/>
          <a:lstStyle/>
          <a:p>
            <a:endParaRPr lang="es-CO" sz="1200"/>
          </a:p>
        </p:txBody>
      </p:sp>
      <p:sp>
        <p:nvSpPr>
          <p:cNvPr id="18" name="Freeform 18"/>
          <p:cNvSpPr/>
          <p:nvPr/>
        </p:nvSpPr>
        <p:spPr>
          <a:xfrm rot="5400000">
            <a:off x="-1869217" y="815461"/>
            <a:ext cx="4827741" cy="784508"/>
          </a:xfrm>
          <a:custGeom>
            <a:avLst/>
            <a:gdLst/>
            <a:ahLst/>
            <a:cxnLst/>
            <a:rect l="l" t="t" r="r" b="b"/>
            <a:pathLst>
              <a:path w="7241612" h="1176762">
                <a:moveTo>
                  <a:pt x="0" y="0"/>
                </a:moveTo>
                <a:lnTo>
                  <a:pt x="7241612" y="0"/>
                </a:lnTo>
                <a:lnTo>
                  <a:pt x="7241612" y="1176762"/>
                </a:lnTo>
                <a:lnTo>
                  <a:pt x="0" y="1176762"/>
                </a:lnTo>
                <a:lnTo>
                  <a:pt x="0" y="0"/>
                </a:lnTo>
                <a:close/>
              </a:path>
            </a:pathLst>
          </a:custGeom>
          <a:blipFill>
            <a:blip r:embed="rId11"/>
            <a:stretch>
              <a:fillRect/>
            </a:stretch>
          </a:blipFill>
        </p:spPr>
        <p:txBody>
          <a:bodyPr/>
          <a:lstStyle/>
          <a:p>
            <a:endParaRPr lang="es-CO" sz="1200"/>
          </a:p>
        </p:txBody>
      </p:sp>
      <p:grpSp>
        <p:nvGrpSpPr>
          <p:cNvPr id="19" name="Group 19"/>
          <p:cNvGrpSpPr/>
          <p:nvPr/>
        </p:nvGrpSpPr>
        <p:grpSpPr>
          <a:xfrm rot="-5399999">
            <a:off x="463432" y="-958428"/>
            <a:ext cx="5621068" cy="4644218"/>
            <a:chOff x="0" y="0"/>
            <a:chExt cx="2220669" cy="1834753"/>
          </a:xfrm>
        </p:grpSpPr>
        <p:sp>
          <p:nvSpPr>
            <p:cNvPr id="20" name="Freeform 20"/>
            <p:cNvSpPr/>
            <p:nvPr/>
          </p:nvSpPr>
          <p:spPr>
            <a:xfrm>
              <a:off x="0" y="0"/>
              <a:ext cx="2220669" cy="1834753"/>
            </a:xfrm>
            <a:custGeom>
              <a:avLst/>
              <a:gdLst/>
              <a:ahLst/>
              <a:cxnLst/>
              <a:rect l="l" t="t" r="r" b="b"/>
              <a:pathLst>
                <a:path w="2220669" h="1834753">
                  <a:moveTo>
                    <a:pt x="69783" y="0"/>
                  </a:moveTo>
                  <a:lnTo>
                    <a:pt x="2150885" y="0"/>
                  </a:lnTo>
                  <a:cubicBezTo>
                    <a:pt x="2189426" y="0"/>
                    <a:pt x="2220669" y="31243"/>
                    <a:pt x="2220669" y="69783"/>
                  </a:cubicBezTo>
                  <a:lnTo>
                    <a:pt x="2220669" y="1764969"/>
                  </a:lnTo>
                  <a:cubicBezTo>
                    <a:pt x="2220669" y="1803510"/>
                    <a:pt x="2189426" y="1834753"/>
                    <a:pt x="2150885" y="1834753"/>
                  </a:cubicBezTo>
                  <a:lnTo>
                    <a:pt x="69783" y="1834753"/>
                  </a:lnTo>
                  <a:cubicBezTo>
                    <a:pt x="51276" y="1834753"/>
                    <a:pt x="33526" y="1827401"/>
                    <a:pt x="20439" y="1814314"/>
                  </a:cubicBezTo>
                  <a:cubicBezTo>
                    <a:pt x="7352" y="1801227"/>
                    <a:pt x="0" y="1783477"/>
                    <a:pt x="0" y="1764969"/>
                  </a:cubicBezTo>
                  <a:lnTo>
                    <a:pt x="0" y="69783"/>
                  </a:lnTo>
                  <a:cubicBezTo>
                    <a:pt x="0" y="31243"/>
                    <a:pt x="31243" y="0"/>
                    <a:pt x="69783" y="0"/>
                  </a:cubicBezTo>
                  <a:close/>
                </a:path>
              </a:pathLst>
            </a:custGeom>
            <a:gradFill rotWithShape="1">
              <a:gsLst>
                <a:gs pos="0">
                  <a:srgbClr val="0097B2">
                    <a:alpha val="56000"/>
                  </a:srgbClr>
                </a:gs>
                <a:gs pos="100000">
                  <a:srgbClr val="7ED957">
                    <a:alpha val="56000"/>
                  </a:srgbClr>
                </a:gs>
              </a:gsLst>
              <a:lin ang="0"/>
            </a:gradFill>
          </p:spPr>
          <p:txBody>
            <a:bodyPr/>
            <a:lstStyle/>
            <a:p>
              <a:endParaRPr lang="es-CO" sz="1200"/>
            </a:p>
          </p:txBody>
        </p:sp>
        <p:sp>
          <p:nvSpPr>
            <p:cNvPr id="21" name="TextBox 21"/>
            <p:cNvSpPr txBox="1"/>
            <p:nvPr/>
          </p:nvSpPr>
          <p:spPr>
            <a:xfrm>
              <a:off x="0" y="0"/>
              <a:ext cx="2220669" cy="1834753"/>
            </a:xfrm>
            <a:prstGeom prst="rect">
              <a:avLst/>
            </a:prstGeom>
          </p:spPr>
          <p:txBody>
            <a:bodyPr lIns="33867" tIns="33867" rIns="33867" bIns="33867" rtlCol="0" anchor="ctr"/>
            <a:lstStyle/>
            <a:p>
              <a:pPr algn="ctr">
                <a:lnSpc>
                  <a:spcPts val="1839"/>
                </a:lnSpc>
              </a:pPr>
              <a:endParaRPr sz="1200"/>
            </a:p>
          </p:txBody>
        </p:sp>
      </p:grpSp>
      <p:sp>
        <p:nvSpPr>
          <p:cNvPr id="22" name="Freeform 22"/>
          <p:cNvSpPr/>
          <p:nvPr/>
        </p:nvSpPr>
        <p:spPr>
          <a:xfrm>
            <a:off x="1084238" y="1188821"/>
            <a:ext cx="4511837" cy="3007891"/>
          </a:xfrm>
          <a:custGeom>
            <a:avLst/>
            <a:gdLst/>
            <a:ahLst/>
            <a:cxnLst/>
            <a:rect l="l" t="t" r="r" b="b"/>
            <a:pathLst>
              <a:path w="6767755" h="4511837">
                <a:moveTo>
                  <a:pt x="0" y="0"/>
                </a:moveTo>
                <a:lnTo>
                  <a:pt x="6767755" y="0"/>
                </a:lnTo>
                <a:lnTo>
                  <a:pt x="6767755" y="4511837"/>
                </a:lnTo>
                <a:lnTo>
                  <a:pt x="0" y="4511837"/>
                </a:lnTo>
                <a:lnTo>
                  <a:pt x="0" y="0"/>
                </a:lnTo>
                <a:close/>
              </a:path>
            </a:pathLst>
          </a:custGeom>
          <a:blipFill>
            <a:blip r:embed="rId12"/>
            <a:stretch>
              <a:fillRect/>
            </a:stretch>
          </a:blipFill>
        </p:spPr>
        <p:txBody>
          <a:bodyPr/>
          <a:lstStyle/>
          <a:p>
            <a:endParaRPr lang="es-CO" sz="1200"/>
          </a:p>
        </p:txBody>
      </p:sp>
      <p:sp>
        <p:nvSpPr>
          <p:cNvPr id="23" name="TextBox 23"/>
          <p:cNvSpPr txBox="1"/>
          <p:nvPr/>
        </p:nvSpPr>
        <p:spPr>
          <a:xfrm>
            <a:off x="951858" y="4653586"/>
            <a:ext cx="4935105" cy="737446"/>
          </a:xfrm>
          <a:prstGeom prst="rect">
            <a:avLst/>
          </a:prstGeom>
        </p:spPr>
        <p:txBody>
          <a:bodyPr lIns="0" tIns="0" rIns="0" bIns="0" rtlCol="0" anchor="t">
            <a:spAutoFit/>
          </a:bodyPr>
          <a:lstStyle/>
          <a:p>
            <a:pPr algn="ctr">
              <a:lnSpc>
                <a:spcPts val="3035"/>
              </a:lnSpc>
            </a:pPr>
            <a:r>
              <a:rPr lang="en-US" sz="2199" spc="-10">
                <a:solidFill>
                  <a:srgbClr val="FFFFFF"/>
                </a:solidFill>
                <a:latin typeface="Arial"/>
                <a:ea typeface="Arial"/>
                <a:cs typeface="Arial"/>
                <a:sym typeface="Arial"/>
              </a:rPr>
              <a:t>+ de 10.000 profesionales especializados en Tecnología</a:t>
            </a:r>
          </a:p>
        </p:txBody>
      </p:sp>
      <p:sp>
        <p:nvSpPr>
          <p:cNvPr id="24" name="Freeform 24" descr="Google Shape;319;p6"/>
          <p:cNvSpPr/>
          <p:nvPr/>
        </p:nvSpPr>
        <p:spPr>
          <a:xfrm>
            <a:off x="7431485" y="256683"/>
            <a:ext cx="2169716" cy="604976"/>
          </a:xfrm>
          <a:custGeom>
            <a:avLst/>
            <a:gdLst/>
            <a:ahLst/>
            <a:cxnLst/>
            <a:rect l="l" t="t" r="r" b="b"/>
            <a:pathLst>
              <a:path w="6749908" h="828329">
                <a:moveTo>
                  <a:pt x="0" y="0"/>
                </a:moveTo>
                <a:lnTo>
                  <a:pt x="6749908" y="0"/>
                </a:lnTo>
                <a:lnTo>
                  <a:pt x="6749908" y="828329"/>
                </a:lnTo>
                <a:lnTo>
                  <a:pt x="0" y="828329"/>
                </a:lnTo>
                <a:lnTo>
                  <a:pt x="0" y="0"/>
                </a:lnTo>
                <a:close/>
              </a:path>
            </a:pathLst>
          </a:custGeom>
          <a:blipFill>
            <a:blip r:embed="rId13"/>
            <a:stretch>
              <a:fillRect l="-1874" r="-109273" b="8721"/>
            </a:stretch>
          </a:blipFill>
        </p:spPr>
        <p:txBody>
          <a:bodyPr/>
          <a:lstStyle/>
          <a:p>
            <a:endParaRPr lang="es-CO" sz="1200"/>
          </a:p>
        </p:txBody>
      </p:sp>
      <p:sp>
        <p:nvSpPr>
          <p:cNvPr id="26" name="TextBox 26"/>
          <p:cNvSpPr txBox="1"/>
          <p:nvPr/>
        </p:nvSpPr>
        <p:spPr>
          <a:xfrm>
            <a:off x="2025123" y="539497"/>
            <a:ext cx="2630067" cy="564257"/>
          </a:xfrm>
          <a:prstGeom prst="rect">
            <a:avLst/>
          </a:prstGeom>
        </p:spPr>
        <p:txBody>
          <a:bodyPr lIns="0" tIns="0" rIns="0" bIns="0" rtlCol="0" anchor="t">
            <a:spAutoFit/>
          </a:bodyPr>
          <a:lstStyle/>
          <a:p>
            <a:pPr algn="ctr">
              <a:lnSpc>
                <a:spcPts val="2160"/>
              </a:lnSpc>
            </a:pPr>
            <a:r>
              <a:rPr lang="en-US" sz="2000" b="1">
                <a:solidFill>
                  <a:srgbClr val="FFFFFF"/>
                </a:solidFill>
                <a:latin typeface="Arial Bold"/>
                <a:ea typeface="Arial Bold"/>
                <a:cs typeface="Arial Bold"/>
                <a:sym typeface="Arial Bold"/>
              </a:rPr>
              <a:t>Capacity</a:t>
            </a:r>
          </a:p>
          <a:p>
            <a:pPr algn="ctr">
              <a:lnSpc>
                <a:spcPts val="2160"/>
              </a:lnSpc>
            </a:pPr>
            <a:r>
              <a:rPr lang="en-US" sz="2000" b="1">
                <a:solidFill>
                  <a:srgbClr val="FFFFFF"/>
                </a:solidFill>
                <a:latin typeface="Arial Bold"/>
                <a:ea typeface="Arial Bold"/>
                <a:cs typeface="Arial Bold"/>
                <a:sym typeface="Arial Bold"/>
              </a:rPr>
              <a:t>Global Hitss</a:t>
            </a:r>
          </a:p>
        </p:txBody>
      </p:sp>
      <p:pic>
        <p:nvPicPr>
          <p:cNvPr id="29" name="Imagen 28" descr="Texto&#10;&#10;Descripción generada automáticamente">
            <a:extLst>
              <a:ext uri="{FF2B5EF4-FFF2-40B4-BE49-F238E27FC236}">
                <a16:creationId xmlns:a16="http://schemas.microsoft.com/office/drawing/2014/main" id="{09690B92-46D4-000D-CF7C-70FC26047E1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57022" y="6250056"/>
            <a:ext cx="2391999" cy="64800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a:off x="2239315" y="1384989"/>
            <a:ext cx="1700667" cy="930029"/>
            <a:chOff x="0" y="0"/>
            <a:chExt cx="798874" cy="436873"/>
          </a:xfrm>
        </p:grpSpPr>
        <p:sp>
          <p:nvSpPr>
            <p:cNvPr id="6" name="Freeform 6"/>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A0B852">
                <a:alpha val="29804"/>
              </a:srgbClr>
            </a:solidFill>
            <a:ln cap="sq">
              <a:noFill/>
              <a:prstDash val="solid"/>
              <a:miter/>
            </a:ln>
          </p:spPr>
          <p:txBody>
            <a:bodyPr/>
            <a:lstStyle/>
            <a:p>
              <a:endParaRPr lang="es-CO" sz="1200"/>
            </a:p>
          </p:txBody>
        </p:sp>
        <p:sp>
          <p:nvSpPr>
            <p:cNvPr id="7" name="TextBox 7"/>
            <p:cNvSpPr txBox="1"/>
            <p:nvPr/>
          </p:nvSpPr>
          <p:spPr>
            <a:xfrm>
              <a:off x="0" y="-85725"/>
              <a:ext cx="798874" cy="522598"/>
            </a:xfrm>
            <a:prstGeom prst="rect">
              <a:avLst/>
            </a:prstGeom>
          </p:spPr>
          <p:txBody>
            <a:bodyPr lIns="33867" tIns="33867" rIns="33867" bIns="33867" rtlCol="0" anchor="ctr"/>
            <a:lstStyle/>
            <a:p>
              <a:pPr algn="ctr">
                <a:lnSpc>
                  <a:spcPts val="1867"/>
                </a:lnSpc>
              </a:pPr>
              <a:endParaRPr sz="1200"/>
            </a:p>
          </p:txBody>
        </p:sp>
      </p:grpSp>
      <p:grpSp>
        <p:nvGrpSpPr>
          <p:cNvPr id="8" name="Group 8"/>
          <p:cNvGrpSpPr/>
          <p:nvPr/>
        </p:nvGrpSpPr>
        <p:grpSpPr>
          <a:xfrm>
            <a:off x="9035432" y="2905341"/>
            <a:ext cx="1700667" cy="930029"/>
            <a:chOff x="0" y="0"/>
            <a:chExt cx="798874" cy="436873"/>
          </a:xfrm>
        </p:grpSpPr>
        <p:sp>
          <p:nvSpPr>
            <p:cNvPr id="9" name="Freeform 9"/>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1ADC3">
                <a:alpha val="24706"/>
              </a:srgbClr>
            </a:solidFill>
            <a:ln cap="sq">
              <a:noFill/>
              <a:prstDash val="solid"/>
              <a:miter/>
            </a:ln>
          </p:spPr>
          <p:txBody>
            <a:bodyPr/>
            <a:lstStyle/>
            <a:p>
              <a:endParaRPr lang="es-CO" sz="1200"/>
            </a:p>
          </p:txBody>
        </p:sp>
        <p:sp>
          <p:nvSpPr>
            <p:cNvPr id="10" name="TextBox 10"/>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1" name="Group 11"/>
          <p:cNvGrpSpPr/>
          <p:nvPr/>
        </p:nvGrpSpPr>
        <p:grpSpPr>
          <a:xfrm>
            <a:off x="4499560" y="1384989"/>
            <a:ext cx="1700667" cy="930029"/>
            <a:chOff x="0" y="0"/>
            <a:chExt cx="798874" cy="436873"/>
          </a:xfrm>
        </p:grpSpPr>
        <p:sp>
          <p:nvSpPr>
            <p:cNvPr id="12" name="Freeform 12"/>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D3F1FF"/>
            </a:solidFill>
            <a:ln cap="sq">
              <a:noFill/>
              <a:prstDash val="solid"/>
              <a:miter/>
            </a:ln>
          </p:spPr>
          <p:txBody>
            <a:bodyPr/>
            <a:lstStyle/>
            <a:p>
              <a:endParaRPr lang="es-CO" sz="1200"/>
            </a:p>
          </p:txBody>
        </p:sp>
        <p:sp>
          <p:nvSpPr>
            <p:cNvPr id="13" name="TextBox 13"/>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4" name="Group 14"/>
          <p:cNvGrpSpPr/>
          <p:nvPr/>
        </p:nvGrpSpPr>
        <p:grpSpPr>
          <a:xfrm>
            <a:off x="3496383" y="4451753"/>
            <a:ext cx="1700667" cy="930029"/>
            <a:chOff x="0" y="0"/>
            <a:chExt cx="798874" cy="436873"/>
          </a:xfrm>
        </p:grpSpPr>
        <p:sp>
          <p:nvSpPr>
            <p:cNvPr id="15" name="Freeform 15"/>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56661">
                <a:alpha val="24706"/>
              </a:srgbClr>
            </a:solidFill>
            <a:ln cap="sq">
              <a:noFill/>
              <a:prstDash val="solid"/>
              <a:miter/>
            </a:ln>
          </p:spPr>
          <p:txBody>
            <a:bodyPr/>
            <a:lstStyle/>
            <a:p>
              <a:endParaRPr lang="es-CO" sz="1200"/>
            </a:p>
          </p:txBody>
        </p:sp>
        <p:sp>
          <p:nvSpPr>
            <p:cNvPr id="16" name="TextBox 16"/>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7" name="Group 17"/>
          <p:cNvGrpSpPr/>
          <p:nvPr/>
        </p:nvGrpSpPr>
        <p:grpSpPr>
          <a:xfrm rot="5400000">
            <a:off x="1536502" y="1655223"/>
            <a:ext cx="1313757" cy="773288"/>
            <a:chOff x="0" y="0"/>
            <a:chExt cx="690443" cy="406400"/>
          </a:xfrm>
        </p:grpSpPr>
        <p:sp>
          <p:nvSpPr>
            <p:cNvPr id="18" name="Freeform 18"/>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gradFill rotWithShape="1">
              <a:gsLst>
                <a:gs pos="0">
                  <a:srgbClr val="8BC371">
                    <a:alpha val="100000"/>
                  </a:srgbClr>
                </a:gs>
                <a:gs pos="54000">
                  <a:srgbClr val="D7D93C">
                    <a:alpha val="100000"/>
                  </a:srgbClr>
                </a:gs>
                <a:gs pos="100000">
                  <a:srgbClr val="258390">
                    <a:alpha val="100000"/>
                  </a:srgbClr>
                </a:gs>
              </a:gsLst>
              <a:lin ang="0"/>
            </a:gradFill>
          </p:spPr>
          <p:txBody>
            <a:bodyPr/>
            <a:lstStyle/>
            <a:p>
              <a:endParaRPr lang="es-CO" sz="1200"/>
            </a:p>
          </p:txBody>
        </p:sp>
        <p:sp>
          <p:nvSpPr>
            <p:cNvPr id="19" name="TextBox 19"/>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20" name="Group 20"/>
          <p:cNvGrpSpPr/>
          <p:nvPr/>
        </p:nvGrpSpPr>
        <p:grpSpPr>
          <a:xfrm rot="5400000">
            <a:off x="8332620" y="3175575"/>
            <a:ext cx="1313757" cy="773288"/>
            <a:chOff x="0" y="0"/>
            <a:chExt cx="690443" cy="406400"/>
          </a:xfrm>
        </p:grpSpPr>
        <p:sp>
          <p:nvSpPr>
            <p:cNvPr id="21" name="Freeform 21"/>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11ADC3"/>
            </a:solidFill>
            <a:ln cap="sq">
              <a:noFill/>
              <a:prstDash val="solid"/>
              <a:miter/>
            </a:ln>
          </p:spPr>
          <p:txBody>
            <a:bodyPr/>
            <a:lstStyle/>
            <a:p>
              <a:endParaRPr lang="es-CO" sz="1200"/>
            </a:p>
          </p:txBody>
        </p:sp>
        <p:sp>
          <p:nvSpPr>
            <p:cNvPr id="22" name="TextBox 22"/>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23" name="Group 23"/>
          <p:cNvGrpSpPr/>
          <p:nvPr/>
        </p:nvGrpSpPr>
        <p:grpSpPr>
          <a:xfrm rot="5400000">
            <a:off x="3796747" y="1655223"/>
            <a:ext cx="1313757" cy="773288"/>
            <a:chOff x="0" y="0"/>
            <a:chExt cx="690443" cy="406400"/>
          </a:xfrm>
        </p:grpSpPr>
        <p:sp>
          <p:nvSpPr>
            <p:cNvPr id="24" name="Freeform 24"/>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BB3"/>
            </a:solidFill>
          </p:spPr>
          <p:txBody>
            <a:bodyPr/>
            <a:lstStyle/>
            <a:p>
              <a:endParaRPr lang="es-CO" sz="1200"/>
            </a:p>
          </p:txBody>
        </p:sp>
        <p:sp>
          <p:nvSpPr>
            <p:cNvPr id="25" name="TextBox 25"/>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26" name="Group 26"/>
          <p:cNvGrpSpPr/>
          <p:nvPr/>
        </p:nvGrpSpPr>
        <p:grpSpPr>
          <a:xfrm rot="5400000">
            <a:off x="2793570" y="4721987"/>
            <a:ext cx="1313757" cy="773288"/>
            <a:chOff x="0" y="0"/>
            <a:chExt cx="690443" cy="406400"/>
          </a:xfrm>
        </p:grpSpPr>
        <p:sp>
          <p:nvSpPr>
            <p:cNvPr id="27" name="Freeform 27"/>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56661"/>
            </a:solidFill>
            <a:ln cap="sq">
              <a:noFill/>
              <a:prstDash val="solid"/>
              <a:miter/>
            </a:ln>
          </p:spPr>
          <p:txBody>
            <a:bodyPr/>
            <a:lstStyle/>
            <a:p>
              <a:endParaRPr lang="es-CO" sz="1200"/>
            </a:p>
          </p:txBody>
        </p:sp>
        <p:sp>
          <p:nvSpPr>
            <p:cNvPr id="28" name="TextBox 28"/>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29" name="Group 29"/>
          <p:cNvGrpSpPr/>
          <p:nvPr/>
        </p:nvGrpSpPr>
        <p:grpSpPr>
          <a:xfrm>
            <a:off x="6759805" y="1384989"/>
            <a:ext cx="1700667" cy="930029"/>
            <a:chOff x="0" y="0"/>
            <a:chExt cx="798874" cy="436873"/>
          </a:xfrm>
        </p:grpSpPr>
        <p:sp>
          <p:nvSpPr>
            <p:cNvPr id="30" name="Freeform 30"/>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B4A0">
                <a:alpha val="24706"/>
              </a:srgbClr>
            </a:solidFill>
            <a:ln cap="sq">
              <a:noFill/>
              <a:prstDash val="solid"/>
              <a:miter/>
            </a:ln>
          </p:spPr>
          <p:txBody>
            <a:bodyPr/>
            <a:lstStyle/>
            <a:p>
              <a:endParaRPr lang="es-CO" sz="1200"/>
            </a:p>
          </p:txBody>
        </p:sp>
        <p:sp>
          <p:nvSpPr>
            <p:cNvPr id="31" name="TextBox 31"/>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32" name="Group 32"/>
          <p:cNvGrpSpPr/>
          <p:nvPr/>
        </p:nvGrpSpPr>
        <p:grpSpPr>
          <a:xfrm>
            <a:off x="5790246" y="4485370"/>
            <a:ext cx="1700667" cy="930029"/>
            <a:chOff x="0" y="0"/>
            <a:chExt cx="798874" cy="436873"/>
          </a:xfrm>
        </p:grpSpPr>
        <p:sp>
          <p:nvSpPr>
            <p:cNvPr id="33" name="Freeform 33"/>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A0B852">
                <a:alpha val="24706"/>
              </a:srgbClr>
            </a:solidFill>
            <a:ln cap="sq">
              <a:noFill/>
              <a:prstDash val="solid"/>
              <a:miter/>
            </a:ln>
          </p:spPr>
          <p:txBody>
            <a:bodyPr/>
            <a:lstStyle/>
            <a:p>
              <a:endParaRPr lang="es-CO" sz="1200"/>
            </a:p>
          </p:txBody>
        </p:sp>
        <p:sp>
          <p:nvSpPr>
            <p:cNvPr id="34" name="TextBox 34"/>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35" name="Group 35"/>
          <p:cNvGrpSpPr/>
          <p:nvPr/>
        </p:nvGrpSpPr>
        <p:grpSpPr>
          <a:xfrm rot="5400000">
            <a:off x="6056992" y="1655223"/>
            <a:ext cx="1313757" cy="773288"/>
            <a:chOff x="0" y="0"/>
            <a:chExt cx="690443" cy="406400"/>
          </a:xfrm>
        </p:grpSpPr>
        <p:sp>
          <p:nvSpPr>
            <p:cNvPr id="36" name="Freeform 36"/>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B4A0"/>
            </a:solidFill>
          </p:spPr>
          <p:txBody>
            <a:bodyPr/>
            <a:lstStyle/>
            <a:p>
              <a:endParaRPr lang="es-CO" sz="1200"/>
            </a:p>
          </p:txBody>
        </p:sp>
        <p:sp>
          <p:nvSpPr>
            <p:cNvPr id="37" name="TextBox 37"/>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38" name="Group 38"/>
          <p:cNvGrpSpPr/>
          <p:nvPr/>
        </p:nvGrpSpPr>
        <p:grpSpPr>
          <a:xfrm rot="5400000">
            <a:off x="5087433" y="4755604"/>
            <a:ext cx="1313757" cy="773288"/>
            <a:chOff x="0" y="0"/>
            <a:chExt cx="690443" cy="406400"/>
          </a:xfrm>
        </p:grpSpPr>
        <p:sp>
          <p:nvSpPr>
            <p:cNvPr id="39" name="Freeform 39"/>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gradFill rotWithShape="1">
              <a:gsLst>
                <a:gs pos="0">
                  <a:srgbClr val="8BC371">
                    <a:alpha val="100000"/>
                  </a:srgbClr>
                </a:gs>
                <a:gs pos="54000">
                  <a:srgbClr val="D7D93C">
                    <a:alpha val="100000"/>
                  </a:srgbClr>
                </a:gs>
                <a:gs pos="100000">
                  <a:srgbClr val="258390">
                    <a:alpha val="100000"/>
                  </a:srgbClr>
                </a:gs>
              </a:gsLst>
              <a:lin ang="0"/>
            </a:gradFill>
            <a:ln cap="sq">
              <a:noFill/>
              <a:prstDash val="solid"/>
              <a:miter/>
            </a:ln>
          </p:spPr>
          <p:txBody>
            <a:bodyPr/>
            <a:lstStyle/>
            <a:p>
              <a:endParaRPr lang="es-CO" sz="1200"/>
            </a:p>
          </p:txBody>
        </p:sp>
        <p:sp>
          <p:nvSpPr>
            <p:cNvPr id="40" name="TextBox 40"/>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1" name="Group 41"/>
          <p:cNvGrpSpPr/>
          <p:nvPr/>
        </p:nvGrpSpPr>
        <p:grpSpPr>
          <a:xfrm>
            <a:off x="9020050" y="1384989"/>
            <a:ext cx="1700667" cy="930029"/>
            <a:chOff x="0" y="0"/>
            <a:chExt cx="798874" cy="436873"/>
          </a:xfrm>
        </p:grpSpPr>
        <p:sp>
          <p:nvSpPr>
            <p:cNvPr id="42" name="Freeform 42"/>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B050">
                <a:alpha val="28627"/>
              </a:srgbClr>
            </a:solidFill>
            <a:ln cap="sq">
              <a:noFill/>
              <a:prstDash val="solid"/>
              <a:miter/>
            </a:ln>
          </p:spPr>
          <p:txBody>
            <a:bodyPr/>
            <a:lstStyle/>
            <a:p>
              <a:endParaRPr lang="es-CO" sz="1200"/>
            </a:p>
          </p:txBody>
        </p:sp>
        <p:sp>
          <p:nvSpPr>
            <p:cNvPr id="43" name="TextBox 43"/>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4" name="Group 44"/>
          <p:cNvGrpSpPr/>
          <p:nvPr/>
        </p:nvGrpSpPr>
        <p:grpSpPr>
          <a:xfrm>
            <a:off x="4502759" y="2921457"/>
            <a:ext cx="1700667" cy="930029"/>
            <a:chOff x="0" y="0"/>
            <a:chExt cx="798874" cy="436873"/>
          </a:xfrm>
        </p:grpSpPr>
        <p:sp>
          <p:nvSpPr>
            <p:cNvPr id="45" name="Freeform 45"/>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4C50A9">
                <a:alpha val="24706"/>
              </a:srgbClr>
            </a:solidFill>
            <a:ln cap="sq">
              <a:noFill/>
              <a:prstDash val="solid"/>
              <a:miter/>
            </a:ln>
          </p:spPr>
          <p:txBody>
            <a:bodyPr/>
            <a:lstStyle/>
            <a:p>
              <a:endParaRPr lang="es-CO" sz="1200"/>
            </a:p>
          </p:txBody>
        </p:sp>
        <p:sp>
          <p:nvSpPr>
            <p:cNvPr id="46" name="TextBox 46"/>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7" name="Group 47"/>
          <p:cNvGrpSpPr/>
          <p:nvPr/>
        </p:nvGrpSpPr>
        <p:grpSpPr>
          <a:xfrm rot="5400000">
            <a:off x="8317237" y="1655223"/>
            <a:ext cx="1313757" cy="773288"/>
            <a:chOff x="0" y="0"/>
            <a:chExt cx="690443" cy="406400"/>
          </a:xfrm>
        </p:grpSpPr>
        <p:sp>
          <p:nvSpPr>
            <p:cNvPr id="48" name="Freeform 48"/>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B050"/>
            </a:solidFill>
          </p:spPr>
          <p:txBody>
            <a:bodyPr/>
            <a:lstStyle/>
            <a:p>
              <a:endParaRPr lang="es-CO" sz="1200"/>
            </a:p>
          </p:txBody>
        </p:sp>
        <p:sp>
          <p:nvSpPr>
            <p:cNvPr id="49" name="TextBox 49"/>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50" name="Group 50"/>
          <p:cNvGrpSpPr/>
          <p:nvPr/>
        </p:nvGrpSpPr>
        <p:grpSpPr>
          <a:xfrm rot="5400000">
            <a:off x="3799947" y="3191692"/>
            <a:ext cx="1313757" cy="773288"/>
            <a:chOff x="0" y="0"/>
            <a:chExt cx="690443" cy="406400"/>
          </a:xfrm>
        </p:grpSpPr>
        <p:sp>
          <p:nvSpPr>
            <p:cNvPr id="51" name="Freeform 51"/>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322E64"/>
            </a:solidFill>
            <a:ln cap="sq">
              <a:noFill/>
              <a:prstDash val="solid"/>
              <a:miter/>
            </a:ln>
          </p:spPr>
          <p:txBody>
            <a:bodyPr/>
            <a:lstStyle/>
            <a:p>
              <a:endParaRPr lang="es-CO" sz="1200"/>
            </a:p>
          </p:txBody>
        </p:sp>
        <p:sp>
          <p:nvSpPr>
            <p:cNvPr id="52" name="TextBox 52"/>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3" name="Group 53"/>
          <p:cNvGrpSpPr/>
          <p:nvPr/>
        </p:nvGrpSpPr>
        <p:grpSpPr>
          <a:xfrm>
            <a:off x="2242515" y="2956919"/>
            <a:ext cx="1700667" cy="930029"/>
            <a:chOff x="0" y="0"/>
            <a:chExt cx="798874" cy="436873"/>
          </a:xfrm>
        </p:grpSpPr>
        <p:sp>
          <p:nvSpPr>
            <p:cNvPr id="54" name="Freeform 54"/>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B2434">
                <a:alpha val="24706"/>
              </a:srgbClr>
            </a:solidFill>
            <a:ln cap="sq">
              <a:noFill/>
              <a:prstDash val="solid"/>
              <a:miter/>
            </a:ln>
          </p:spPr>
          <p:txBody>
            <a:bodyPr/>
            <a:lstStyle/>
            <a:p>
              <a:endParaRPr lang="es-CO" sz="1200"/>
            </a:p>
          </p:txBody>
        </p:sp>
        <p:sp>
          <p:nvSpPr>
            <p:cNvPr id="55" name="TextBox 55"/>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6" name="Group 56"/>
          <p:cNvGrpSpPr/>
          <p:nvPr/>
        </p:nvGrpSpPr>
        <p:grpSpPr>
          <a:xfrm>
            <a:off x="8029270" y="4501486"/>
            <a:ext cx="1700667" cy="930029"/>
            <a:chOff x="0" y="0"/>
            <a:chExt cx="798874" cy="436873"/>
          </a:xfrm>
        </p:grpSpPr>
        <p:sp>
          <p:nvSpPr>
            <p:cNvPr id="57" name="Freeform 57"/>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D3F1FF"/>
            </a:solidFill>
            <a:ln cap="sq">
              <a:noFill/>
              <a:prstDash val="solid"/>
              <a:miter/>
            </a:ln>
          </p:spPr>
          <p:txBody>
            <a:bodyPr/>
            <a:lstStyle/>
            <a:p>
              <a:endParaRPr lang="es-CO" sz="1200"/>
            </a:p>
          </p:txBody>
        </p:sp>
        <p:sp>
          <p:nvSpPr>
            <p:cNvPr id="58" name="TextBox 58"/>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9" name="Group 59"/>
          <p:cNvGrpSpPr/>
          <p:nvPr/>
        </p:nvGrpSpPr>
        <p:grpSpPr>
          <a:xfrm rot="5400000">
            <a:off x="1539702" y="3227153"/>
            <a:ext cx="1313757" cy="773288"/>
            <a:chOff x="0" y="0"/>
            <a:chExt cx="690443" cy="406400"/>
          </a:xfrm>
        </p:grpSpPr>
        <p:sp>
          <p:nvSpPr>
            <p:cNvPr id="60" name="Freeform 60"/>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1B2434"/>
            </a:solidFill>
          </p:spPr>
          <p:txBody>
            <a:bodyPr/>
            <a:lstStyle/>
            <a:p>
              <a:endParaRPr lang="es-CO" sz="1200"/>
            </a:p>
          </p:txBody>
        </p:sp>
        <p:sp>
          <p:nvSpPr>
            <p:cNvPr id="61" name="TextBox 61"/>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62" name="Group 62"/>
          <p:cNvGrpSpPr/>
          <p:nvPr/>
        </p:nvGrpSpPr>
        <p:grpSpPr>
          <a:xfrm rot="5400000">
            <a:off x="7326457" y="4771721"/>
            <a:ext cx="1313757" cy="773288"/>
            <a:chOff x="0" y="0"/>
            <a:chExt cx="690443" cy="406400"/>
          </a:xfrm>
        </p:grpSpPr>
        <p:sp>
          <p:nvSpPr>
            <p:cNvPr id="63" name="Freeform 63"/>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BB3"/>
            </a:solidFill>
            <a:ln cap="sq">
              <a:noFill/>
              <a:prstDash val="solid"/>
              <a:miter/>
            </a:ln>
          </p:spPr>
          <p:txBody>
            <a:bodyPr/>
            <a:lstStyle/>
            <a:p>
              <a:endParaRPr lang="es-CO" sz="1200"/>
            </a:p>
          </p:txBody>
        </p:sp>
        <p:sp>
          <p:nvSpPr>
            <p:cNvPr id="64" name="TextBox 64"/>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65" name="Group 65"/>
          <p:cNvGrpSpPr/>
          <p:nvPr/>
        </p:nvGrpSpPr>
        <p:grpSpPr>
          <a:xfrm>
            <a:off x="2012162" y="2195241"/>
            <a:ext cx="362436" cy="355441"/>
            <a:chOff x="0" y="0"/>
            <a:chExt cx="724872" cy="710883"/>
          </a:xfrm>
        </p:grpSpPr>
        <p:grpSp>
          <p:nvGrpSpPr>
            <p:cNvPr id="66" name="Group 66"/>
            <p:cNvGrpSpPr/>
            <p:nvPr/>
          </p:nvGrpSpPr>
          <p:grpSpPr>
            <a:xfrm>
              <a:off x="6995" y="0"/>
              <a:ext cx="710883" cy="710883"/>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68" name="TextBox 6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69" name="TextBox 6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01</a:t>
              </a:r>
            </a:p>
          </p:txBody>
        </p:sp>
      </p:grpSp>
      <p:grpSp>
        <p:nvGrpSpPr>
          <p:cNvPr id="70" name="Group 70"/>
          <p:cNvGrpSpPr/>
          <p:nvPr/>
        </p:nvGrpSpPr>
        <p:grpSpPr>
          <a:xfrm>
            <a:off x="8808279" y="3714800"/>
            <a:ext cx="362436" cy="355441"/>
            <a:chOff x="0" y="0"/>
            <a:chExt cx="724872" cy="710883"/>
          </a:xfrm>
        </p:grpSpPr>
        <p:grpSp>
          <p:nvGrpSpPr>
            <p:cNvPr id="71" name="Group 71"/>
            <p:cNvGrpSpPr/>
            <p:nvPr/>
          </p:nvGrpSpPr>
          <p:grpSpPr>
            <a:xfrm>
              <a:off x="6995" y="0"/>
              <a:ext cx="710883" cy="710883"/>
              <a:chOff x="0" y="0"/>
              <a:chExt cx="812800" cy="812800"/>
            </a:xfrm>
          </p:grpSpPr>
          <p:sp>
            <p:nvSpPr>
              <p:cNvPr id="72" name="Freeform 7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73" name="TextBox 7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74" name="TextBox 7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05</a:t>
              </a:r>
            </a:p>
          </p:txBody>
        </p:sp>
      </p:grpSp>
      <p:grpSp>
        <p:nvGrpSpPr>
          <p:cNvPr id="75" name="Group 75"/>
          <p:cNvGrpSpPr/>
          <p:nvPr/>
        </p:nvGrpSpPr>
        <p:grpSpPr>
          <a:xfrm>
            <a:off x="4272407" y="2195241"/>
            <a:ext cx="362436" cy="355441"/>
            <a:chOff x="0" y="0"/>
            <a:chExt cx="724872" cy="710883"/>
          </a:xfrm>
        </p:grpSpPr>
        <p:grpSp>
          <p:nvGrpSpPr>
            <p:cNvPr id="76" name="Group 76"/>
            <p:cNvGrpSpPr/>
            <p:nvPr/>
          </p:nvGrpSpPr>
          <p:grpSpPr>
            <a:xfrm>
              <a:off x="6995" y="0"/>
              <a:ext cx="710883" cy="710883"/>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78" name="TextBox 7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79" name="TextBox 7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02</a:t>
              </a:r>
            </a:p>
          </p:txBody>
        </p:sp>
      </p:grpSp>
      <p:grpSp>
        <p:nvGrpSpPr>
          <p:cNvPr id="80" name="Group 80"/>
          <p:cNvGrpSpPr/>
          <p:nvPr/>
        </p:nvGrpSpPr>
        <p:grpSpPr>
          <a:xfrm>
            <a:off x="3269231" y="5307696"/>
            <a:ext cx="362436" cy="355441"/>
            <a:chOff x="0" y="0"/>
            <a:chExt cx="724872" cy="710883"/>
          </a:xfrm>
        </p:grpSpPr>
        <p:grpSp>
          <p:nvGrpSpPr>
            <p:cNvPr id="81" name="Group 81"/>
            <p:cNvGrpSpPr/>
            <p:nvPr/>
          </p:nvGrpSpPr>
          <p:grpSpPr>
            <a:xfrm>
              <a:off x="6995" y="0"/>
              <a:ext cx="710883" cy="710883"/>
              <a:chOff x="0" y="0"/>
              <a:chExt cx="812800" cy="812800"/>
            </a:xfrm>
          </p:grpSpPr>
          <p:sp>
            <p:nvSpPr>
              <p:cNvPr id="82" name="Freeform 8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83" name="TextBox 8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84" name="TextBox 8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06</a:t>
              </a:r>
            </a:p>
          </p:txBody>
        </p:sp>
      </p:grpSp>
      <p:grpSp>
        <p:nvGrpSpPr>
          <p:cNvPr id="85" name="Group 85"/>
          <p:cNvGrpSpPr/>
          <p:nvPr/>
        </p:nvGrpSpPr>
        <p:grpSpPr>
          <a:xfrm>
            <a:off x="6532652" y="2195241"/>
            <a:ext cx="362436" cy="355441"/>
            <a:chOff x="0" y="0"/>
            <a:chExt cx="724872" cy="710883"/>
          </a:xfrm>
        </p:grpSpPr>
        <p:grpSp>
          <p:nvGrpSpPr>
            <p:cNvPr id="86" name="Group 86"/>
            <p:cNvGrpSpPr/>
            <p:nvPr/>
          </p:nvGrpSpPr>
          <p:grpSpPr>
            <a:xfrm>
              <a:off x="6995" y="0"/>
              <a:ext cx="710883" cy="710883"/>
              <a:chOff x="0" y="0"/>
              <a:chExt cx="812800" cy="812800"/>
            </a:xfrm>
          </p:grpSpPr>
          <p:sp>
            <p:nvSpPr>
              <p:cNvPr id="87" name="Freeform 8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88" name="TextBox 8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89" name="TextBox 8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03</a:t>
              </a:r>
            </a:p>
          </p:txBody>
        </p:sp>
      </p:grpSp>
      <p:grpSp>
        <p:nvGrpSpPr>
          <p:cNvPr id="90" name="Group 90"/>
          <p:cNvGrpSpPr/>
          <p:nvPr/>
        </p:nvGrpSpPr>
        <p:grpSpPr>
          <a:xfrm>
            <a:off x="5563093" y="5326565"/>
            <a:ext cx="362436" cy="355441"/>
            <a:chOff x="0" y="0"/>
            <a:chExt cx="724872" cy="710883"/>
          </a:xfrm>
        </p:grpSpPr>
        <p:grpSp>
          <p:nvGrpSpPr>
            <p:cNvPr id="91" name="Group 91"/>
            <p:cNvGrpSpPr/>
            <p:nvPr/>
          </p:nvGrpSpPr>
          <p:grpSpPr>
            <a:xfrm>
              <a:off x="6995" y="0"/>
              <a:ext cx="710883" cy="710883"/>
              <a:chOff x="0" y="0"/>
              <a:chExt cx="812800" cy="812800"/>
            </a:xfrm>
          </p:grpSpPr>
          <p:sp>
            <p:nvSpPr>
              <p:cNvPr id="92" name="Freeform 9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93" name="TextBox 9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94" name="TextBox 9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07</a:t>
              </a:r>
            </a:p>
          </p:txBody>
        </p:sp>
      </p:grpSp>
      <p:grpSp>
        <p:nvGrpSpPr>
          <p:cNvPr id="95" name="Group 95"/>
          <p:cNvGrpSpPr/>
          <p:nvPr/>
        </p:nvGrpSpPr>
        <p:grpSpPr>
          <a:xfrm>
            <a:off x="8792897" y="2195241"/>
            <a:ext cx="362436" cy="355441"/>
            <a:chOff x="0" y="0"/>
            <a:chExt cx="724872" cy="710883"/>
          </a:xfrm>
        </p:grpSpPr>
        <p:grpSp>
          <p:nvGrpSpPr>
            <p:cNvPr id="96" name="Group 96"/>
            <p:cNvGrpSpPr/>
            <p:nvPr/>
          </p:nvGrpSpPr>
          <p:grpSpPr>
            <a:xfrm>
              <a:off x="6995" y="0"/>
              <a:ext cx="710883" cy="710883"/>
              <a:chOff x="0" y="0"/>
              <a:chExt cx="812800" cy="812800"/>
            </a:xfrm>
          </p:grpSpPr>
          <p:sp>
            <p:nvSpPr>
              <p:cNvPr id="97" name="Freeform 9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98" name="TextBox 9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99" name="TextBox 9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04</a:t>
              </a:r>
            </a:p>
          </p:txBody>
        </p:sp>
      </p:grpSp>
      <p:grpSp>
        <p:nvGrpSpPr>
          <p:cNvPr id="100" name="Group 100"/>
          <p:cNvGrpSpPr/>
          <p:nvPr/>
        </p:nvGrpSpPr>
        <p:grpSpPr>
          <a:xfrm>
            <a:off x="4275607" y="3730916"/>
            <a:ext cx="362436" cy="355441"/>
            <a:chOff x="0" y="0"/>
            <a:chExt cx="724872" cy="710883"/>
          </a:xfrm>
        </p:grpSpPr>
        <p:grpSp>
          <p:nvGrpSpPr>
            <p:cNvPr id="101" name="Group 101"/>
            <p:cNvGrpSpPr/>
            <p:nvPr/>
          </p:nvGrpSpPr>
          <p:grpSpPr>
            <a:xfrm>
              <a:off x="6995" y="0"/>
              <a:ext cx="710883" cy="710883"/>
              <a:chOff x="0" y="0"/>
              <a:chExt cx="812800" cy="812800"/>
            </a:xfrm>
          </p:grpSpPr>
          <p:sp>
            <p:nvSpPr>
              <p:cNvPr id="102" name="Freeform 10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03" name="TextBox 10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04" name="TextBox 10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10</a:t>
              </a:r>
            </a:p>
          </p:txBody>
        </p:sp>
      </p:grpSp>
      <p:grpSp>
        <p:nvGrpSpPr>
          <p:cNvPr id="105" name="Group 105"/>
          <p:cNvGrpSpPr/>
          <p:nvPr/>
        </p:nvGrpSpPr>
        <p:grpSpPr>
          <a:xfrm>
            <a:off x="2015362" y="3767171"/>
            <a:ext cx="362436" cy="355441"/>
            <a:chOff x="0" y="0"/>
            <a:chExt cx="724872" cy="710883"/>
          </a:xfrm>
        </p:grpSpPr>
        <p:grpSp>
          <p:nvGrpSpPr>
            <p:cNvPr id="106" name="Group 106"/>
            <p:cNvGrpSpPr/>
            <p:nvPr/>
          </p:nvGrpSpPr>
          <p:grpSpPr>
            <a:xfrm>
              <a:off x="6995" y="0"/>
              <a:ext cx="710883" cy="710883"/>
              <a:chOff x="0" y="0"/>
              <a:chExt cx="812800" cy="812800"/>
            </a:xfrm>
          </p:grpSpPr>
          <p:sp>
            <p:nvSpPr>
              <p:cNvPr id="107" name="Freeform 10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08" name="TextBox 10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09" name="TextBox 10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09</a:t>
              </a:r>
            </a:p>
          </p:txBody>
        </p:sp>
      </p:grpSp>
      <p:grpSp>
        <p:nvGrpSpPr>
          <p:cNvPr id="110" name="Group 110"/>
          <p:cNvGrpSpPr/>
          <p:nvPr/>
        </p:nvGrpSpPr>
        <p:grpSpPr>
          <a:xfrm>
            <a:off x="7802117" y="5357429"/>
            <a:ext cx="362436" cy="355441"/>
            <a:chOff x="0" y="0"/>
            <a:chExt cx="724872" cy="710883"/>
          </a:xfrm>
        </p:grpSpPr>
        <p:grpSp>
          <p:nvGrpSpPr>
            <p:cNvPr id="111" name="Group 111"/>
            <p:cNvGrpSpPr/>
            <p:nvPr/>
          </p:nvGrpSpPr>
          <p:grpSpPr>
            <a:xfrm>
              <a:off x="6995" y="0"/>
              <a:ext cx="710883" cy="710883"/>
              <a:chOff x="0" y="0"/>
              <a:chExt cx="812800" cy="812800"/>
            </a:xfrm>
          </p:grpSpPr>
          <p:sp>
            <p:nvSpPr>
              <p:cNvPr id="112" name="Freeform 1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13" name="TextBox 11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14" name="TextBox 11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11</a:t>
              </a:r>
            </a:p>
          </p:txBody>
        </p:sp>
      </p:grpSp>
      <p:sp>
        <p:nvSpPr>
          <p:cNvPr id="115" name="Freeform 115"/>
          <p:cNvSpPr/>
          <p:nvPr/>
        </p:nvSpPr>
        <p:spPr>
          <a:xfrm>
            <a:off x="1936545" y="1612892"/>
            <a:ext cx="474223" cy="474223"/>
          </a:xfrm>
          <a:custGeom>
            <a:avLst/>
            <a:gdLst/>
            <a:ahLst/>
            <a:cxnLst/>
            <a:rect l="l" t="t" r="r" b="b"/>
            <a:pathLst>
              <a:path w="711335" h="711335">
                <a:moveTo>
                  <a:pt x="0" y="0"/>
                </a:moveTo>
                <a:lnTo>
                  <a:pt x="711335" y="0"/>
                </a:lnTo>
                <a:lnTo>
                  <a:pt x="711335" y="711334"/>
                </a:lnTo>
                <a:lnTo>
                  <a:pt x="0" y="711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116" name="Freeform 116"/>
          <p:cNvSpPr/>
          <p:nvPr/>
        </p:nvSpPr>
        <p:spPr>
          <a:xfrm>
            <a:off x="4217913" y="1550824"/>
            <a:ext cx="471425" cy="471425"/>
          </a:xfrm>
          <a:custGeom>
            <a:avLst/>
            <a:gdLst/>
            <a:ahLst/>
            <a:cxnLst/>
            <a:rect l="l" t="t" r="r" b="b"/>
            <a:pathLst>
              <a:path w="707138" h="707138">
                <a:moveTo>
                  <a:pt x="0" y="0"/>
                </a:moveTo>
                <a:lnTo>
                  <a:pt x="707138" y="0"/>
                </a:lnTo>
                <a:lnTo>
                  <a:pt x="707138" y="707137"/>
                </a:lnTo>
                <a:lnTo>
                  <a:pt x="0" y="7071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117" name="Freeform 117"/>
          <p:cNvSpPr/>
          <p:nvPr/>
        </p:nvSpPr>
        <p:spPr>
          <a:xfrm>
            <a:off x="6466851" y="1561541"/>
            <a:ext cx="494039" cy="525574"/>
          </a:xfrm>
          <a:custGeom>
            <a:avLst/>
            <a:gdLst/>
            <a:ahLst/>
            <a:cxnLst/>
            <a:rect l="l" t="t" r="r" b="b"/>
            <a:pathLst>
              <a:path w="741059" h="788361">
                <a:moveTo>
                  <a:pt x="0" y="0"/>
                </a:moveTo>
                <a:lnTo>
                  <a:pt x="741059" y="0"/>
                </a:lnTo>
                <a:lnTo>
                  <a:pt x="741059" y="788360"/>
                </a:lnTo>
                <a:lnTo>
                  <a:pt x="0" y="7883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118" name="Freeform 118"/>
          <p:cNvSpPr/>
          <p:nvPr/>
        </p:nvSpPr>
        <p:spPr>
          <a:xfrm>
            <a:off x="8753572" y="1499651"/>
            <a:ext cx="441087" cy="573771"/>
          </a:xfrm>
          <a:custGeom>
            <a:avLst/>
            <a:gdLst/>
            <a:ahLst/>
            <a:cxnLst/>
            <a:rect l="l" t="t" r="r" b="b"/>
            <a:pathLst>
              <a:path w="661630" h="860657">
                <a:moveTo>
                  <a:pt x="0" y="0"/>
                </a:moveTo>
                <a:lnTo>
                  <a:pt x="661630" y="0"/>
                </a:lnTo>
                <a:lnTo>
                  <a:pt x="661630" y="860657"/>
                </a:lnTo>
                <a:lnTo>
                  <a:pt x="0" y="86065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119" name="Freeform 119"/>
          <p:cNvSpPr/>
          <p:nvPr/>
        </p:nvSpPr>
        <p:spPr>
          <a:xfrm>
            <a:off x="1975036" y="3156095"/>
            <a:ext cx="424488" cy="480326"/>
          </a:xfrm>
          <a:custGeom>
            <a:avLst/>
            <a:gdLst/>
            <a:ahLst/>
            <a:cxnLst/>
            <a:rect l="l" t="t" r="r" b="b"/>
            <a:pathLst>
              <a:path w="636732" h="720489">
                <a:moveTo>
                  <a:pt x="0" y="0"/>
                </a:moveTo>
                <a:lnTo>
                  <a:pt x="636733" y="0"/>
                </a:lnTo>
                <a:lnTo>
                  <a:pt x="636733" y="720490"/>
                </a:lnTo>
                <a:lnTo>
                  <a:pt x="0" y="72049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sp>
        <p:nvSpPr>
          <p:cNvPr id="120" name="Freeform 120"/>
          <p:cNvSpPr/>
          <p:nvPr/>
        </p:nvSpPr>
        <p:spPr>
          <a:xfrm>
            <a:off x="8689769" y="3007676"/>
            <a:ext cx="560010" cy="508209"/>
          </a:xfrm>
          <a:custGeom>
            <a:avLst/>
            <a:gdLst/>
            <a:ahLst/>
            <a:cxnLst/>
            <a:rect l="l" t="t" r="r" b="b"/>
            <a:pathLst>
              <a:path w="840015" h="762314">
                <a:moveTo>
                  <a:pt x="0" y="0"/>
                </a:moveTo>
                <a:lnTo>
                  <a:pt x="840015" y="0"/>
                </a:lnTo>
                <a:lnTo>
                  <a:pt x="840015" y="762314"/>
                </a:lnTo>
                <a:lnTo>
                  <a:pt x="0" y="76231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CO" sz="1200"/>
          </a:p>
        </p:txBody>
      </p:sp>
      <p:sp>
        <p:nvSpPr>
          <p:cNvPr id="121" name="Freeform 121"/>
          <p:cNvSpPr/>
          <p:nvPr/>
        </p:nvSpPr>
        <p:spPr>
          <a:xfrm>
            <a:off x="3180006" y="4599377"/>
            <a:ext cx="461763" cy="462920"/>
          </a:xfrm>
          <a:custGeom>
            <a:avLst/>
            <a:gdLst/>
            <a:ahLst/>
            <a:cxnLst/>
            <a:rect l="l" t="t" r="r" b="b"/>
            <a:pathLst>
              <a:path w="692644" h="694380">
                <a:moveTo>
                  <a:pt x="0" y="0"/>
                </a:moveTo>
                <a:lnTo>
                  <a:pt x="692644" y="0"/>
                </a:lnTo>
                <a:lnTo>
                  <a:pt x="692644" y="694380"/>
                </a:lnTo>
                <a:lnTo>
                  <a:pt x="0" y="69438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s-CO" sz="1200"/>
          </a:p>
        </p:txBody>
      </p:sp>
      <p:sp>
        <p:nvSpPr>
          <p:cNvPr id="122" name="Freeform 122"/>
          <p:cNvSpPr/>
          <p:nvPr/>
        </p:nvSpPr>
        <p:spPr>
          <a:xfrm>
            <a:off x="5459268" y="4632994"/>
            <a:ext cx="583207" cy="462920"/>
          </a:xfrm>
          <a:custGeom>
            <a:avLst/>
            <a:gdLst/>
            <a:ahLst/>
            <a:cxnLst/>
            <a:rect l="l" t="t" r="r" b="b"/>
            <a:pathLst>
              <a:path w="874810" h="694380">
                <a:moveTo>
                  <a:pt x="0" y="0"/>
                </a:moveTo>
                <a:lnTo>
                  <a:pt x="874809" y="0"/>
                </a:lnTo>
                <a:lnTo>
                  <a:pt x="874809" y="694380"/>
                </a:lnTo>
                <a:lnTo>
                  <a:pt x="0" y="69438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s-CO" sz="1200"/>
          </a:p>
        </p:txBody>
      </p:sp>
      <p:sp>
        <p:nvSpPr>
          <p:cNvPr id="123" name="Freeform 123"/>
          <p:cNvSpPr/>
          <p:nvPr/>
        </p:nvSpPr>
        <p:spPr>
          <a:xfrm>
            <a:off x="4170662" y="3069081"/>
            <a:ext cx="572326" cy="558018"/>
          </a:xfrm>
          <a:custGeom>
            <a:avLst/>
            <a:gdLst/>
            <a:ahLst/>
            <a:cxnLst/>
            <a:rect l="l" t="t" r="r" b="b"/>
            <a:pathLst>
              <a:path w="858489" h="837027">
                <a:moveTo>
                  <a:pt x="0" y="0"/>
                </a:moveTo>
                <a:lnTo>
                  <a:pt x="858489" y="0"/>
                </a:lnTo>
                <a:lnTo>
                  <a:pt x="858489" y="837027"/>
                </a:lnTo>
                <a:lnTo>
                  <a:pt x="0" y="83702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s-CO" sz="1200"/>
          </a:p>
        </p:txBody>
      </p:sp>
      <p:sp>
        <p:nvSpPr>
          <p:cNvPr id="124" name="Freeform 124"/>
          <p:cNvSpPr/>
          <p:nvPr/>
        </p:nvSpPr>
        <p:spPr>
          <a:xfrm>
            <a:off x="7659086" y="4603822"/>
            <a:ext cx="629899" cy="590005"/>
          </a:xfrm>
          <a:custGeom>
            <a:avLst/>
            <a:gdLst/>
            <a:ahLst/>
            <a:cxnLst/>
            <a:rect l="l" t="t" r="r" b="b"/>
            <a:pathLst>
              <a:path w="944848" h="885007">
                <a:moveTo>
                  <a:pt x="0" y="0"/>
                </a:moveTo>
                <a:lnTo>
                  <a:pt x="944848" y="0"/>
                </a:lnTo>
                <a:lnTo>
                  <a:pt x="944848" y="885007"/>
                </a:lnTo>
                <a:lnTo>
                  <a:pt x="0" y="88500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s-CO" sz="1200"/>
          </a:p>
        </p:txBody>
      </p:sp>
      <p:grpSp>
        <p:nvGrpSpPr>
          <p:cNvPr id="125" name="Group 125"/>
          <p:cNvGrpSpPr/>
          <p:nvPr/>
        </p:nvGrpSpPr>
        <p:grpSpPr>
          <a:xfrm>
            <a:off x="6756462" y="2926242"/>
            <a:ext cx="1700667" cy="930029"/>
            <a:chOff x="0" y="0"/>
            <a:chExt cx="798874" cy="436873"/>
          </a:xfrm>
        </p:grpSpPr>
        <p:sp>
          <p:nvSpPr>
            <p:cNvPr id="126" name="Freeform 126"/>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7881">
                <a:alpha val="28627"/>
              </a:srgbClr>
            </a:solidFill>
            <a:ln cap="sq">
              <a:noFill/>
              <a:prstDash val="solid"/>
              <a:miter/>
            </a:ln>
          </p:spPr>
          <p:txBody>
            <a:bodyPr/>
            <a:lstStyle/>
            <a:p>
              <a:endParaRPr lang="es-CO" sz="1200"/>
            </a:p>
          </p:txBody>
        </p:sp>
        <p:sp>
          <p:nvSpPr>
            <p:cNvPr id="127" name="TextBox 127"/>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28" name="Group 128"/>
          <p:cNvGrpSpPr/>
          <p:nvPr/>
        </p:nvGrpSpPr>
        <p:grpSpPr>
          <a:xfrm rot="5400000">
            <a:off x="6053649" y="3196476"/>
            <a:ext cx="1313757" cy="773288"/>
            <a:chOff x="0" y="0"/>
            <a:chExt cx="690443" cy="406400"/>
          </a:xfrm>
        </p:grpSpPr>
        <p:sp>
          <p:nvSpPr>
            <p:cNvPr id="129" name="Freeform 129"/>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881"/>
            </a:solidFill>
          </p:spPr>
          <p:txBody>
            <a:bodyPr/>
            <a:lstStyle/>
            <a:p>
              <a:endParaRPr lang="es-CO" sz="1200"/>
            </a:p>
          </p:txBody>
        </p:sp>
        <p:sp>
          <p:nvSpPr>
            <p:cNvPr id="130" name="TextBox 130"/>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131" name="Group 131"/>
          <p:cNvGrpSpPr/>
          <p:nvPr/>
        </p:nvGrpSpPr>
        <p:grpSpPr>
          <a:xfrm>
            <a:off x="6529309" y="3736495"/>
            <a:ext cx="362436" cy="355441"/>
            <a:chOff x="0" y="0"/>
            <a:chExt cx="724872" cy="710883"/>
          </a:xfrm>
        </p:grpSpPr>
        <p:grpSp>
          <p:nvGrpSpPr>
            <p:cNvPr id="132" name="Group 132"/>
            <p:cNvGrpSpPr/>
            <p:nvPr/>
          </p:nvGrpSpPr>
          <p:grpSpPr>
            <a:xfrm>
              <a:off x="6995" y="0"/>
              <a:ext cx="710883" cy="710883"/>
              <a:chOff x="0" y="0"/>
              <a:chExt cx="812800" cy="812800"/>
            </a:xfrm>
          </p:grpSpPr>
          <p:sp>
            <p:nvSpPr>
              <p:cNvPr id="133" name="Freeform 1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34" name="TextBox 134"/>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35" name="TextBox 135"/>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08</a:t>
              </a:r>
            </a:p>
          </p:txBody>
        </p:sp>
      </p:grpSp>
      <p:sp>
        <p:nvSpPr>
          <p:cNvPr id="136" name="Freeform 136"/>
          <p:cNvSpPr/>
          <p:nvPr/>
        </p:nvSpPr>
        <p:spPr>
          <a:xfrm>
            <a:off x="6480094" y="3151056"/>
            <a:ext cx="450977" cy="480401"/>
          </a:xfrm>
          <a:custGeom>
            <a:avLst/>
            <a:gdLst/>
            <a:ahLst/>
            <a:cxnLst/>
            <a:rect l="l" t="t" r="r" b="b"/>
            <a:pathLst>
              <a:path w="676465" h="720601">
                <a:moveTo>
                  <a:pt x="0" y="0"/>
                </a:moveTo>
                <a:lnTo>
                  <a:pt x="676465" y="0"/>
                </a:lnTo>
                <a:lnTo>
                  <a:pt x="676465" y="720601"/>
                </a:lnTo>
                <a:lnTo>
                  <a:pt x="0" y="720601"/>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s-CO" sz="1200"/>
          </a:p>
        </p:txBody>
      </p:sp>
      <p:sp>
        <p:nvSpPr>
          <p:cNvPr id="137" name="TextBox 137"/>
          <p:cNvSpPr txBox="1"/>
          <p:nvPr/>
        </p:nvSpPr>
        <p:spPr>
          <a:xfrm>
            <a:off x="551025" y="771530"/>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Staff para Soluciones Digitales en:</a:t>
            </a:r>
          </a:p>
        </p:txBody>
      </p:sp>
      <p:sp>
        <p:nvSpPr>
          <p:cNvPr id="138" name="TextBox 138"/>
          <p:cNvSpPr txBox="1"/>
          <p:nvPr/>
        </p:nvSpPr>
        <p:spPr>
          <a:xfrm>
            <a:off x="2683818" y="1493674"/>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Fábrica de Software</a:t>
            </a:r>
          </a:p>
        </p:txBody>
      </p:sp>
      <p:sp>
        <p:nvSpPr>
          <p:cNvPr id="139" name="TextBox 139"/>
          <p:cNvSpPr txBox="1"/>
          <p:nvPr/>
        </p:nvSpPr>
        <p:spPr>
          <a:xfrm>
            <a:off x="9479935" y="3014026"/>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Integración</a:t>
            </a:r>
          </a:p>
        </p:txBody>
      </p:sp>
      <p:sp>
        <p:nvSpPr>
          <p:cNvPr id="140" name="TextBox 140"/>
          <p:cNvSpPr txBox="1"/>
          <p:nvPr/>
        </p:nvSpPr>
        <p:spPr>
          <a:xfrm>
            <a:off x="4932858" y="1493674"/>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Fábrica de pruebas</a:t>
            </a:r>
          </a:p>
        </p:txBody>
      </p:sp>
      <p:sp>
        <p:nvSpPr>
          <p:cNvPr id="141" name="TextBox 141"/>
          <p:cNvSpPr txBox="1"/>
          <p:nvPr/>
        </p:nvSpPr>
        <p:spPr>
          <a:xfrm>
            <a:off x="3940886" y="4560438"/>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DXP</a:t>
            </a:r>
          </a:p>
        </p:txBody>
      </p:sp>
      <p:sp>
        <p:nvSpPr>
          <p:cNvPr id="142" name="TextBox 142"/>
          <p:cNvSpPr txBox="1"/>
          <p:nvPr/>
        </p:nvSpPr>
        <p:spPr>
          <a:xfrm>
            <a:off x="7204308" y="1493674"/>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Analítica</a:t>
            </a:r>
          </a:p>
        </p:txBody>
      </p:sp>
      <p:sp>
        <p:nvSpPr>
          <p:cNvPr id="143" name="TextBox 143"/>
          <p:cNvSpPr txBox="1"/>
          <p:nvPr/>
        </p:nvSpPr>
        <p:spPr>
          <a:xfrm>
            <a:off x="6234749" y="4594055"/>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Cloud</a:t>
            </a:r>
          </a:p>
        </p:txBody>
      </p:sp>
      <p:sp>
        <p:nvSpPr>
          <p:cNvPr id="144" name="TextBox 144"/>
          <p:cNvSpPr txBox="1"/>
          <p:nvPr/>
        </p:nvSpPr>
        <p:spPr>
          <a:xfrm>
            <a:off x="9464553" y="1493674"/>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ERP</a:t>
            </a:r>
          </a:p>
        </p:txBody>
      </p:sp>
      <p:sp>
        <p:nvSpPr>
          <p:cNvPr id="145" name="TextBox 145"/>
          <p:cNvSpPr txBox="1"/>
          <p:nvPr/>
        </p:nvSpPr>
        <p:spPr>
          <a:xfrm>
            <a:off x="4947263" y="2966643"/>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Inteligencia </a:t>
            </a:r>
          </a:p>
          <a:p>
            <a:pPr>
              <a:lnSpc>
                <a:spcPts val="1867"/>
              </a:lnSpc>
            </a:pPr>
            <a:r>
              <a:rPr lang="en-US" sz="1333" b="1">
                <a:solidFill>
                  <a:srgbClr val="000000"/>
                </a:solidFill>
                <a:latin typeface="Arial Bold"/>
                <a:ea typeface="Arial Bold"/>
                <a:cs typeface="Arial Bold"/>
                <a:sym typeface="Arial Bold"/>
              </a:rPr>
              <a:t>Artificial</a:t>
            </a:r>
          </a:p>
        </p:txBody>
      </p:sp>
      <p:sp>
        <p:nvSpPr>
          <p:cNvPr id="146" name="TextBox 146"/>
          <p:cNvSpPr txBox="1"/>
          <p:nvPr/>
        </p:nvSpPr>
        <p:spPr>
          <a:xfrm>
            <a:off x="2644063" y="3065604"/>
            <a:ext cx="1383163"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Automatización</a:t>
            </a:r>
          </a:p>
        </p:txBody>
      </p:sp>
      <p:sp>
        <p:nvSpPr>
          <p:cNvPr id="147" name="TextBox 147"/>
          <p:cNvSpPr txBox="1"/>
          <p:nvPr/>
        </p:nvSpPr>
        <p:spPr>
          <a:xfrm>
            <a:off x="8446878" y="4610171"/>
            <a:ext cx="1492671"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Ciberseguridad</a:t>
            </a:r>
          </a:p>
        </p:txBody>
      </p:sp>
      <p:sp>
        <p:nvSpPr>
          <p:cNvPr id="148" name="TextBox 148"/>
          <p:cNvSpPr txBox="1"/>
          <p:nvPr/>
        </p:nvSpPr>
        <p:spPr>
          <a:xfrm>
            <a:off x="7200965" y="3034926"/>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AMS</a:t>
            </a:r>
          </a:p>
        </p:txBody>
      </p:sp>
      <p:grpSp>
        <p:nvGrpSpPr>
          <p:cNvPr id="151" name="Group 53">
            <a:extLst>
              <a:ext uri="{FF2B5EF4-FFF2-40B4-BE49-F238E27FC236}">
                <a16:creationId xmlns:a16="http://schemas.microsoft.com/office/drawing/2014/main" id="{3E100E34-FCDA-8CC6-9681-456E7BEA87C7}"/>
              </a:ext>
            </a:extLst>
          </p:cNvPr>
          <p:cNvGrpSpPr/>
          <p:nvPr/>
        </p:nvGrpSpPr>
        <p:grpSpPr>
          <a:xfrm>
            <a:off x="-9867" y="5937480"/>
            <a:ext cx="12202413" cy="225833"/>
            <a:chOff x="0" y="-85725"/>
            <a:chExt cx="798874" cy="522598"/>
          </a:xfrm>
        </p:grpSpPr>
        <p:sp>
          <p:nvSpPr>
            <p:cNvPr id="152" name="Freeform 54">
              <a:extLst>
                <a:ext uri="{FF2B5EF4-FFF2-40B4-BE49-F238E27FC236}">
                  <a16:creationId xmlns:a16="http://schemas.microsoft.com/office/drawing/2014/main" id="{A6C83186-C9C6-3AA7-D54F-57DD2D0C419F}"/>
                </a:ext>
              </a:extLst>
            </p:cNvPr>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B2434">
                <a:alpha val="24706"/>
              </a:srgbClr>
            </a:solidFill>
            <a:ln cap="sq">
              <a:noFill/>
              <a:prstDash val="solid"/>
              <a:miter/>
            </a:ln>
          </p:spPr>
          <p:txBody>
            <a:bodyPr/>
            <a:lstStyle/>
            <a:p>
              <a:endParaRPr lang="es-CO" sz="1200"/>
            </a:p>
          </p:txBody>
        </p:sp>
        <p:sp>
          <p:nvSpPr>
            <p:cNvPr id="153" name="TextBox 55">
              <a:extLst>
                <a:ext uri="{FF2B5EF4-FFF2-40B4-BE49-F238E27FC236}">
                  <a16:creationId xmlns:a16="http://schemas.microsoft.com/office/drawing/2014/main" id="{4B5789BE-DBF9-A2B7-CE5D-395D571B36CA}"/>
                </a:ext>
              </a:extLst>
            </p:cNvPr>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sp>
        <p:nvSpPr>
          <p:cNvPr id="161" name="CuadroTexto 160">
            <a:extLst>
              <a:ext uri="{FF2B5EF4-FFF2-40B4-BE49-F238E27FC236}">
                <a16:creationId xmlns:a16="http://schemas.microsoft.com/office/drawing/2014/main" id="{66010085-CD57-AF1F-5197-4C5CE1549021}"/>
              </a:ext>
            </a:extLst>
          </p:cNvPr>
          <p:cNvSpPr txBox="1"/>
          <p:nvPr/>
        </p:nvSpPr>
        <p:spPr>
          <a:xfrm>
            <a:off x="4835236" y="5925494"/>
            <a:ext cx="274320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b="1">
                <a:latin typeface="Arial Bold"/>
              </a:rPr>
              <a:t>Capacity</a:t>
            </a:r>
            <a:endParaRPr lang="es-ES"/>
          </a:p>
        </p:txBody>
      </p:sp>
      <p:pic>
        <p:nvPicPr>
          <p:cNvPr id="154" name="Imagen 153" descr="Forma&#10;&#10;Descripción generada automáticamente">
            <a:extLst>
              <a:ext uri="{FF2B5EF4-FFF2-40B4-BE49-F238E27FC236}">
                <a16:creationId xmlns:a16="http://schemas.microsoft.com/office/drawing/2014/main" id="{127E1BD2-607C-64F0-4923-0642AE74777C}"/>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0165398" y="6733816"/>
            <a:ext cx="2056097" cy="141717"/>
          </a:xfrm>
          <a:prstGeom prst="rect">
            <a:avLst/>
          </a:prstGeom>
        </p:spPr>
      </p:pic>
      <p:pic>
        <p:nvPicPr>
          <p:cNvPr id="155" name="Imagen 154">
            <a:extLst>
              <a:ext uri="{FF2B5EF4-FFF2-40B4-BE49-F238E27FC236}">
                <a16:creationId xmlns:a16="http://schemas.microsoft.com/office/drawing/2014/main" id="{2784009D-646B-B90F-C04B-DAA876DDD361}"/>
              </a:ext>
            </a:extLst>
          </p:cNvPr>
          <p:cNvPicPr>
            <a:picLocks noChangeAspect="1"/>
          </p:cNvPicPr>
          <p:nvPr/>
        </p:nvPicPr>
        <p:blipFill>
          <a:blip r:embed="rId26"/>
          <a:stretch>
            <a:fillRect/>
          </a:stretch>
        </p:blipFill>
        <p:spPr>
          <a:xfrm>
            <a:off x="10130828" y="6203384"/>
            <a:ext cx="2135671" cy="54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a:off x="283822" y="1904165"/>
            <a:ext cx="768141" cy="768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49AF"/>
            </a:solidFill>
          </p:spPr>
          <p:txBody>
            <a:bodyPr/>
            <a:lstStyle/>
            <a:p>
              <a:endParaRPr lang="es-CO" sz="1200"/>
            </a:p>
          </p:txBody>
        </p:sp>
        <p:sp>
          <p:nvSpPr>
            <p:cNvPr id="7" name="TextBox 7"/>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8" name="Group 8"/>
          <p:cNvGrpSpPr/>
          <p:nvPr/>
        </p:nvGrpSpPr>
        <p:grpSpPr>
          <a:xfrm>
            <a:off x="3332564" y="1877283"/>
            <a:ext cx="768141" cy="7681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97CA"/>
            </a:solidFill>
          </p:spPr>
          <p:txBody>
            <a:bodyPr/>
            <a:lstStyle/>
            <a:p>
              <a:endParaRPr lang="es-CO" sz="1200"/>
            </a:p>
          </p:txBody>
        </p:sp>
        <p:sp>
          <p:nvSpPr>
            <p:cNvPr id="10" name="TextBox 10"/>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1" name="Group 11"/>
          <p:cNvGrpSpPr/>
          <p:nvPr/>
        </p:nvGrpSpPr>
        <p:grpSpPr>
          <a:xfrm>
            <a:off x="6094963" y="1848707"/>
            <a:ext cx="768141" cy="7681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C195"/>
            </a:solidFill>
          </p:spPr>
          <p:txBody>
            <a:bodyPr/>
            <a:lstStyle/>
            <a:p>
              <a:endParaRPr lang="es-CO" sz="1200"/>
            </a:p>
          </p:txBody>
        </p:sp>
        <p:sp>
          <p:nvSpPr>
            <p:cNvPr id="13" name="TextBox 13"/>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4" name="Group 14"/>
          <p:cNvGrpSpPr/>
          <p:nvPr/>
        </p:nvGrpSpPr>
        <p:grpSpPr>
          <a:xfrm>
            <a:off x="1083554" y="4825661"/>
            <a:ext cx="768141" cy="7681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73C5"/>
            </a:solidFill>
          </p:spPr>
          <p:txBody>
            <a:bodyPr/>
            <a:lstStyle/>
            <a:p>
              <a:endParaRPr lang="es-CO" sz="1200"/>
            </a:p>
          </p:txBody>
        </p:sp>
        <p:sp>
          <p:nvSpPr>
            <p:cNvPr id="16" name="TextBox 16"/>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7" name="Group 17"/>
          <p:cNvGrpSpPr/>
          <p:nvPr/>
        </p:nvGrpSpPr>
        <p:grpSpPr>
          <a:xfrm>
            <a:off x="5203883" y="4993282"/>
            <a:ext cx="768141" cy="76814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BAC7"/>
            </a:solidFill>
          </p:spPr>
          <p:txBody>
            <a:bodyPr/>
            <a:lstStyle/>
            <a:p>
              <a:endParaRPr lang="es-CO" sz="1200"/>
            </a:p>
          </p:txBody>
        </p:sp>
        <p:sp>
          <p:nvSpPr>
            <p:cNvPr id="19" name="TextBox 19"/>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20" name="Group 20"/>
          <p:cNvGrpSpPr/>
          <p:nvPr/>
        </p:nvGrpSpPr>
        <p:grpSpPr>
          <a:xfrm>
            <a:off x="8323802" y="4837416"/>
            <a:ext cx="768141" cy="76814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C740"/>
            </a:solidFill>
          </p:spPr>
          <p:txBody>
            <a:bodyPr/>
            <a:lstStyle/>
            <a:p>
              <a:endParaRPr lang="es-CO" sz="1200"/>
            </a:p>
          </p:txBody>
        </p:sp>
        <p:sp>
          <p:nvSpPr>
            <p:cNvPr id="22" name="TextBox 22"/>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sp>
        <p:nvSpPr>
          <p:cNvPr id="23" name="Freeform 23"/>
          <p:cNvSpPr/>
          <p:nvPr/>
        </p:nvSpPr>
        <p:spPr>
          <a:xfrm>
            <a:off x="426265" y="2005438"/>
            <a:ext cx="483255" cy="483255"/>
          </a:xfrm>
          <a:custGeom>
            <a:avLst/>
            <a:gdLst/>
            <a:ahLst/>
            <a:cxnLst/>
            <a:rect l="l" t="t" r="r" b="b"/>
            <a:pathLst>
              <a:path w="724882" h="724882">
                <a:moveTo>
                  <a:pt x="0" y="0"/>
                </a:moveTo>
                <a:lnTo>
                  <a:pt x="724882" y="0"/>
                </a:lnTo>
                <a:lnTo>
                  <a:pt x="724882" y="724883"/>
                </a:lnTo>
                <a:lnTo>
                  <a:pt x="0" y="7248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24" name="Freeform 24"/>
          <p:cNvSpPr/>
          <p:nvPr/>
        </p:nvSpPr>
        <p:spPr>
          <a:xfrm>
            <a:off x="1180411" y="4990720"/>
            <a:ext cx="635033" cy="457223"/>
          </a:xfrm>
          <a:custGeom>
            <a:avLst/>
            <a:gdLst/>
            <a:ahLst/>
            <a:cxnLst/>
            <a:rect l="l" t="t" r="r" b="b"/>
            <a:pathLst>
              <a:path w="952549" h="685835">
                <a:moveTo>
                  <a:pt x="0" y="0"/>
                </a:moveTo>
                <a:lnTo>
                  <a:pt x="952549" y="0"/>
                </a:lnTo>
                <a:lnTo>
                  <a:pt x="952549" y="685835"/>
                </a:lnTo>
                <a:lnTo>
                  <a:pt x="0" y="6858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25" name="Freeform 25"/>
          <p:cNvSpPr/>
          <p:nvPr/>
        </p:nvSpPr>
        <p:spPr>
          <a:xfrm>
            <a:off x="3442042" y="2035556"/>
            <a:ext cx="558969" cy="527527"/>
          </a:xfrm>
          <a:custGeom>
            <a:avLst/>
            <a:gdLst/>
            <a:ahLst/>
            <a:cxnLst/>
            <a:rect l="l" t="t" r="r" b="b"/>
            <a:pathLst>
              <a:path w="838454" h="791291">
                <a:moveTo>
                  <a:pt x="0" y="0"/>
                </a:moveTo>
                <a:lnTo>
                  <a:pt x="838454" y="0"/>
                </a:lnTo>
                <a:lnTo>
                  <a:pt x="838454" y="791291"/>
                </a:lnTo>
                <a:lnTo>
                  <a:pt x="0" y="7912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26" name="Freeform 26"/>
          <p:cNvSpPr/>
          <p:nvPr/>
        </p:nvSpPr>
        <p:spPr>
          <a:xfrm>
            <a:off x="5267005" y="5056404"/>
            <a:ext cx="641897" cy="641897"/>
          </a:xfrm>
          <a:custGeom>
            <a:avLst/>
            <a:gdLst/>
            <a:ahLst/>
            <a:cxnLst/>
            <a:rect l="l" t="t" r="r" b="b"/>
            <a:pathLst>
              <a:path w="962846" h="962846">
                <a:moveTo>
                  <a:pt x="0" y="0"/>
                </a:moveTo>
                <a:lnTo>
                  <a:pt x="962846" y="0"/>
                </a:lnTo>
                <a:lnTo>
                  <a:pt x="962846" y="962846"/>
                </a:lnTo>
                <a:lnTo>
                  <a:pt x="0" y="9628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27" name="Freeform 27"/>
          <p:cNvSpPr/>
          <p:nvPr/>
        </p:nvSpPr>
        <p:spPr>
          <a:xfrm>
            <a:off x="6119914" y="1961186"/>
            <a:ext cx="649611" cy="657834"/>
          </a:xfrm>
          <a:custGeom>
            <a:avLst/>
            <a:gdLst/>
            <a:ahLst/>
            <a:cxnLst/>
            <a:rect l="l" t="t" r="r" b="b"/>
            <a:pathLst>
              <a:path w="974416" h="986751">
                <a:moveTo>
                  <a:pt x="0" y="0"/>
                </a:moveTo>
                <a:lnTo>
                  <a:pt x="974417" y="0"/>
                </a:lnTo>
                <a:lnTo>
                  <a:pt x="974417" y="986751"/>
                </a:lnTo>
                <a:lnTo>
                  <a:pt x="0" y="9867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sp>
        <p:nvSpPr>
          <p:cNvPr id="28" name="Freeform 28"/>
          <p:cNvSpPr/>
          <p:nvPr/>
        </p:nvSpPr>
        <p:spPr>
          <a:xfrm>
            <a:off x="8448646" y="4931948"/>
            <a:ext cx="643297" cy="673610"/>
          </a:xfrm>
          <a:custGeom>
            <a:avLst/>
            <a:gdLst/>
            <a:ahLst/>
            <a:cxnLst/>
            <a:rect l="l" t="t" r="r" b="b"/>
            <a:pathLst>
              <a:path w="964946" h="1010415">
                <a:moveTo>
                  <a:pt x="0" y="0"/>
                </a:moveTo>
                <a:lnTo>
                  <a:pt x="964946" y="0"/>
                </a:lnTo>
                <a:lnTo>
                  <a:pt x="964946" y="1010415"/>
                </a:lnTo>
                <a:lnTo>
                  <a:pt x="0" y="101041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CO" sz="1200"/>
          </a:p>
        </p:txBody>
      </p:sp>
      <p:sp>
        <p:nvSpPr>
          <p:cNvPr id="29" name="Freeform 29"/>
          <p:cNvSpPr/>
          <p:nvPr/>
        </p:nvSpPr>
        <p:spPr>
          <a:xfrm>
            <a:off x="336764" y="2967624"/>
            <a:ext cx="1798203" cy="908092"/>
          </a:xfrm>
          <a:custGeom>
            <a:avLst/>
            <a:gdLst/>
            <a:ahLst/>
            <a:cxnLst/>
            <a:rect l="l" t="t" r="r" b="b"/>
            <a:pathLst>
              <a:path w="2697304" h="1362138">
                <a:moveTo>
                  <a:pt x="0" y="0"/>
                </a:moveTo>
                <a:lnTo>
                  <a:pt x="2697303" y="0"/>
                </a:lnTo>
                <a:lnTo>
                  <a:pt x="2697303" y="1362138"/>
                </a:lnTo>
                <a:lnTo>
                  <a:pt x="0" y="1362138"/>
                </a:lnTo>
                <a:lnTo>
                  <a:pt x="0" y="0"/>
                </a:lnTo>
                <a:close/>
              </a:path>
            </a:pathLst>
          </a:custGeom>
          <a:blipFill>
            <a:blip r:embed="rId15">
              <a:extLst>
                <a:ext uri="{96DAC541-7B7A-43D3-8B79-37D633B846F1}">
                  <asvg:svgBlip xmlns:asvg="http://schemas.microsoft.com/office/drawing/2016/SVG/main" r:embed="rId16"/>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0" name="Freeform 30"/>
          <p:cNvSpPr/>
          <p:nvPr/>
        </p:nvSpPr>
        <p:spPr>
          <a:xfrm rot="10738223">
            <a:off x="1841607" y="3828299"/>
            <a:ext cx="1798203" cy="908092"/>
          </a:xfrm>
          <a:custGeom>
            <a:avLst/>
            <a:gdLst/>
            <a:ahLst/>
            <a:cxnLst/>
            <a:rect l="l" t="t" r="r" b="b"/>
            <a:pathLst>
              <a:path w="2697304" h="1362138">
                <a:moveTo>
                  <a:pt x="0" y="0"/>
                </a:moveTo>
                <a:lnTo>
                  <a:pt x="2697304" y="0"/>
                </a:lnTo>
                <a:lnTo>
                  <a:pt x="2697304" y="1362139"/>
                </a:lnTo>
                <a:lnTo>
                  <a:pt x="0" y="1362139"/>
                </a:lnTo>
                <a:lnTo>
                  <a:pt x="0" y="0"/>
                </a:lnTo>
                <a:close/>
              </a:path>
            </a:pathLst>
          </a:custGeom>
          <a:blipFill>
            <a:blip r:embed="rId17">
              <a:extLst>
                <a:ext uri="{96DAC541-7B7A-43D3-8B79-37D633B846F1}">
                  <asvg:svgBlip xmlns:asvg="http://schemas.microsoft.com/office/drawing/2016/SVG/main" r:embed="rId18"/>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1" name="Freeform 31"/>
          <p:cNvSpPr/>
          <p:nvPr/>
        </p:nvSpPr>
        <p:spPr>
          <a:xfrm>
            <a:off x="3332563" y="2942016"/>
            <a:ext cx="1798203" cy="908092"/>
          </a:xfrm>
          <a:custGeom>
            <a:avLst/>
            <a:gdLst/>
            <a:ahLst/>
            <a:cxnLst/>
            <a:rect l="l" t="t" r="r" b="b"/>
            <a:pathLst>
              <a:path w="2697304" h="1362138">
                <a:moveTo>
                  <a:pt x="0" y="0"/>
                </a:moveTo>
                <a:lnTo>
                  <a:pt x="2697303" y="0"/>
                </a:lnTo>
                <a:lnTo>
                  <a:pt x="2697303" y="1362139"/>
                </a:lnTo>
                <a:lnTo>
                  <a:pt x="0" y="1362139"/>
                </a:lnTo>
                <a:lnTo>
                  <a:pt x="0" y="0"/>
                </a:lnTo>
                <a:close/>
              </a:path>
            </a:pathLst>
          </a:custGeom>
          <a:blipFill>
            <a:blip r:embed="rId19">
              <a:extLst>
                <a:ext uri="{96DAC541-7B7A-43D3-8B79-37D633B846F1}">
                  <asvg:svgBlip xmlns:asvg="http://schemas.microsoft.com/office/drawing/2016/SVG/main" r:embed="rId20"/>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2" name="Freeform 32"/>
          <p:cNvSpPr/>
          <p:nvPr/>
        </p:nvSpPr>
        <p:spPr>
          <a:xfrm rot="10738223">
            <a:off x="4838683" y="3802692"/>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1">
              <a:extLst>
                <a:ext uri="{96DAC541-7B7A-43D3-8B79-37D633B846F1}">
                  <asvg:svgBlip xmlns:asvg="http://schemas.microsoft.com/office/drawing/2016/SVG/main" r:embed="rId22"/>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3" name="Freeform 33"/>
          <p:cNvSpPr/>
          <p:nvPr/>
        </p:nvSpPr>
        <p:spPr>
          <a:xfrm>
            <a:off x="6330915" y="2897359"/>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3">
              <a:extLst>
                <a:ext uri="{96DAC541-7B7A-43D3-8B79-37D633B846F1}">
                  <asvg:svgBlip xmlns:asvg="http://schemas.microsoft.com/office/drawing/2016/SVG/main" r:embed="rId24"/>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4" name="Freeform 34"/>
          <p:cNvSpPr/>
          <p:nvPr/>
        </p:nvSpPr>
        <p:spPr>
          <a:xfrm rot="10738223">
            <a:off x="7840521" y="3758034"/>
            <a:ext cx="1798203" cy="908092"/>
          </a:xfrm>
          <a:custGeom>
            <a:avLst/>
            <a:gdLst/>
            <a:ahLst/>
            <a:cxnLst/>
            <a:rect l="l" t="t" r="r" b="b"/>
            <a:pathLst>
              <a:path w="2697304" h="1362138">
                <a:moveTo>
                  <a:pt x="0" y="0"/>
                </a:moveTo>
                <a:lnTo>
                  <a:pt x="2697304" y="0"/>
                </a:lnTo>
                <a:lnTo>
                  <a:pt x="2697304" y="1362139"/>
                </a:lnTo>
                <a:lnTo>
                  <a:pt x="0" y="1362139"/>
                </a:lnTo>
                <a:lnTo>
                  <a:pt x="0" y="0"/>
                </a:lnTo>
                <a:close/>
              </a:path>
            </a:pathLst>
          </a:custGeom>
          <a:blipFill>
            <a:blip r:embed="rId25">
              <a:extLst>
                <a:ext uri="{96DAC541-7B7A-43D3-8B79-37D633B846F1}">
                  <asvg:svgBlip xmlns:asvg="http://schemas.microsoft.com/office/drawing/2016/SVG/main" r:embed="rId26"/>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5" name="Freeform 35"/>
          <p:cNvSpPr/>
          <p:nvPr/>
        </p:nvSpPr>
        <p:spPr>
          <a:xfrm>
            <a:off x="9329268" y="2859259"/>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7">
              <a:extLst>
                <a:ext uri="{96DAC541-7B7A-43D3-8B79-37D633B846F1}">
                  <asvg:svgBlip xmlns:asvg="http://schemas.microsoft.com/office/drawing/2016/SVG/main" r:embed="rId28"/>
                </a:ext>
              </a:extLst>
            </a:blip>
            <a:stretch>
              <a:fillRect/>
            </a:stretch>
          </a:blipFill>
          <a:effectLst>
            <a:outerShdw blurRad="50800" dist="38100" dir="8100000" algn="tr" rotWithShape="0">
              <a:prstClr val="black">
                <a:alpha val="40000"/>
              </a:prstClr>
            </a:outerShdw>
          </a:effectLst>
        </p:spPr>
        <p:txBody>
          <a:bodyPr/>
          <a:lstStyle/>
          <a:p>
            <a:endParaRPr lang="es-CO" sz="1200"/>
          </a:p>
        </p:txBody>
      </p:sp>
      <p:grpSp>
        <p:nvGrpSpPr>
          <p:cNvPr id="36" name="Group 36"/>
          <p:cNvGrpSpPr/>
          <p:nvPr/>
        </p:nvGrpSpPr>
        <p:grpSpPr>
          <a:xfrm>
            <a:off x="9329268" y="1877283"/>
            <a:ext cx="768141" cy="76814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E83F"/>
            </a:solidFill>
          </p:spPr>
          <p:txBody>
            <a:bodyPr/>
            <a:lstStyle/>
            <a:p>
              <a:endParaRPr lang="es-CO" sz="1200"/>
            </a:p>
          </p:txBody>
        </p:sp>
        <p:sp>
          <p:nvSpPr>
            <p:cNvPr id="38" name="TextBox 38"/>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sp>
        <p:nvSpPr>
          <p:cNvPr id="39" name="Freeform 39"/>
          <p:cNvSpPr/>
          <p:nvPr/>
        </p:nvSpPr>
        <p:spPr>
          <a:xfrm>
            <a:off x="9497302" y="1938451"/>
            <a:ext cx="515249" cy="557779"/>
          </a:xfrm>
          <a:custGeom>
            <a:avLst/>
            <a:gdLst/>
            <a:ahLst/>
            <a:cxnLst/>
            <a:rect l="l" t="t" r="r" b="b"/>
            <a:pathLst>
              <a:path w="772873" h="836669">
                <a:moveTo>
                  <a:pt x="0" y="0"/>
                </a:moveTo>
                <a:lnTo>
                  <a:pt x="772874" y="0"/>
                </a:lnTo>
                <a:lnTo>
                  <a:pt x="772874" y="836670"/>
                </a:lnTo>
                <a:lnTo>
                  <a:pt x="0" y="836670"/>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s-CO" sz="1200"/>
          </a:p>
        </p:txBody>
      </p:sp>
      <p:sp>
        <p:nvSpPr>
          <p:cNvPr id="40" name="TextBox 40"/>
          <p:cNvSpPr txBox="1"/>
          <p:nvPr/>
        </p:nvSpPr>
        <p:spPr>
          <a:xfrm>
            <a:off x="688366" y="875544"/>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Roadmap del servicio</a:t>
            </a:r>
          </a:p>
        </p:txBody>
      </p:sp>
      <p:sp>
        <p:nvSpPr>
          <p:cNvPr id="41" name="TextBox 41"/>
          <p:cNvSpPr txBox="1"/>
          <p:nvPr/>
        </p:nvSpPr>
        <p:spPr>
          <a:xfrm>
            <a:off x="1229780" y="1870755"/>
            <a:ext cx="1810374"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Levantamiento necesidad del cliente y negociación</a:t>
            </a:r>
          </a:p>
        </p:txBody>
      </p:sp>
      <p:sp>
        <p:nvSpPr>
          <p:cNvPr id="42" name="TextBox 42"/>
          <p:cNvSpPr txBox="1"/>
          <p:nvPr/>
        </p:nvSpPr>
        <p:spPr>
          <a:xfrm>
            <a:off x="2091846" y="5032575"/>
            <a:ext cx="2737387"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Búsqueda del talento especializado</a:t>
            </a:r>
          </a:p>
          <a:p>
            <a:pPr>
              <a:lnSpc>
                <a:spcPts val="1599"/>
              </a:lnSpc>
            </a:pPr>
            <a:r>
              <a:rPr lang="en-US" sz="1333">
                <a:solidFill>
                  <a:srgbClr val="697477"/>
                </a:solidFill>
                <a:latin typeface="Arial"/>
                <a:ea typeface="Arial"/>
                <a:cs typeface="Arial"/>
                <a:sym typeface="Arial"/>
              </a:rPr>
              <a:t>envió de las hvs + entrevistas + pruebas técnicas y psicotécnicas </a:t>
            </a:r>
          </a:p>
        </p:txBody>
      </p:sp>
      <p:sp>
        <p:nvSpPr>
          <p:cNvPr id="43" name="TextBox 43"/>
          <p:cNvSpPr txBox="1"/>
          <p:nvPr/>
        </p:nvSpPr>
        <p:spPr>
          <a:xfrm>
            <a:off x="4310255" y="1899507"/>
            <a:ext cx="1431015"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Asignación de coordinador de personal </a:t>
            </a:r>
          </a:p>
        </p:txBody>
      </p:sp>
      <p:sp>
        <p:nvSpPr>
          <p:cNvPr id="44" name="TextBox 44"/>
          <p:cNvSpPr txBox="1"/>
          <p:nvPr/>
        </p:nvSpPr>
        <p:spPr>
          <a:xfrm>
            <a:off x="6200624" y="5213737"/>
            <a:ext cx="1543015" cy="192810"/>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OnBoarding al staff</a:t>
            </a:r>
          </a:p>
        </p:txBody>
      </p:sp>
      <p:sp>
        <p:nvSpPr>
          <p:cNvPr id="45" name="TextBox 45"/>
          <p:cNvSpPr txBox="1"/>
          <p:nvPr/>
        </p:nvSpPr>
        <p:spPr>
          <a:xfrm>
            <a:off x="9331256" y="4980772"/>
            <a:ext cx="2067705"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Acompañamiento y Evaluaciones de desempeño</a:t>
            </a:r>
          </a:p>
        </p:txBody>
      </p:sp>
      <p:sp>
        <p:nvSpPr>
          <p:cNvPr id="46" name="TextBox 46"/>
          <p:cNvSpPr txBox="1"/>
          <p:nvPr/>
        </p:nvSpPr>
        <p:spPr>
          <a:xfrm>
            <a:off x="10249810" y="1730838"/>
            <a:ext cx="2138917" cy="808363"/>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Gestión del </a:t>
            </a:r>
          </a:p>
          <a:p>
            <a:pPr>
              <a:lnSpc>
                <a:spcPts val="1599"/>
              </a:lnSpc>
            </a:pPr>
            <a:r>
              <a:rPr lang="en-US" sz="1333">
                <a:solidFill>
                  <a:srgbClr val="697477"/>
                </a:solidFill>
                <a:latin typeface="Arial"/>
                <a:ea typeface="Arial"/>
                <a:cs typeface="Arial"/>
                <a:sym typeface="Arial"/>
              </a:rPr>
              <a:t>servicio</a:t>
            </a:r>
          </a:p>
          <a:p>
            <a:pPr>
              <a:lnSpc>
                <a:spcPts val="1599"/>
              </a:lnSpc>
            </a:pPr>
            <a:r>
              <a:rPr lang="en-US" sz="1333">
                <a:solidFill>
                  <a:srgbClr val="697477"/>
                </a:solidFill>
                <a:latin typeface="Arial"/>
                <a:ea typeface="Arial"/>
                <a:cs typeface="Arial"/>
                <a:sym typeface="Arial"/>
              </a:rPr>
              <a:t>y seguimiento </a:t>
            </a:r>
          </a:p>
          <a:p>
            <a:pPr>
              <a:lnSpc>
                <a:spcPts val="1599"/>
              </a:lnSpc>
            </a:pPr>
            <a:r>
              <a:rPr lang="en-US" sz="1333">
                <a:solidFill>
                  <a:srgbClr val="697477"/>
                </a:solidFill>
                <a:latin typeface="Arial"/>
                <a:ea typeface="Arial"/>
                <a:cs typeface="Arial"/>
                <a:sym typeface="Arial"/>
              </a:rPr>
              <a:t>NPS</a:t>
            </a:r>
          </a:p>
        </p:txBody>
      </p:sp>
      <p:sp>
        <p:nvSpPr>
          <p:cNvPr id="47" name="TextBox 47"/>
          <p:cNvSpPr txBox="1"/>
          <p:nvPr/>
        </p:nvSpPr>
        <p:spPr>
          <a:xfrm>
            <a:off x="6925988" y="1917252"/>
            <a:ext cx="2296229" cy="603178"/>
          </a:xfrm>
          <a:prstGeom prst="rect">
            <a:avLst/>
          </a:prstGeom>
        </p:spPr>
        <p:txBody>
          <a:bodyPr wrap="square" lIns="0" tIns="0" rIns="0" bIns="0" rtlCol="0" anchor="t">
            <a:spAutoFit/>
          </a:bodyPr>
          <a:lstStyle/>
          <a:p>
            <a:pPr>
              <a:lnSpc>
                <a:spcPts val="1599"/>
              </a:lnSpc>
            </a:pPr>
            <a:r>
              <a:rPr lang="en-US" sz="1333">
                <a:solidFill>
                  <a:srgbClr val="697477"/>
                </a:solidFill>
                <a:latin typeface="Arial"/>
                <a:ea typeface="Arial"/>
                <a:cs typeface="Arial"/>
                <a:sym typeface="Arial"/>
              </a:rPr>
              <a:t>Presentación del colaborador al cliente y entrega de responsabilidades y funciones </a:t>
            </a:r>
          </a:p>
        </p:txBody>
      </p:sp>
      <p:sp>
        <p:nvSpPr>
          <p:cNvPr id="51" name="Elipse 50">
            <a:extLst>
              <a:ext uri="{FF2B5EF4-FFF2-40B4-BE49-F238E27FC236}">
                <a16:creationId xmlns:a16="http://schemas.microsoft.com/office/drawing/2014/main" id="{A493B239-61F1-F663-B63A-CAA3CB5252E2}"/>
              </a:ext>
            </a:extLst>
          </p:cNvPr>
          <p:cNvSpPr/>
          <p:nvPr/>
        </p:nvSpPr>
        <p:spPr>
          <a:xfrm>
            <a:off x="551574" y="2502103"/>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B1F6B568-B59F-B441-4F6C-E7F4C09B77FB}"/>
              </a:ext>
            </a:extLst>
          </p:cNvPr>
          <p:cNvSpPr txBox="1"/>
          <p:nvPr/>
        </p:nvSpPr>
        <p:spPr>
          <a:xfrm>
            <a:off x="575413" y="2503011"/>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1</a:t>
            </a:r>
          </a:p>
        </p:txBody>
      </p:sp>
      <p:sp>
        <p:nvSpPr>
          <p:cNvPr id="53" name="Elipse 52">
            <a:extLst>
              <a:ext uri="{FF2B5EF4-FFF2-40B4-BE49-F238E27FC236}">
                <a16:creationId xmlns:a16="http://schemas.microsoft.com/office/drawing/2014/main" id="{FF877DBC-D3FC-A8AF-CDFE-43AB27E1BC4A}"/>
              </a:ext>
            </a:extLst>
          </p:cNvPr>
          <p:cNvSpPr/>
          <p:nvPr/>
        </p:nvSpPr>
        <p:spPr>
          <a:xfrm>
            <a:off x="1019468" y="5443155"/>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CuadroTexto 53">
            <a:extLst>
              <a:ext uri="{FF2B5EF4-FFF2-40B4-BE49-F238E27FC236}">
                <a16:creationId xmlns:a16="http://schemas.microsoft.com/office/drawing/2014/main" id="{5B9E51D0-B65B-89C4-D75F-E9A06158AB94}"/>
              </a:ext>
            </a:extLst>
          </p:cNvPr>
          <p:cNvSpPr txBox="1"/>
          <p:nvPr/>
        </p:nvSpPr>
        <p:spPr>
          <a:xfrm>
            <a:off x="1043307" y="544406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2</a:t>
            </a:r>
          </a:p>
        </p:txBody>
      </p:sp>
      <p:sp>
        <p:nvSpPr>
          <p:cNvPr id="55" name="Elipse 54">
            <a:extLst>
              <a:ext uri="{FF2B5EF4-FFF2-40B4-BE49-F238E27FC236}">
                <a16:creationId xmlns:a16="http://schemas.microsoft.com/office/drawing/2014/main" id="{4FAD87CE-FF74-B1B5-FEBC-047D07A08735}"/>
              </a:ext>
            </a:extLst>
          </p:cNvPr>
          <p:cNvSpPr/>
          <p:nvPr/>
        </p:nvSpPr>
        <p:spPr>
          <a:xfrm>
            <a:off x="3759994" y="2502102"/>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CuadroTexto 55">
            <a:extLst>
              <a:ext uri="{FF2B5EF4-FFF2-40B4-BE49-F238E27FC236}">
                <a16:creationId xmlns:a16="http://schemas.microsoft.com/office/drawing/2014/main" id="{766FFEF2-FEDF-A041-4554-8AA4DDD69923}"/>
              </a:ext>
            </a:extLst>
          </p:cNvPr>
          <p:cNvSpPr txBox="1"/>
          <p:nvPr/>
        </p:nvSpPr>
        <p:spPr>
          <a:xfrm>
            <a:off x="3783833" y="2503011"/>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3</a:t>
            </a:r>
          </a:p>
        </p:txBody>
      </p:sp>
      <p:sp>
        <p:nvSpPr>
          <p:cNvPr id="57" name="Elipse 56">
            <a:extLst>
              <a:ext uri="{FF2B5EF4-FFF2-40B4-BE49-F238E27FC236}">
                <a16:creationId xmlns:a16="http://schemas.microsoft.com/office/drawing/2014/main" id="{1312B4DE-8AEF-9B9A-C782-4BC2E754F9A9}"/>
              </a:ext>
            </a:extLst>
          </p:cNvPr>
          <p:cNvSpPr/>
          <p:nvPr/>
        </p:nvSpPr>
        <p:spPr>
          <a:xfrm>
            <a:off x="5711784" y="5523366"/>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CuadroTexto 57">
            <a:extLst>
              <a:ext uri="{FF2B5EF4-FFF2-40B4-BE49-F238E27FC236}">
                <a16:creationId xmlns:a16="http://schemas.microsoft.com/office/drawing/2014/main" id="{81CF3D29-5620-B77B-FB7A-3C3C9BA830A5}"/>
              </a:ext>
            </a:extLst>
          </p:cNvPr>
          <p:cNvSpPr txBox="1"/>
          <p:nvPr/>
        </p:nvSpPr>
        <p:spPr>
          <a:xfrm>
            <a:off x="5735623" y="552427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4</a:t>
            </a:r>
          </a:p>
        </p:txBody>
      </p:sp>
      <p:sp>
        <p:nvSpPr>
          <p:cNvPr id="59" name="Elipse 58">
            <a:extLst>
              <a:ext uri="{FF2B5EF4-FFF2-40B4-BE49-F238E27FC236}">
                <a16:creationId xmlns:a16="http://schemas.microsoft.com/office/drawing/2014/main" id="{000E21A0-9528-1AC1-0DFE-545E86F1A86C}"/>
              </a:ext>
            </a:extLst>
          </p:cNvPr>
          <p:cNvSpPr/>
          <p:nvPr/>
        </p:nvSpPr>
        <p:spPr>
          <a:xfrm>
            <a:off x="6500520" y="2475365"/>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CuadroTexto 59">
            <a:extLst>
              <a:ext uri="{FF2B5EF4-FFF2-40B4-BE49-F238E27FC236}">
                <a16:creationId xmlns:a16="http://schemas.microsoft.com/office/drawing/2014/main" id="{B8D5DD52-B308-9A06-2E35-DE604259E898}"/>
              </a:ext>
            </a:extLst>
          </p:cNvPr>
          <p:cNvSpPr txBox="1"/>
          <p:nvPr/>
        </p:nvSpPr>
        <p:spPr>
          <a:xfrm>
            <a:off x="6524359" y="247627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5</a:t>
            </a:r>
          </a:p>
        </p:txBody>
      </p:sp>
      <p:sp>
        <p:nvSpPr>
          <p:cNvPr id="61" name="Elipse 60">
            <a:extLst>
              <a:ext uri="{FF2B5EF4-FFF2-40B4-BE49-F238E27FC236}">
                <a16:creationId xmlns:a16="http://schemas.microsoft.com/office/drawing/2014/main" id="{C2DC53BE-2C6E-0950-0CC1-FFBE5C454D2F}"/>
              </a:ext>
            </a:extLst>
          </p:cNvPr>
          <p:cNvSpPr/>
          <p:nvPr/>
        </p:nvSpPr>
        <p:spPr>
          <a:xfrm>
            <a:off x="8746415" y="5456523"/>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CuadroTexto 61">
            <a:extLst>
              <a:ext uri="{FF2B5EF4-FFF2-40B4-BE49-F238E27FC236}">
                <a16:creationId xmlns:a16="http://schemas.microsoft.com/office/drawing/2014/main" id="{D8505647-DEA0-8975-A1CC-E7514BF81EA1}"/>
              </a:ext>
            </a:extLst>
          </p:cNvPr>
          <p:cNvSpPr txBox="1"/>
          <p:nvPr/>
        </p:nvSpPr>
        <p:spPr>
          <a:xfrm>
            <a:off x="8770254" y="5457432"/>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6</a:t>
            </a:r>
          </a:p>
        </p:txBody>
      </p:sp>
      <p:sp>
        <p:nvSpPr>
          <p:cNvPr id="63" name="Elipse 62">
            <a:extLst>
              <a:ext uri="{FF2B5EF4-FFF2-40B4-BE49-F238E27FC236}">
                <a16:creationId xmlns:a16="http://schemas.microsoft.com/office/drawing/2014/main" id="{9E213D0B-7F90-694C-F693-BA1585326536}"/>
              </a:ext>
            </a:extLst>
          </p:cNvPr>
          <p:cNvSpPr/>
          <p:nvPr/>
        </p:nvSpPr>
        <p:spPr>
          <a:xfrm>
            <a:off x="9722310" y="2381787"/>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CuadroTexto 63">
            <a:extLst>
              <a:ext uri="{FF2B5EF4-FFF2-40B4-BE49-F238E27FC236}">
                <a16:creationId xmlns:a16="http://schemas.microsoft.com/office/drawing/2014/main" id="{1CB38B47-7EA6-C3B8-3BEF-6D0D4156F33A}"/>
              </a:ext>
            </a:extLst>
          </p:cNvPr>
          <p:cNvSpPr txBox="1"/>
          <p:nvPr/>
        </p:nvSpPr>
        <p:spPr>
          <a:xfrm>
            <a:off x="9746149" y="2382696"/>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7</a:t>
            </a:r>
          </a:p>
        </p:txBody>
      </p:sp>
      <p:pic>
        <p:nvPicPr>
          <p:cNvPr id="50" name="Imagen 49" descr="Forma&#10;&#10;Descripción generada automáticamente">
            <a:extLst>
              <a:ext uri="{FF2B5EF4-FFF2-40B4-BE49-F238E27FC236}">
                <a16:creationId xmlns:a16="http://schemas.microsoft.com/office/drawing/2014/main" id="{A30C9658-A529-6B04-292D-F3F554D110AD}"/>
              </a:ext>
            </a:extLst>
          </p:cNvPr>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0260847" y="6751310"/>
            <a:ext cx="1945901" cy="134121"/>
          </a:xfrm>
          <a:prstGeom prst="rect">
            <a:avLst/>
          </a:prstGeom>
        </p:spPr>
      </p:pic>
      <p:pic>
        <p:nvPicPr>
          <p:cNvPr id="65" name="Imagen 64">
            <a:extLst>
              <a:ext uri="{FF2B5EF4-FFF2-40B4-BE49-F238E27FC236}">
                <a16:creationId xmlns:a16="http://schemas.microsoft.com/office/drawing/2014/main" id="{CFE4ADA5-0C68-6CAF-0DAE-F5A2EA1C8F3E}"/>
              </a:ext>
            </a:extLst>
          </p:cNvPr>
          <p:cNvPicPr>
            <a:picLocks noChangeAspect="1"/>
          </p:cNvPicPr>
          <p:nvPr/>
        </p:nvPicPr>
        <p:blipFill>
          <a:blip r:embed="rId32"/>
          <a:stretch>
            <a:fillRect/>
          </a:stretch>
        </p:blipFill>
        <p:spPr>
          <a:xfrm>
            <a:off x="10157990" y="6218560"/>
            <a:ext cx="2135676" cy="54000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10" name="TextBox 10"/>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11" name="TextBox 11"/>
          <p:cNvSpPr txBox="1"/>
          <p:nvPr/>
        </p:nvSpPr>
        <p:spPr>
          <a:xfrm>
            <a:off x="604915" y="908075"/>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Formación continua</a:t>
            </a:r>
          </a:p>
        </p:txBody>
      </p:sp>
      <p:sp>
        <p:nvSpPr>
          <p:cNvPr id="12" name="TextBox 12"/>
          <p:cNvSpPr txBox="1"/>
          <p:nvPr/>
        </p:nvSpPr>
        <p:spPr>
          <a:xfrm>
            <a:off x="1231284" y="4651484"/>
            <a:ext cx="9898541" cy="1010405"/>
          </a:xfrm>
          <a:prstGeom prst="rect">
            <a:avLst/>
          </a:prstGeom>
        </p:spPr>
        <p:txBody>
          <a:bodyPr wrap="square" lIns="0" tIns="0" rIns="0" bIns="0" rtlCol="0" anchor="t">
            <a:spAutoFit/>
          </a:bodyPr>
          <a:lstStyle/>
          <a:p>
            <a:pPr algn="just">
              <a:lnSpc>
                <a:spcPts val="1999"/>
              </a:lnSpc>
              <a:spcBef>
                <a:spcPct val="0"/>
              </a:spcBef>
            </a:pPr>
            <a:r>
              <a:rPr lang="es-CO" sz="1666" noProof="0">
                <a:solidFill>
                  <a:srgbClr val="000000"/>
                </a:solidFill>
                <a:latin typeface="Arial"/>
                <a:ea typeface="Arial"/>
                <a:cs typeface="Arial"/>
                <a:sym typeface="Arial"/>
              </a:rPr>
              <a:t>En Hitss, garantizamos un acompañamiento y formación continua a nuestros profesionales, asegurando que nuestros equipos estén siempre actualizados y alineados con las mejores prácticas del sector. Mediante la utilización de herramientas tecnológicas de vanguardia potenciamos sus habilidades blandas y promovemos su constante actualización. ¡Estamos siempre listos para enfrentar los desafíos del futuro!</a:t>
            </a:r>
          </a:p>
        </p:txBody>
      </p:sp>
      <p:sp>
        <p:nvSpPr>
          <p:cNvPr id="7" name="Rectángulo 6">
            <a:extLst>
              <a:ext uri="{FF2B5EF4-FFF2-40B4-BE49-F238E27FC236}">
                <a16:creationId xmlns:a16="http://schemas.microsoft.com/office/drawing/2014/main" id="{74A1B79D-7451-0B95-CE89-02E232881474}"/>
              </a:ext>
            </a:extLst>
          </p:cNvPr>
          <p:cNvSpPr/>
          <p:nvPr/>
        </p:nvSpPr>
        <p:spPr>
          <a:xfrm>
            <a:off x="-14851" y="3501588"/>
            <a:ext cx="12228134" cy="87336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b="1">
              <a:solidFill>
                <a:schemeClr val="bg1"/>
              </a:solidFill>
            </a:endParaRPr>
          </a:p>
          <a:p>
            <a:pPr algn="ctr"/>
            <a:r>
              <a:rPr lang="es-ES" b="1">
                <a:solidFill>
                  <a:schemeClr val="bg1"/>
                </a:solidFill>
              </a:rPr>
              <a:t>Plan de Formación y Capacitación</a:t>
            </a:r>
            <a:endParaRPr lang="es-ES">
              <a:solidFill>
                <a:schemeClr val="bg1"/>
              </a:solidFill>
            </a:endParaRPr>
          </a:p>
          <a:p>
            <a:endParaRPr lang="es-ES">
              <a:solidFill>
                <a:srgbClr val="000000"/>
              </a:solidFill>
            </a:endParaRPr>
          </a:p>
        </p:txBody>
      </p:sp>
      <p:sp>
        <p:nvSpPr>
          <p:cNvPr id="17" name="Elipse 16">
            <a:extLst>
              <a:ext uri="{FF2B5EF4-FFF2-40B4-BE49-F238E27FC236}">
                <a16:creationId xmlns:a16="http://schemas.microsoft.com/office/drawing/2014/main" id="{A09335E1-2677-7EB6-CAB0-CF1EFE7ACFBA}"/>
              </a:ext>
            </a:extLst>
          </p:cNvPr>
          <p:cNvSpPr/>
          <p:nvPr/>
        </p:nvSpPr>
        <p:spPr>
          <a:xfrm>
            <a:off x="1231284" y="3259489"/>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a:extLst>
              <a:ext uri="{FF2B5EF4-FFF2-40B4-BE49-F238E27FC236}">
                <a16:creationId xmlns:a16="http://schemas.microsoft.com/office/drawing/2014/main" id="{A0F2D28E-B929-6C44-61A4-88B9BB45F81B}"/>
              </a:ext>
            </a:extLst>
          </p:cNvPr>
          <p:cNvSpPr/>
          <p:nvPr/>
        </p:nvSpPr>
        <p:spPr>
          <a:xfrm>
            <a:off x="4493178" y="3259488"/>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3C24F8B4-56BB-D4AA-77F3-177D4006C142}"/>
              </a:ext>
            </a:extLst>
          </p:cNvPr>
          <p:cNvSpPr/>
          <p:nvPr/>
        </p:nvSpPr>
        <p:spPr>
          <a:xfrm>
            <a:off x="8156125" y="3312961"/>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a:extLst>
              <a:ext uri="{FF2B5EF4-FFF2-40B4-BE49-F238E27FC236}">
                <a16:creationId xmlns:a16="http://schemas.microsoft.com/office/drawing/2014/main" id="{98620AA4-FF19-65AA-D40F-A62F25061608}"/>
              </a:ext>
            </a:extLst>
          </p:cNvPr>
          <p:cNvSpPr/>
          <p:nvPr/>
        </p:nvSpPr>
        <p:spPr>
          <a:xfrm>
            <a:off x="10776335" y="3312960"/>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2" name="Imagen 21" descr="Forma&#10;&#10;Descripción generada automáticamente">
            <a:extLst>
              <a:ext uri="{FF2B5EF4-FFF2-40B4-BE49-F238E27FC236}">
                <a16:creationId xmlns:a16="http://schemas.microsoft.com/office/drawing/2014/main" id="{698FB293-05DB-1373-977F-92228B23F2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7087" y="6747278"/>
            <a:ext cx="2004409" cy="138154"/>
          </a:xfrm>
          <a:prstGeom prst="rect">
            <a:avLst/>
          </a:prstGeom>
        </p:spPr>
      </p:pic>
      <p:pic>
        <p:nvPicPr>
          <p:cNvPr id="23" name="Imagen 22">
            <a:extLst>
              <a:ext uri="{FF2B5EF4-FFF2-40B4-BE49-F238E27FC236}">
                <a16:creationId xmlns:a16="http://schemas.microsoft.com/office/drawing/2014/main" id="{AC6F4BE8-4CEE-1EEB-B37B-0D4EF506D5C4}"/>
              </a:ext>
            </a:extLst>
          </p:cNvPr>
          <p:cNvPicPr>
            <a:picLocks noChangeAspect="1"/>
          </p:cNvPicPr>
          <p:nvPr/>
        </p:nvPicPr>
        <p:blipFill>
          <a:blip r:embed="rId4"/>
          <a:stretch>
            <a:fillRect/>
          </a:stretch>
        </p:blipFill>
        <p:spPr>
          <a:xfrm>
            <a:off x="10139881" y="6203384"/>
            <a:ext cx="2135676" cy="540000"/>
          </a:xfrm>
          <a:prstGeom prst="rect">
            <a:avLst/>
          </a:prstGeom>
        </p:spPr>
      </p:pic>
      <p:pic>
        <p:nvPicPr>
          <p:cNvPr id="6" name="Imagen 5" descr="Logotipo&#10;&#10;Descripción generada automáticamente">
            <a:extLst>
              <a:ext uri="{FF2B5EF4-FFF2-40B4-BE49-F238E27FC236}">
                <a16:creationId xmlns:a16="http://schemas.microsoft.com/office/drawing/2014/main" id="{24D17DD5-E7B5-F35B-AF0E-71256534EF4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6440" b="25062"/>
          <a:stretch/>
        </p:blipFill>
        <p:spPr>
          <a:xfrm>
            <a:off x="1541838" y="2695794"/>
            <a:ext cx="859102" cy="234363"/>
          </a:xfrm>
          <a:prstGeom prst="rect">
            <a:avLst/>
          </a:prstGeom>
        </p:spPr>
      </p:pic>
      <p:pic>
        <p:nvPicPr>
          <p:cNvPr id="13" name="Imagen 12" descr="Círculo&#10;&#10;Descripción generada automáticamente con confianza media">
            <a:extLst>
              <a:ext uri="{FF2B5EF4-FFF2-40B4-BE49-F238E27FC236}">
                <a16:creationId xmlns:a16="http://schemas.microsoft.com/office/drawing/2014/main" id="{F523C952-2F35-1DA2-CE6D-E8000492D3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95648" y="2650646"/>
            <a:ext cx="560361" cy="392033"/>
          </a:xfrm>
          <a:prstGeom prst="rect">
            <a:avLst/>
          </a:prstGeom>
        </p:spPr>
      </p:pic>
      <p:pic>
        <p:nvPicPr>
          <p:cNvPr id="14" name="Imagen 13" descr="Imagen que contiene Logotipo&#10;&#10;Descripción generada automáticamente">
            <a:extLst>
              <a:ext uri="{FF2B5EF4-FFF2-40B4-BE49-F238E27FC236}">
                <a16:creationId xmlns:a16="http://schemas.microsoft.com/office/drawing/2014/main" id="{AAF37257-1167-D41D-2AFA-A9FF7AA3CD8D}"/>
              </a:ext>
            </a:extLst>
          </p:cNvPr>
          <p:cNvPicPr>
            <a:picLocks noChangeAspect="1"/>
          </p:cNvPicPr>
          <p:nvPr/>
        </p:nvPicPr>
        <p:blipFill>
          <a:blip r:embed="rId7"/>
          <a:stretch>
            <a:fillRect/>
          </a:stretch>
        </p:blipFill>
        <p:spPr>
          <a:xfrm>
            <a:off x="4067384" y="2738286"/>
            <a:ext cx="588173" cy="333802"/>
          </a:xfrm>
          <a:prstGeom prst="rect">
            <a:avLst/>
          </a:prstGeom>
        </p:spPr>
      </p:pic>
      <p:pic>
        <p:nvPicPr>
          <p:cNvPr id="16" name="Imagen 15">
            <a:extLst>
              <a:ext uri="{FF2B5EF4-FFF2-40B4-BE49-F238E27FC236}">
                <a16:creationId xmlns:a16="http://schemas.microsoft.com/office/drawing/2014/main" id="{61A84BE6-01EF-86F9-4B1C-127DF15CE7D7}"/>
              </a:ext>
            </a:extLst>
          </p:cNvPr>
          <p:cNvPicPr>
            <a:picLocks noChangeAspect="1"/>
          </p:cNvPicPr>
          <p:nvPr/>
        </p:nvPicPr>
        <p:blipFill>
          <a:blip r:embed="rId8"/>
          <a:stretch>
            <a:fillRect/>
          </a:stretch>
        </p:blipFill>
        <p:spPr>
          <a:xfrm>
            <a:off x="5285964" y="2819301"/>
            <a:ext cx="868262" cy="113969"/>
          </a:xfrm>
          <a:prstGeom prst="rect">
            <a:avLst/>
          </a:prstGeom>
        </p:spPr>
      </p:pic>
      <p:pic>
        <p:nvPicPr>
          <p:cNvPr id="24" name="Imagen 23" descr="Logotipo&#10;&#10;Descripción generada automáticamente">
            <a:extLst>
              <a:ext uri="{FF2B5EF4-FFF2-40B4-BE49-F238E27FC236}">
                <a16:creationId xmlns:a16="http://schemas.microsoft.com/office/drawing/2014/main" id="{9AD3BCA9-0865-58B5-40EF-F8D727B1711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65138" y="2738286"/>
            <a:ext cx="699441" cy="356551"/>
          </a:xfrm>
          <a:prstGeom prst="rect">
            <a:avLst/>
          </a:prstGeom>
        </p:spPr>
      </p:pic>
      <p:pic>
        <p:nvPicPr>
          <p:cNvPr id="25" name="Imagen 24" descr="Logotipo&#10;&#10;Descripción generada automáticamente">
            <a:extLst>
              <a:ext uri="{FF2B5EF4-FFF2-40B4-BE49-F238E27FC236}">
                <a16:creationId xmlns:a16="http://schemas.microsoft.com/office/drawing/2014/main" id="{BACE77A2-65F2-16D4-2BC1-CF5C013384C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704097" y="2707883"/>
            <a:ext cx="806189" cy="340741"/>
          </a:xfrm>
          <a:prstGeom prst="rect">
            <a:avLst/>
          </a:prstGeom>
        </p:spPr>
      </p:pic>
      <p:pic>
        <p:nvPicPr>
          <p:cNvPr id="26" name="Imagen 25" descr="Logotipo&#10;&#10;Descripción generada automáticamente">
            <a:extLst>
              <a:ext uri="{FF2B5EF4-FFF2-40B4-BE49-F238E27FC236}">
                <a16:creationId xmlns:a16="http://schemas.microsoft.com/office/drawing/2014/main" id="{BC78BEF9-0CC3-D1E7-A976-FA6E76DBA08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505159" y="2656162"/>
            <a:ext cx="910372" cy="455186"/>
          </a:xfrm>
          <a:prstGeom prst="rect">
            <a:avLst/>
          </a:prstGeom>
        </p:spPr>
      </p:pic>
      <p:sp>
        <p:nvSpPr>
          <p:cNvPr id="27" name="Freeform 4">
            <a:extLst>
              <a:ext uri="{FF2B5EF4-FFF2-40B4-BE49-F238E27FC236}">
                <a16:creationId xmlns:a16="http://schemas.microsoft.com/office/drawing/2014/main" id="{1A57699D-8C7E-1669-0A7F-9FDD9D2FAC08}"/>
              </a:ext>
            </a:extLst>
          </p:cNvPr>
          <p:cNvSpPr/>
          <p:nvPr/>
        </p:nvSpPr>
        <p:spPr>
          <a:xfrm>
            <a:off x="5720095" y="1979034"/>
            <a:ext cx="2952000" cy="468000"/>
          </a:xfrm>
          <a:custGeom>
            <a:avLst/>
            <a:gdLst/>
            <a:ahLst/>
            <a:cxnLst/>
            <a:rect l="l" t="t" r="r" b="b"/>
            <a:pathLst>
              <a:path w="7435383" h="879220">
                <a:moveTo>
                  <a:pt x="0" y="0"/>
                </a:moveTo>
                <a:lnTo>
                  <a:pt x="7435383" y="0"/>
                </a:lnTo>
                <a:lnTo>
                  <a:pt x="7435383" y="879220"/>
                </a:lnTo>
                <a:lnTo>
                  <a:pt x="0" y="879220"/>
                </a:lnTo>
                <a:lnTo>
                  <a:pt x="0" y="0"/>
                </a:lnTo>
                <a:close/>
              </a:path>
            </a:pathLst>
          </a:custGeom>
          <a:blipFill>
            <a:blip r:embed="rId12"/>
            <a:stretch>
              <a:fillRect/>
            </a:stretch>
          </a:blipFill>
        </p:spPr>
        <p:txBody>
          <a:bodyPr/>
          <a:lstStyle/>
          <a:p>
            <a:endParaRPr lang="es-CO" sz="1200" noProof="0"/>
          </a:p>
        </p:txBody>
      </p:sp>
      <p:sp>
        <p:nvSpPr>
          <p:cNvPr id="28" name="Freeform 5">
            <a:extLst>
              <a:ext uri="{FF2B5EF4-FFF2-40B4-BE49-F238E27FC236}">
                <a16:creationId xmlns:a16="http://schemas.microsoft.com/office/drawing/2014/main" id="{845F30E4-C3FB-25A1-1858-58B07D21E25E}"/>
              </a:ext>
            </a:extLst>
          </p:cNvPr>
          <p:cNvSpPr/>
          <p:nvPr/>
        </p:nvSpPr>
        <p:spPr>
          <a:xfrm>
            <a:off x="3252284" y="1990483"/>
            <a:ext cx="1908000" cy="540000"/>
          </a:xfrm>
          <a:custGeom>
            <a:avLst/>
            <a:gdLst/>
            <a:ahLst/>
            <a:cxnLst/>
            <a:rect l="l" t="t" r="r" b="b"/>
            <a:pathLst>
              <a:path w="5337834" h="1294425">
                <a:moveTo>
                  <a:pt x="0" y="0"/>
                </a:moveTo>
                <a:lnTo>
                  <a:pt x="5337834" y="0"/>
                </a:lnTo>
                <a:lnTo>
                  <a:pt x="5337834" y="1294425"/>
                </a:lnTo>
                <a:lnTo>
                  <a:pt x="0" y="1294425"/>
                </a:lnTo>
                <a:lnTo>
                  <a:pt x="0" y="0"/>
                </a:lnTo>
                <a:close/>
              </a:path>
            </a:pathLst>
          </a:custGeom>
          <a:blipFill>
            <a:blip r:embed="rId13"/>
            <a:stretch>
              <a:fillRect/>
            </a:stretch>
          </a:blipFill>
        </p:spPr>
        <p:txBody>
          <a:bodyPr/>
          <a:lstStyle/>
          <a:p>
            <a:endParaRPr lang="es-CO" sz="1200" noProof="0"/>
          </a:p>
        </p:txBody>
      </p:sp>
      <p:pic>
        <p:nvPicPr>
          <p:cNvPr id="29" name="Imagen 28" descr="Logotipo&#10;&#10;Descripción generada automáticamente">
            <a:extLst>
              <a:ext uri="{FF2B5EF4-FFF2-40B4-BE49-F238E27FC236}">
                <a16:creationId xmlns:a16="http://schemas.microsoft.com/office/drawing/2014/main" id="{92C2D585-5C2E-3D56-E3D5-1683CBD312D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03645" y="2785340"/>
            <a:ext cx="1076127" cy="270294"/>
          </a:xfrm>
          <a:prstGeom prst="rect">
            <a:avLst/>
          </a:prstGeom>
        </p:spPr>
      </p:pic>
      <p:sp>
        <p:nvSpPr>
          <p:cNvPr id="30" name="CuadroTexto 29">
            <a:extLst>
              <a:ext uri="{FF2B5EF4-FFF2-40B4-BE49-F238E27FC236}">
                <a16:creationId xmlns:a16="http://schemas.microsoft.com/office/drawing/2014/main" id="{A85B091B-95EF-9520-11C2-F69A2FF04E9C}"/>
              </a:ext>
            </a:extLst>
          </p:cNvPr>
          <p:cNvSpPr txBox="1"/>
          <p:nvPr/>
        </p:nvSpPr>
        <p:spPr>
          <a:xfrm>
            <a:off x="317548" y="2601642"/>
            <a:ext cx="1059120" cy="323294"/>
          </a:xfrm>
          <a:prstGeom prst="rect">
            <a:avLst/>
          </a:prstGeom>
        </p:spPr>
        <p:txBody>
          <a:bodyPr wrap="square" lIns="0" tIns="0" rIns="0" bIns="0" rtlCol="0" anchor="t">
            <a:spAutoFit/>
          </a:bodyPr>
          <a:lstStyle>
            <a:defPPr>
              <a:defRPr lang="es-MX"/>
            </a:defPPr>
            <a:lvl1pPr>
              <a:lnSpc>
                <a:spcPts val="2879"/>
              </a:lnSpc>
              <a:defRPr sz="2800" b="1" spc="-13">
                <a:solidFill>
                  <a:srgbClr val="E0251B"/>
                </a:solidFill>
                <a:latin typeface="Montserrat" panose="00000500000000000000" pitchFamily="2" charset="0"/>
                <a:ea typeface="Arial Bold"/>
                <a:cs typeface="Arial" panose="020B0604020202020204" pitchFamily="34" charset="0"/>
              </a:defRPr>
            </a:lvl1pPr>
          </a:lstStyle>
          <a:p>
            <a:r>
              <a:rPr lang="es-CO" sz="1400">
                <a:solidFill>
                  <a:schemeClr val="tx1"/>
                </a:solidFill>
              </a:rPr>
              <a:t>Partners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rot="-5400000">
            <a:off x="654480" y="2367976"/>
            <a:ext cx="1062016" cy="1359381"/>
            <a:chOff x="0" y="0"/>
            <a:chExt cx="635000" cy="812800"/>
          </a:xfrm>
        </p:grpSpPr>
        <p:sp>
          <p:nvSpPr>
            <p:cNvPr id="6" name="Freeform 6"/>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98CC44"/>
            </a:solidFill>
          </p:spPr>
          <p:txBody>
            <a:bodyPr/>
            <a:lstStyle/>
            <a:p>
              <a:endParaRPr lang="es-CO" sz="1200"/>
            </a:p>
          </p:txBody>
        </p:sp>
        <p:sp>
          <p:nvSpPr>
            <p:cNvPr id="7" name="TextBox 7"/>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grpSp>
        <p:nvGrpSpPr>
          <p:cNvPr id="8" name="Group 8"/>
          <p:cNvGrpSpPr/>
          <p:nvPr/>
        </p:nvGrpSpPr>
        <p:grpSpPr>
          <a:xfrm rot="-5400000">
            <a:off x="2432550" y="2877240"/>
            <a:ext cx="1062016" cy="1359381"/>
            <a:chOff x="0" y="0"/>
            <a:chExt cx="635000" cy="812800"/>
          </a:xfrm>
        </p:grpSpPr>
        <p:sp>
          <p:nvSpPr>
            <p:cNvPr id="9" name="Freeform 9"/>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FC593"/>
            </a:solidFill>
          </p:spPr>
          <p:txBody>
            <a:bodyPr/>
            <a:lstStyle/>
            <a:p>
              <a:endParaRPr lang="es-CO" sz="1200"/>
            </a:p>
          </p:txBody>
        </p:sp>
        <p:sp>
          <p:nvSpPr>
            <p:cNvPr id="10" name="TextBox 10"/>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11" name="AutoShape 11"/>
          <p:cNvSpPr/>
          <p:nvPr/>
        </p:nvSpPr>
        <p:spPr>
          <a:xfrm flipH="1">
            <a:off x="525769" y="3573681"/>
            <a:ext cx="0" cy="1681041"/>
          </a:xfrm>
          <a:prstGeom prst="line">
            <a:avLst/>
          </a:prstGeom>
          <a:ln w="57150" cap="flat">
            <a:solidFill>
              <a:srgbClr val="98CC44"/>
            </a:solidFill>
            <a:prstDash val="solid"/>
            <a:headEnd type="none" w="sm" len="sm"/>
            <a:tailEnd type="oval" w="lg" len="lg"/>
          </a:ln>
        </p:spPr>
        <p:txBody>
          <a:bodyPr/>
          <a:lstStyle/>
          <a:p>
            <a:endParaRPr lang="es-CO" sz="1200"/>
          </a:p>
        </p:txBody>
      </p:sp>
      <p:sp>
        <p:nvSpPr>
          <p:cNvPr id="12" name="AutoShape 12"/>
          <p:cNvSpPr/>
          <p:nvPr/>
        </p:nvSpPr>
        <p:spPr>
          <a:xfrm flipH="1">
            <a:off x="2303839" y="4082945"/>
            <a:ext cx="0" cy="1681041"/>
          </a:xfrm>
          <a:prstGeom prst="line">
            <a:avLst/>
          </a:prstGeom>
          <a:ln w="57150" cap="flat">
            <a:solidFill>
              <a:srgbClr val="4FC593"/>
            </a:solidFill>
            <a:prstDash val="solid"/>
            <a:headEnd type="none" w="sm" len="sm"/>
            <a:tailEnd type="oval" w="lg" len="lg"/>
          </a:ln>
        </p:spPr>
        <p:txBody>
          <a:bodyPr/>
          <a:lstStyle/>
          <a:p>
            <a:endParaRPr lang="es-CO" sz="1200"/>
          </a:p>
        </p:txBody>
      </p:sp>
      <p:grpSp>
        <p:nvGrpSpPr>
          <p:cNvPr id="13" name="Group 13"/>
          <p:cNvGrpSpPr/>
          <p:nvPr/>
        </p:nvGrpSpPr>
        <p:grpSpPr>
          <a:xfrm rot="-5400000">
            <a:off x="4030621" y="2361626"/>
            <a:ext cx="1062016" cy="1359381"/>
            <a:chOff x="0" y="0"/>
            <a:chExt cx="635000" cy="812800"/>
          </a:xfrm>
        </p:grpSpPr>
        <p:sp>
          <p:nvSpPr>
            <p:cNvPr id="14" name="Freeform 14"/>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5C8D0"/>
            </a:solidFill>
          </p:spPr>
          <p:txBody>
            <a:bodyPr/>
            <a:lstStyle/>
            <a:p>
              <a:endParaRPr lang="es-CO" sz="1200"/>
            </a:p>
          </p:txBody>
        </p:sp>
        <p:sp>
          <p:nvSpPr>
            <p:cNvPr id="15" name="TextBox 15"/>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16" name="AutoShape 16"/>
          <p:cNvSpPr/>
          <p:nvPr/>
        </p:nvSpPr>
        <p:spPr>
          <a:xfrm>
            <a:off x="3901911" y="3567331"/>
            <a:ext cx="0" cy="1681041"/>
          </a:xfrm>
          <a:prstGeom prst="line">
            <a:avLst/>
          </a:prstGeom>
          <a:ln w="57150" cap="flat">
            <a:solidFill>
              <a:srgbClr val="45C8D0"/>
            </a:solidFill>
            <a:prstDash val="solid"/>
            <a:headEnd type="none" w="sm" len="sm"/>
            <a:tailEnd type="oval" w="lg" len="lg"/>
          </a:ln>
        </p:spPr>
        <p:txBody>
          <a:bodyPr/>
          <a:lstStyle/>
          <a:p>
            <a:endParaRPr lang="es-CO" sz="1200"/>
          </a:p>
        </p:txBody>
      </p:sp>
      <p:grpSp>
        <p:nvGrpSpPr>
          <p:cNvPr id="17" name="Group 17"/>
          <p:cNvGrpSpPr/>
          <p:nvPr/>
        </p:nvGrpSpPr>
        <p:grpSpPr>
          <a:xfrm rot="-5400000">
            <a:off x="5631302" y="2877240"/>
            <a:ext cx="1062016" cy="1359381"/>
            <a:chOff x="0" y="0"/>
            <a:chExt cx="635000" cy="812800"/>
          </a:xfrm>
        </p:grpSpPr>
        <p:sp>
          <p:nvSpPr>
            <p:cNvPr id="18" name="Freeform 18"/>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DA5D6"/>
            </a:solidFill>
          </p:spPr>
          <p:txBody>
            <a:bodyPr/>
            <a:lstStyle/>
            <a:p>
              <a:endParaRPr lang="es-CO" sz="1200"/>
            </a:p>
          </p:txBody>
        </p:sp>
        <p:sp>
          <p:nvSpPr>
            <p:cNvPr id="19" name="TextBox 19"/>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20" name="AutoShape 20"/>
          <p:cNvSpPr/>
          <p:nvPr/>
        </p:nvSpPr>
        <p:spPr>
          <a:xfrm>
            <a:off x="5514370" y="4082945"/>
            <a:ext cx="0" cy="1681041"/>
          </a:xfrm>
          <a:prstGeom prst="line">
            <a:avLst/>
          </a:prstGeom>
          <a:ln w="57150" cap="flat">
            <a:solidFill>
              <a:srgbClr val="4DA5D6"/>
            </a:solidFill>
            <a:prstDash val="solid"/>
            <a:headEnd type="none" w="sm" len="sm"/>
            <a:tailEnd type="oval" w="lg" len="lg"/>
          </a:ln>
        </p:spPr>
        <p:txBody>
          <a:bodyPr/>
          <a:lstStyle/>
          <a:p>
            <a:endParaRPr lang="es-CO" sz="1200"/>
          </a:p>
        </p:txBody>
      </p:sp>
      <p:grpSp>
        <p:nvGrpSpPr>
          <p:cNvPr id="21" name="Group 21"/>
          <p:cNvGrpSpPr/>
          <p:nvPr/>
        </p:nvGrpSpPr>
        <p:grpSpPr>
          <a:xfrm rot="-5400000">
            <a:off x="7445273" y="2367976"/>
            <a:ext cx="1062016" cy="1359381"/>
            <a:chOff x="0" y="0"/>
            <a:chExt cx="635000" cy="812800"/>
          </a:xfrm>
        </p:grpSpPr>
        <p:sp>
          <p:nvSpPr>
            <p:cNvPr id="22" name="Freeform 22"/>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87AD3"/>
            </a:solidFill>
          </p:spPr>
          <p:txBody>
            <a:bodyPr/>
            <a:lstStyle/>
            <a:p>
              <a:endParaRPr lang="es-CO" sz="1200"/>
            </a:p>
          </p:txBody>
        </p:sp>
        <p:sp>
          <p:nvSpPr>
            <p:cNvPr id="23" name="TextBox 23"/>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24" name="AutoShape 24"/>
          <p:cNvSpPr/>
          <p:nvPr/>
        </p:nvSpPr>
        <p:spPr>
          <a:xfrm>
            <a:off x="7316563" y="3573681"/>
            <a:ext cx="0" cy="1681041"/>
          </a:xfrm>
          <a:prstGeom prst="line">
            <a:avLst/>
          </a:prstGeom>
          <a:ln w="57150" cap="flat">
            <a:solidFill>
              <a:srgbClr val="487AD3"/>
            </a:solidFill>
            <a:prstDash val="solid"/>
            <a:headEnd type="none" w="sm" len="sm"/>
            <a:tailEnd type="oval" w="lg" len="lg"/>
          </a:ln>
        </p:spPr>
        <p:txBody>
          <a:bodyPr/>
          <a:lstStyle/>
          <a:p>
            <a:endParaRPr lang="es-CO" sz="1200"/>
          </a:p>
        </p:txBody>
      </p:sp>
      <p:sp>
        <p:nvSpPr>
          <p:cNvPr id="25" name="Freeform 25"/>
          <p:cNvSpPr/>
          <p:nvPr/>
        </p:nvSpPr>
        <p:spPr>
          <a:xfrm>
            <a:off x="891732" y="2808346"/>
            <a:ext cx="495999" cy="478639"/>
          </a:xfrm>
          <a:custGeom>
            <a:avLst/>
            <a:gdLst/>
            <a:ahLst/>
            <a:cxnLst/>
            <a:rect l="l" t="t" r="r" b="b"/>
            <a:pathLst>
              <a:path w="743998" h="717958">
                <a:moveTo>
                  <a:pt x="0" y="0"/>
                </a:moveTo>
                <a:lnTo>
                  <a:pt x="743998" y="0"/>
                </a:lnTo>
                <a:lnTo>
                  <a:pt x="743998" y="717959"/>
                </a:lnTo>
                <a:lnTo>
                  <a:pt x="0" y="7179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26" name="Freeform 26"/>
          <p:cNvSpPr/>
          <p:nvPr/>
        </p:nvSpPr>
        <p:spPr>
          <a:xfrm>
            <a:off x="4240928" y="2750603"/>
            <a:ext cx="544845" cy="546896"/>
          </a:xfrm>
          <a:custGeom>
            <a:avLst/>
            <a:gdLst/>
            <a:ahLst/>
            <a:cxnLst/>
            <a:rect l="l" t="t" r="r" b="b"/>
            <a:pathLst>
              <a:path w="817267" h="820344">
                <a:moveTo>
                  <a:pt x="0" y="0"/>
                </a:moveTo>
                <a:lnTo>
                  <a:pt x="817267" y="0"/>
                </a:lnTo>
                <a:lnTo>
                  <a:pt x="817267" y="820344"/>
                </a:lnTo>
                <a:lnTo>
                  <a:pt x="0" y="8203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27" name="Freeform 27"/>
          <p:cNvSpPr/>
          <p:nvPr/>
        </p:nvSpPr>
        <p:spPr>
          <a:xfrm>
            <a:off x="5836277" y="3365335"/>
            <a:ext cx="526864" cy="525547"/>
          </a:xfrm>
          <a:custGeom>
            <a:avLst/>
            <a:gdLst/>
            <a:ahLst/>
            <a:cxnLst/>
            <a:rect l="l" t="t" r="r" b="b"/>
            <a:pathLst>
              <a:path w="790296" h="788321">
                <a:moveTo>
                  <a:pt x="0" y="0"/>
                </a:moveTo>
                <a:lnTo>
                  <a:pt x="790296" y="0"/>
                </a:lnTo>
                <a:lnTo>
                  <a:pt x="790296" y="788320"/>
                </a:lnTo>
                <a:lnTo>
                  <a:pt x="0" y="7883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28" name="Freeform 28"/>
          <p:cNvSpPr/>
          <p:nvPr/>
        </p:nvSpPr>
        <p:spPr>
          <a:xfrm>
            <a:off x="7623473" y="2890450"/>
            <a:ext cx="576403" cy="471209"/>
          </a:xfrm>
          <a:custGeom>
            <a:avLst/>
            <a:gdLst/>
            <a:ahLst/>
            <a:cxnLst/>
            <a:rect l="l" t="t" r="r" b="b"/>
            <a:pathLst>
              <a:path w="864604" h="706813">
                <a:moveTo>
                  <a:pt x="0" y="0"/>
                </a:moveTo>
                <a:lnTo>
                  <a:pt x="864603" y="0"/>
                </a:lnTo>
                <a:lnTo>
                  <a:pt x="864603" y="706813"/>
                </a:lnTo>
                <a:lnTo>
                  <a:pt x="0" y="70681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29" name="Freeform 29"/>
          <p:cNvSpPr/>
          <p:nvPr/>
        </p:nvSpPr>
        <p:spPr>
          <a:xfrm>
            <a:off x="2727945" y="3310607"/>
            <a:ext cx="463087" cy="492645"/>
          </a:xfrm>
          <a:custGeom>
            <a:avLst/>
            <a:gdLst/>
            <a:ahLst/>
            <a:cxnLst/>
            <a:rect l="l" t="t" r="r" b="b"/>
            <a:pathLst>
              <a:path w="694630" h="738968">
                <a:moveTo>
                  <a:pt x="0" y="0"/>
                </a:moveTo>
                <a:lnTo>
                  <a:pt x="694630" y="0"/>
                </a:lnTo>
                <a:lnTo>
                  <a:pt x="694630" y="738969"/>
                </a:lnTo>
                <a:lnTo>
                  <a:pt x="0" y="7389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grpSp>
        <p:nvGrpSpPr>
          <p:cNvPr id="30" name="Group 30"/>
          <p:cNvGrpSpPr/>
          <p:nvPr/>
        </p:nvGrpSpPr>
        <p:grpSpPr>
          <a:xfrm>
            <a:off x="920539" y="2297465"/>
            <a:ext cx="438387" cy="43838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32" name="TextBox 32"/>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3" name="Group 33"/>
          <p:cNvGrpSpPr/>
          <p:nvPr/>
        </p:nvGrpSpPr>
        <p:grpSpPr>
          <a:xfrm>
            <a:off x="969972" y="2346899"/>
            <a:ext cx="339519" cy="33951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8CC44"/>
            </a:solidFill>
          </p:spPr>
          <p:txBody>
            <a:bodyPr/>
            <a:lstStyle/>
            <a:p>
              <a:endParaRPr lang="es-CO" sz="1200"/>
            </a:p>
          </p:txBody>
        </p:sp>
        <p:sp>
          <p:nvSpPr>
            <p:cNvPr id="35" name="TextBox 35"/>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6" name="Group 36"/>
          <p:cNvGrpSpPr/>
          <p:nvPr/>
        </p:nvGrpSpPr>
        <p:grpSpPr>
          <a:xfrm>
            <a:off x="4270601" y="2291115"/>
            <a:ext cx="438387" cy="438387"/>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38" name="TextBox 38"/>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9" name="Group 39"/>
          <p:cNvGrpSpPr/>
          <p:nvPr/>
        </p:nvGrpSpPr>
        <p:grpSpPr>
          <a:xfrm>
            <a:off x="4320035" y="2340549"/>
            <a:ext cx="339519" cy="339519"/>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5C8D0"/>
            </a:solidFill>
          </p:spPr>
          <p:txBody>
            <a:bodyPr/>
            <a:lstStyle/>
            <a:p>
              <a:endParaRPr lang="es-CO" sz="1200"/>
            </a:p>
          </p:txBody>
        </p:sp>
        <p:sp>
          <p:nvSpPr>
            <p:cNvPr id="41" name="TextBox 41"/>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2" name="Group 42"/>
          <p:cNvGrpSpPr/>
          <p:nvPr/>
        </p:nvGrpSpPr>
        <p:grpSpPr>
          <a:xfrm>
            <a:off x="2685569" y="2811208"/>
            <a:ext cx="438387" cy="438387"/>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44" name="TextBox 44"/>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5" name="Group 45"/>
          <p:cNvGrpSpPr/>
          <p:nvPr/>
        </p:nvGrpSpPr>
        <p:grpSpPr>
          <a:xfrm>
            <a:off x="2735003" y="2860641"/>
            <a:ext cx="339519" cy="339519"/>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593"/>
            </a:solidFill>
          </p:spPr>
          <p:txBody>
            <a:bodyPr/>
            <a:lstStyle/>
            <a:p>
              <a:endParaRPr lang="es-CO" sz="1200"/>
            </a:p>
          </p:txBody>
        </p:sp>
        <p:sp>
          <p:nvSpPr>
            <p:cNvPr id="47" name="TextBox 47"/>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8" name="Group 48"/>
          <p:cNvGrpSpPr/>
          <p:nvPr/>
        </p:nvGrpSpPr>
        <p:grpSpPr>
          <a:xfrm>
            <a:off x="5858242" y="2811208"/>
            <a:ext cx="438387" cy="438387"/>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50" name="TextBox 50"/>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1" name="Group 51"/>
          <p:cNvGrpSpPr/>
          <p:nvPr/>
        </p:nvGrpSpPr>
        <p:grpSpPr>
          <a:xfrm>
            <a:off x="5907675" y="2860641"/>
            <a:ext cx="339519" cy="339519"/>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A5D6"/>
            </a:solidFill>
          </p:spPr>
          <p:txBody>
            <a:bodyPr/>
            <a:lstStyle/>
            <a:p>
              <a:endParaRPr lang="es-CO" sz="1200"/>
            </a:p>
          </p:txBody>
        </p:sp>
        <p:sp>
          <p:nvSpPr>
            <p:cNvPr id="53" name="TextBox 53"/>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4" name="Group 54"/>
          <p:cNvGrpSpPr/>
          <p:nvPr/>
        </p:nvGrpSpPr>
        <p:grpSpPr>
          <a:xfrm>
            <a:off x="7659173" y="2297465"/>
            <a:ext cx="438387" cy="438387"/>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56" name="TextBox 56"/>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7" name="Group 57"/>
          <p:cNvGrpSpPr/>
          <p:nvPr/>
        </p:nvGrpSpPr>
        <p:grpSpPr>
          <a:xfrm>
            <a:off x="7708607" y="2346899"/>
            <a:ext cx="339519" cy="339519"/>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7AD3"/>
            </a:solidFill>
          </p:spPr>
          <p:txBody>
            <a:bodyPr/>
            <a:lstStyle/>
            <a:p>
              <a:endParaRPr lang="es-CO" sz="1200"/>
            </a:p>
          </p:txBody>
        </p:sp>
        <p:sp>
          <p:nvSpPr>
            <p:cNvPr id="59" name="TextBox 59"/>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60" name="TextBox 60"/>
          <p:cNvSpPr txBox="1"/>
          <p:nvPr/>
        </p:nvSpPr>
        <p:spPr>
          <a:xfrm>
            <a:off x="629293" y="3623564"/>
            <a:ext cx="1599683" cy="822533"/>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Perfiles técnicos especializados</a:t>
            </a:r>
          </a:p>
        </p:txBody>
      </p:sp>
      <p:sp>
        <p:nvSpPr>
          <p:cNvPr id="61" name="TextBox 61"/>
          <p:cNvSpPr txBox="1"/>
          <p:nvPr/>
        </p:nvSpPr>
        <p:spPr>
          <a:xfrm>
            <a:off x="2402540" y="4148951"/>
            <a:ext cx="1130230" cy="822533"/>
          </a:xfrm>
          <a:prstGeom prst="rect">
            <a:avLst/>
          </a:prstGeom>
        </p:spPr>
        <p:txBody>
          <a:bodyPr lIns="0" tIns="0" rIns="0" bIns="0" rtlCol="0" anchor="t">
            <a:spAutoFit/>
          </a:bodyPr>
          <a:lstStyle/>
          <a:p>
            <a:pPr>
              <a:lnSpc>
                <a:spcPts val="2239"/>
              </a:lnSpc>
            </a:pPr>
            <a:r>
              <a:rPr lang="es-CO" sz="1600" noProof="0">
                <a:solidFill>
                  <a:srgbClr val="000000"/>
                </a:solidFill>
                <a:latin typeface="Montserrat" panose="00000500000000000000" pitchFamily="2" charset="0"/>
                <a:ea typeface="Arial Bold"/>
                <a:cs typeface="Arial Bold"/>
                <a:sym typeface="Arial Bold"/>
              </a:rPr>
              <a:t>Modelos </a:t>
            </a:r>
          </a:p>
          <a:p>
            <a:pPr>
              <a:lnSpc>
                <a:spcPts val="2239"/>
              </a:lnSpc>
            </a:pPr>
            <a:r>
              <a:rPr lang="es-CO" sz="1600" noProof="0" err="1">
                <a:solidFill>
                  <a:srgbClr val="000000"/>
                </a:solidFill>
                <a:latin typeface="Montserrat" panose="00000500000000000000" pitchFamily="2" charset="0"/>
                <a:ea typeface="Arial Bold"/>
                <a:cs typeface="Arial Bold"/>
                <a:sym typeface="Arial Bold"/>
              </a:rPr>
              <a:t>Nearshore</a:t>
            </a:r>
            <a:r>
              <a:rPr lang="es-CO" sz="1600" noProof="0">
                <a:solidFill>
                  <a:srgbClr val="000000"/>
                </a:solidFill>
                <a:latin typeface="Montserrat" panose="00000500000000000000" pitchFamily="2" charset="0"/>
                <a:ea typeface="Arial Bold"/>
                <a:cs typeface="Arial Bold"/>
                <a:sym typeface="Arial Bold"/>
              </a:rPr>
              <a:t> </a:t>
            </a:r>
          </a:p>
          <a:p>
            <a:pPr>
              <a:lnSpc>
                <a:spcPts val="2239"/>
              </a:lnSpc>
              <a:spcBef>
                <a:spcPct val="0"/>
              </a:spcBef>
            </a:pPr>
            <a:endParaRPr lang="en-US" sz="1600" b="1">
              <a:solidFill>
                <a:srgbClr val="000000"/>
              </a:solidFill>
              <a:latin typeface="Arial Bold"/>
              <a:ea typeface="Arial Bold"/>
              <a:cs typeface="Arial Bold"/>
              <a:sym typeface="Arial Bold"/>
            </a:endParaRPr>
          </a:p>
        </p:txBody>
      </p:sp>
      <p:sp>
        <p:nvSpPr>
          <p:cNvPr id="62" name="TextBox 62"/>
          <p:cNvSpPr txBox="1"/>
          <p:nvPr/>
        </p:nvSpPr>
        <p:spPr>
          <a:xfrm>
            <a:off x="4013688" y="3644909"/>
            <a:ext cx="1178462" cy="262251"/>
          </a:xfrm>
          <a:prstGeom prst="rect">
            <a:avLst/>
          </a:prstGeom>
        </p:spPr>
        <p:txBody>
          <a:bodyPr wrap="square" lIns="0" tIns="0" rIns="0" bIns="0" rtlCol="0" anchor="t">
            <a:spAutoFit/>
          </a:bodyPr>
          <a:lstStyle/>
          <a:p>
            <a:pPr>
              <a:lnSpc>
                <a:spcPts val="2239"/>
              </a:lnSpc>
              <a:spcBef>
                <a:spcPct val="0"/>
              </a:spcBef>
            </a:pPr>
            <a:r>
              <a:rPr lang="en-US" sz="1600">
                <a:solidFill>
                  <a:srgbClr val="000000"/>
                </a:solidFill>
                <a:latin typeface="Montserrat" panose="00000500000000000000" pitchFamily="2" charset="0"/>
                <a:ea typeface="Arial Bold"/>
                <a:cs typeface="Arial Bold"/>
                <a:sym typeface="Arial Bold"/>
              </a:rPr>
              <a:t>Formación</a:t>
            </a:r>
          </a:p>
        </p:txBody>
      </p:sp>
      <p:sp>
        <p:nvSpPr>
          <p:cNvPr id="63" name="TextBox 63"/>
          <p:cNvSpPr txBox="1"/>
          <p:nvPr/>
        </p:nvSpPr>
        <p:spPr>
          <a:xfrm>
            <a:off x="7453274" y="3720151"/>
            <a:ext cx="1023487" cy="540404"/>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Servicio Flexible</a:t>
            </a:r>
          </a:p>
        </p:txBody>
      </p:sp>
      <p:sp>
        <p:nvSpPr>
          <p:cNvPr id="64" name="TextBox 64"/>
          <p:cNvSpPr txBox="1"/>
          <p:nvPr/>
        </p:nvSpPr>
        <p:spPr>
          <a:xfrm>
            <a:off x="5597381" y="4159645"/>
            <a:ext cx="1585371" cy="544380"/>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Capacitaciones y actualización</a:t>
            </a:r>
          </a:p>
        </p:txBody>
      </p:sp>
      <p:sp>
        <p:nvSpPr>
          <p:cNvPr id="65" name="TextBox 65"/>
          <p:cNvSpPr txBox="1"/>
          <p:nvPr/>
        </p:nvSpPr>
        <p:spPr>
          <a:xfrm>
            <a:off x="1045573" y="238470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01</a:t>
            </a:r>
          </a:p>
        </p:txBody>
      </p:sp>
      <p:sp>
        <p:nvSpPr>
          <p:cNvPr id="66" name="TextBox 66"/>
          <p:cNvSpPr txBox="1"/>
          <p:nvPr/>
        </p:nvSpPr>
        <p:spPr>
          <a:xfrm>
            <a:off x="4395636" y="235930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03</a:t>
            </a:r>
          </a:p>
        </p:txBody>
      </p:sp>
      <p:sp>
        <p:nvSpPr>
          <p:cNvPr id="67" name="TextBox 67"/>
          <p:cNvSpPr txBox="1"/>
          <p:nvPr/>
        </p:nvSpPr>
        <p:spPr>
          <a:xfrm>
            <a:off x="2796957" y="2888924"/>
            <a:ext cx="215611"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02</a:t>
            </a:r>
          </a:p>
        </p:txBody>
      </p:sp>
      <p:sp>
        <p:nvSpPr>
          <p:cNvPr id="68" name="TextBox 68"/>
          <p:cNvSpPr txBox="1"/>
          <p:nvPr/>
        </p:nvSpPr>
        <p:spPr>
          <a:xfrm>
            <a:off x="5966016" y="2888924"/>
            <a:ext cx="22283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04</a:t>
            </a:r>
          </a:p>
        </p:txBody>
      </p:sp>
      <p:sp>
        <p:nvSpPr>
          <p:cNvPr id="69" name="TextBox 69"/>
          <p:cNvSpPr txBox="1"/>
          <p:nvPr/>
        </p:nvSpPr>
        <p:spPr>
          <a:xfrm>
            <a:off x="7775659" y="2375182"/>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05</a:t>
            </a:r>
          </a:p>
        </p:txBody>
      </p:sp>
      <p:sp>
        <p:nvSpPr>
          <p:cNvPr id="70" name="TextBox 70"/>
          <p:cNvSpPr txBox="1"/>
          <p:nvPr/>
        </p:nvSpPr>
        <p:spPr>
          <a:xfrm>
            <a:off x="505798" y="1024925"/>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Nuestro Diferencial</a:t>
            </a:r>
          </a:p>
        </p:txBody>
      </p:sp>
      <p:sp>
        <p:nvSpPr>
          <p:cNvPr id="71" name="TextBox 71"/>
          <p:cNvSpPr txBox="1"/>
          <p:nvPr/>
        </p:nvSpPr>
        <p:spPr>
          <a:xfrm>
            <a:off x="8895009" y="4148526"/>
            <a:ext cx="1457713" cy="974626"/>
          </a:xfrm>
          <a:prstGeom prst="rect">
            <a:avLst/>
          </a:prstGeom>
        </p:spPr>
        <p:txBody>
          <a:bodyPr wrap="square" lIns="0" tIns="0" rIns="0" bIns="0" rtlCol="0" anchor="t">
            <a:spAutoFit/>
          </a:bodyPr>
          <a:lstStyle/>
          <a:p>
            <a:pPr>
              <a:lnSpc>
                <a:spcPts val="1919"/>
              </a:lnSpc>
            </a:pPr>
            <a:r>
              <a:rPr lang="es-CO" sz="1600" noProof="0">
                <a:solidFill>
                  <a:srgbClr val="2A3B47"/>
                </a:solidFill>
                <a:latin typeface="Montserrat" panose="00000500000000000000" pitchFamily="2" charset="0"/>
                <a:ea typeface="Arial Bold"/>
                <a:cs typeface="Arial Bold"/>
                <a:sym typeface="Arial Bold"/>
              </a:rPr>
              <a:t>Realizamos vigilancia tecnológica de tendencias</a:t>
            </a:r>
            <a:endParaRPr lang="es-CO" sz="1600" noProof="0">
              <a:solidFill>
                <a:srgbClr val="2A3B47"/>
              </a:solidFill>
              <a:latin typeface="Montserrat" panose="00000500000000000000" pitchFamily="2" charset="0"/>
              <a:ea typeface="Arial Bold"/>
              <a:cs typeface="Arial Bold"/>
            </a:endParaRPr>
          </a:p>
        </p:txBody>
      </p:sp>
      <p:sp>
        <p:nvSpPr>
          <p:cNvPr id="72" name="TextBox 72"/>
          <p:cNvSpPr txBox="1"/>
          <p:nvPr/>
        </p:nvSpPr>
        <p:spPr>
          <a:xfrm>
            <a:off x="10634196" y="3781366"/>
            <a:ext cx="1265438" cy="487313"/>
          </a:xfrm>
          <a:prstGeom prst="rect">
            <a:avLst/>
          </a:prstGeom>
        </p:spPr>
        <p:txBody>
          <a:bodyPr lIns="0" tIns="0" rIns="0" bIns="0" rtlCol="0" anchor="t">
            <a:spAutoFit/>
          </a:bodyPr>
          <a:lstStyle/>
          <a:p>
            <a:pPr>
              <a:lnSpc>
                <a:spcPts val="1919"/>
              </a:lnSpc>
            </a:pPr>
            <a:r>
              <a:rPr lang="es-CO" sz="1600" noProof="0">
                <a:solidFill>
                  <a:srgbClr val="2A3B47"/>
                </a:solidFill>
                <a:latin typeface="Montserrat" panose="00000500000000000000" pitchFamily="2" charset="0"/>
                <a:ea typeface="Arial Bold"/>
                <a:cs typeface="Arial Bold"/>
                <a:sym typeface="Arial Bold"/>
              </a:rPr>
              <a:t>Recursos certificados</a:t>
            </a:r>
          </a:p>
        </p:txBody>
      </p:sp>
      <p:grpSp>
        <p:nvGrpSpPr>
          <p:cNvPr id="73" name="Group 73"/>
          <p:cNvGrpSpPr/>
          <p:nvPr/>
        </p:nvGrpSpPr>
        <p:grpSpPr>
          <a:xfrm rot="-5400000">
            <a:off x="8963353" y="2887917"/>
            <a:ext cx="1062016" cy="1359381"/>
            <a:chOff x="0" y="0"/>
            <a:chExt cx="635000" cy="812800"/>
          </a:xfrm>
        </p:grpSpPr>
        <p:sp>
          <p:nvSpPr>
            <p:cNvPr id="74" name="Freeform 74"/>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D49AF"/>
            </a:solidFill>
          </p:spPr>
          <p:txBody>
            <a:bodyPr/>
            <a:lstStyle/>
            <a:p>
              <a:endParaRPr lang="es-CO" sz="1200"/>
            </a:p>
          </p:txBody>
        </p:sp>
        <p:sp>
          <p:nvSpPr>
            <p:cNvPr id="75" name="TextBox 75"/>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76" name="AutoShape 76"/>
          <p:cNvSpPr/>
          <p:nvPr/>
        </p:nvSpPr>
        <p:spPr>
          <a:xfrm>
            <a:off x="8834643" y="4093622"/>
            <a:ext cx="0" cy="1681041"/>
          </a:xfrm>
          <a:prstGeom prst="line">
            <a:avLst/>
          </a:prstGeom>
          <a:ln w="57150" cap="flat">
            <a:solidFill>
              <a:srgbClr val="4C50A9"/>
            </a:solidFill>
            <a:prstDash val="solid"/>
            <a:headEnd type="none" w="sm" len="sm"/>
            <a:tailEnd type="oval" w="lg" len="lg"/>
          </a:ln>
        </p:spPr>
        <p:txBody>
          <a:bodyPr/>
          <a:lstStyle/>
          <a:p>
            <a:endParaRPr lang="es-CO" sz="1200"/>
          </a:p>
        </p:txBody>
      </p:sp>
      <p:sp>
        <p:nvSpPr>
          <p:cNvPr id="77" name="Freeform 77"/>
          <p:cNvSpPr/>
          <p:nvPr/>
        </p:nvSpPr>
        <p:spPr>
          <a:xfrm>
            <a:off x="9172772" y="3287569"/>
            <a:ext cx="526864" cy="525547"/>
          </a:xfrm>
          <a:custGeom>
            <a:avLst/>
            <a:gdLst/>
            <a:ahLst/>
            <a:cxnLst/>
            <a:rect l="l" t="t" r="r" b="b"/>
            <a:pathLst>
              <a:path w="790296" h="788321">
                <a:moveTo>
                  <a:pt x="0" y="0"/>
                </a:moveTo>
                <a:lnTo>
                  <a:pt x="790296" y="0"/>
                </a:lnTo>
                <a:lnTo>
                  <a:pt x="790296" y="788321"/>
                </a:lnTo>
                <a:lnTo>
                  <a:pt x="0" y="7883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grpSp>
        <p:nvGrpSpPr>
          <p:cNvPr id="78" name="Group 78"/>
          <p:cNvGrpSpPr/>
          <p:nvPr/>
        </p:nvGrpSpPr>
        <p:grpSpPr>
          <a:xfrm>
            <a:off x="9177253" y="2817406"/>
            <a:ext cx="438387" cy="438387"/>
            <a:chOff x="0" y="0"/>
            <a:chExt cx="812800" cy="812800"/>
          </a:xfrm>
        </p:grpSpPr>
        <p:sp>
          <p:nvSpPr>
            <p:cNvPr id="79" name="Freeform 7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80" name="TextBox 80"/>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81" name="Group 81"/>
          <p:cNvGrpSpPr/>
          <p:nvPr/>
        </p:nvGrpSpPr>
        <p:grpSpPr>
          <a:xfrm>
            <a:off x="9226687" y="2866839"/>
            <a:ext cx="339519" cy="339519"/>
            <a:chOff x="0" y="0"/>
            <a:chExt cx="812800" cy="812800"/>
          </a:xfrm>
        </p:grpSpPr>
        <p:sp>
          <p:nvSpPr>
            <p:cNvPr id="82" name="Freeform 8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C50A9"/>
            </a:solidFill>
          </p:spPr>
          <p:txBody>
            <a:bodyPr/>
            <a:lstStyle/>
            <a:p>
              <a:endParaRPr lang="es-CO" sz="1200"/>
            </a:p>
          </p:txBody>
        </p:sp>
        <p:sp>
          <p:nvSpPr>
            <p:cNvPr id="83" name="TextBox 83"/>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84" name="TextBox 84"/>
          <p:cNvSpPr txBox="1"/>
          <p:nvPr/>
        </p:nvSpPr>
        <p:spPr>
          <a:xfrm>
            <a:off x="9293739" y="290464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06</a:t>
            </a:r>
          </a:p>
        </p:txBody>
      </p:sp>
      <p:grpSp>
        <p:nvGrpSpPr>
          <p:cNvPr id="85" name="Group 85"/>
          <p:cNvGrpSpPr/>
          <p:nvPr/>
        </p:nvGrpSpPr>
        <p:grpSpPr>
          <a:xfrm rot="-5400000">
            <a:off x="10614628" y="2417410"/>
            <a:ext cx="1062016" cy="1359381"/>
            <a:chOff x="0" y="0"/>
            <a:chExt cx="635000" cy="812800"/>
          </a:xfrm>
        </p:grpSpPr>
        <p:sp>
          <p:nvSpPr>
            <p:cNvPr id="86" name="Freeform 86"/>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322E64"/>
            </a:solidFill>
          </p:spPr>
          <p:txBody>
            <a:bodyPr/>
            <a:lstStyle/>
            <a:p>
              <a:endParaRPr lang="es-CO" sz="1200"/>
            </a:p>
          </p:txBody>
        </p:sp>
        <p:sp>
          <p:nvSpPr>
            <p:cNvPr id="87" name="TextBox 87"/>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88" name="AutoShape 88"/>
          <p:cNvSpPr/>
          <p:nvPr/>
        </p:nvSpPr>
        <p:spPr>
          <a:xfrm>
            <a:off x="10485917" y="3623116"/>
            <a:ext cx="0" cy="1681041"/>
          </a:xfrm>
          <a:prstGeom prst="line">
            <a:avLst/>
          </a:prstGeom>
          <a:ln w="57150" cap="flat">
            <a:solidFill>
              <a:srgbClr val="322E64"/>
            </a:solidFill>
            <a:prstDash val="solid"/>
            <a:headEnd type="none" w="sm" len="sm"/>
            <a:tailEnd type="oval" w="lg" len="lg"/>
          </a:ln>
        </p:spPr>
        <p:txBody>
          <a:bodyPr/>
          <a:lstStyle/>
          <a:p>
            <a:endParaRPr lang="es-CO" sz="1200"/>
          </a:p>
        </p:txBody>
      </p:sp>
      <p:sp>
        <p:nvSpPr>
          <p:cNvPr id="89" name="Freeform 89"/>
          <p:cNvSpPr/>
          <p:nvPr/>
        </p:nvSpPr>
        <p:spPr>
          <a:xfrm>
            <a:off x="10824047" y="2817062"/>
            <a:ext cx="526864" cy="525547"/>
          </a:xfrm>
          <a:custGeom>
            <a:avLst/>
            <a:gdLst/>
            <a:ahLst/>
            <a:cxnLst/>
            <a:rect l="l" t="t" r="r" b="b"/>
            <a:pathLst>
              <a:path w="790296" h="788321">
                <a:moveTo>
                  <a:pt x="0" y="0"/>
                </a:moveTo>
                <a:lnTo>
                  <a:pt x="790296" y="0"/>
                </a:lnTo>
                <a:lnTo>
                  <a:pt x="790296" y="788321"/>
                </a:lnTo>
                <a:lnTo>
                  <a:pt x="0" y="7883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grpSp>
        <p:nvGrpSpPr>
          <p:cNvPr id="90" name="Group 90"/>
          <p:cNvGrpSpPr/>
          <p:nvPr/>
        </p:nvGrpSpPr>
        <p:grpSpPr>
          <a:xfrm>
            <a:off x="10828528" y="2346899"/>
            <a:ext cx="438387" cy="438387"/>
            <a:chOff x="0" y="0"/>
            <a:chExt cx="812800" cy="812800"/>
          </a:xfrm>
        </p:grpSpPr>
        <p:sp>
          <p:nvSpPr>
            <p:cNvPr id="91" name="Freeform 9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92" name="TextBox 92"/>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93" name="Group 93"/>
          <p:cNvGrpSpPr/>
          <p:nvPr/>
        </p:nvGrpSpPr>
        <p:grpSpPr>
          <a:xfrm>
            <a:off x="10877961" y="2396333"/>
            <a:ext cx="339519" cy="339519"/>
            <a:chOff x="0" y="0"/>
            <a:chExt cx="812800" cy="812800"/>
          </a:xfrm>
        </p:grpSpPr>
        <p:sp>
          <p:nvSpPr>
            <p:cNvPr id="94" name="Freeform 9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3759"/>
            </a:solidFill>
          </p:spPr>
          <p:txBody>
            <a:bodyPr/>
            <a:lstStyle/>
            <a:p>
              <a:endParaRPr lang="es-CO" sz="1200"/>
            </a:p>
          </p:txBody>
        </p:sp>
        <p:sp>
          <p:nvSpPr>
            <p:cNvPr id="95" name="TextBox 95"/>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96" name="TextBox 96"/>
          <p:cNvSpPr txBox="1"/>
          <p:nvPr/>
        </p:nvSpPr>
        <p:spPr>
          <a:xfrm>
            <a:off x="10953562" y="2424601"/>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07</a:t>
            </a:r>
          </a:p>
        </p:txBody>
      </p:sp>
      <p:pic>
        <p:nvPicPr>
          <p:cNvPr id="99" name="Imagen 98" descr="Forma&#10;&#10;Descripción generada automáticamente">
            <a:extLst>
              <a:ext uri="{FF2B5EF4-FFF2-40B4-BE49-F238E27FC236}">
                <a16:creationId xmlns:a16="http://schemas.microsoft.com/office/drawing/2014/main" id="{DDF30B6E-0DB2-D4D1-31FE-6A971409FB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063671" y="6737720"/>
            <a:ext cx="2143073" cy="147712"/>
          </a:xfrm>
          <a:prstGeom prst="rect">
            <a:avLst/>
          </a:prstGeom>
        </p:spPr>
      </p:pic>
      <p:pic>
        <p:nvPicPr>
          <p:cNvPr id="100" name="Imagen 99">
            <a:extLst>
              <a:ext uri="{FF2B5EF4-FFF2-40B4-BE49-F238E27FC236}">
                <a16:creationId xmlns:a16="http://schemas.microsoft.com/office/drawing/2014/main" id="{6C8EAB8A-F4D1-E74E-ED29-8E2B50CE16C2}"/>
              </a:ext>
            </a:extLst>
          </p:cNvPr>
          <p:cNvPicPr>
            <a:picLocks noChangeAspect="1"/>
          </p:cNvPicPr>
          <p:nvPr/>
        </p:nvPicPr>
        <p:blipFill>
          <a:blip r:embed="rId14"/>
          <a:stretch>
            <a:fillRect/>
          </a:stretch>
        </p:blipFill>
        <p:spPr>
          <a:xfrm>
            <a:off x="10082472" y="6194579"/>
            <a:ext cx="2135676" cy="54000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D8ED-4999-F1C0-291E-7EC6DE969C7F}"/>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4A62481D-F2BC-C3C7-A2B5-5C3940C7F2EA}"/>
              </a:ext>
            </a:extLst>
          </p:cNvPr>
          <p:cNvSpPr/>
          <p:nvPr/>
        </p:nvSpPr>
        <p:spPr>
          <a:xfrm>
            <a:off x="-57304" y="0"/>
            <a:ext cx="12194893" cy="685800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5745E8C6-CA36-67E9-D72E-6F145CBE69F2}"/>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03CF434B-12EC-1AF8-7B58-F9E1EFFBB96B}"/>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19" name="Rectángulo: esquinas redondeadas 18">
            <a:extLst>
              <a:ext uri="{FF2B5EF4-FFF2-40B4-BE49-F238E27FC236}">
                <a16:creationId xmlns:a16="http://schemas.microsoft.com/office/drawing/2014/main" id="{97D68A57-2A49-5367-5E67-74FC15FFFB77}"/>
              </a:ext>
            </a:extLst>
          </p:cNvPr>
          <p:cNvSpPr/>
          <p:nvPr/>
        </p:nvSpPr>
        <p:spPr>
          <a:xfrm>
            <a:off x="5962693" y="1806299"/>
            <a:ext cx="6073926" cy="4242301"/>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lvl="0">
              <a:spcAft>
                <a:spcPts val="600"/>
              </a:spcAft>
            </a:pPr>
            <a:r>
              <a:rPr lang="es-ES" sz="1400" b="1" dirty="0">
                <a:solidFill>
                  <a:schemeClr val="bg1"/>
                </a:solidFill>
                <a:latin typeface="Montserrat" panose="00000500000000000000" pitchFamily="2" charset="0"/>
              </a:rPr>
              <a:t>Conocimientos en: </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Redes de telecomunicaciones y conectividad: LAN / WAN / WLAN / SD-WAN, interconexión de redes y conceptos TCP/IP.</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Gestión y soporte de Telefonía IP / VoIP y redes de voz.</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Operación de enlaces y servicios de conectividad (incl. escenarios con fibra óptica).</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Metodología ITIL: gestión de incidentes, problemas y cambios.</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Gestión de proyectos y marcos ágiles: SCRUM / PMP (o gerencia de proyectos).</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Seguimiento de indicadores, análisis de desempeño y cumplimiento de </a:t>
            </a:r>
            <a:r>
              <a:rPr lang="es-MX" sz="1400" dirty="0" err="1">
                <a:solidFill>
                  <a:schemeClr val="bg1"/>
                </a:solidFill>
                <a:latin typeface="Montserrat" panose="00000500000000000000" pitchFamily="2" charset="0"/>
              </a:rPr>
              <a:t>SLAs</a:t>
            </a:r>
            <a:r>
              <a:rPr lang="es-MX" sz="1400" dirty="0">
                <a:solidFill>
                  <a:schemeClr val="bg1"/>
                </a:solidFill>
                <a:latin typeface="Montserrat" panose="00000500000000000000" pitchFamily="2" charset="0"/>
              </a:rPr>
              <a:t> (</a:t>
            </a:r>
            <a:r>
              <a:rPr lang="es-MX" sz="1400" dirty="0" err="1">
                <a:solidFill>
                  <a:schemeClr val="bg1"/>
                </a:solidFill>
                <a:latin typeface="Montserrat" panose="00000500000000000000" pitchFamily="2" charset="0"/>
              </a:rPr>
              <a:t>KPIs</a:t>
            </a:r>
            <a:r>
              <a:rPr lang="es-MX" sz="1400" dirty="0">
                <a:solidFill>
                  <a:schemeClr val="bg1"/>
                </a:solidFill>
                <a:latin typeface="Montserrat" panose="00000500000000000000" pitchFamily="2" charset="0"/>
              </a:rPr>
              <a:t>).</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Herramientas: </a:t>
            </a:r>
            <a:r>
              <a:rPr lang="es-MX" sz="1400" dirty="0" err="1">
                <a:solidFill>
                  <a:schemeClr val="bg1"/>
                </a:solidFill>
                <a:latin typeface="Montserrat" panose="00000500000000000000" pitchFamily="2" charset="0"/>
              </a:rPr>
              <a:t>Service</a:t>
            </a:r>
            <a:r>
              <a:rPr lang="es-MX" sz="1400" dirty="0">
                <a:solidFill>
                  <a:schemeClr val="bg1"/>
                </a:solidFill>
                <a:latin typeface="Montserrat" panose="00000500000000000000" pitchFamily="2" charset="0"/>
              </a:rPr>
              <a:t> Manager, Microsoft Power BI, ofimática y Microsoft Project.</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Conocimientos en soluciones/equipamiento del sector (p. ej., Nokia).</a:t>
            </a:r>
            <a:endParaRPr lang="es-ES" sz="1400" dirty="0">
              <a:solidFill>
                <a:schemeClr val="bg1"/>
              </a:solidFill>
              <a:latin typeface="Montserrat" panose="00000500000000000000" pitchFamily="2" charset="0"/>
            </a:endParaRPr>
          </a:p>
        </p:txBody>
      </p:sp>
      <p:sp>
        <p:nvSpPr>
          <p:cNvPr id="4" name="TEXO EN MAYUSCULA">
            <a:extLst>
              <a:ext uri="{FF2B5EF4-FFF2-40B4-BE49-F238E27FC236}">
                <a16:creationId xmlns:a16="http://schemas.microsoft.com/office/drawing/2014/main" id="{B273206C-58A2-E40A-8024-95FF2CD723B4}"/>
              </a:ext>
            </a:extLst>
          </p:cNvPr>
          <p:cNvSpPr txBox="1"/>
          <p:nvPr/>
        </p:nvSpPr>
        <p:spPr>
          <a:xfrm>
            <a:off x="287185" y="1789120"/>
            <a:ext cx="5235766"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Descripción</a:t>
            </a:r>
            <a:endParaRPr sz="3289" dirty="0"/>
          </a:p>
        </p:txBody>
      </p:sp>
      <p:pic>
        <p:nvPicPr>
          <p:cNvPr id="2" name="Imagen 1" descr="Texto&#10;&#10;Descripción generada automáticamente">
            <a:extLst>
              <a:ext uri="{FF2B5EF4-FFF2-40B4-BE49-F238E27FC236}">
                <a16:creationId xmlns:a16="http://schemas.microsoft.com/office/drawing/2014/main" id="{924EB882-42BD-3512-4589-A8CDE7C556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2305" y="-36539"/>
            <a:ext cx="1993334" cy="540000"/>
          </a:xfrm>
          <a:prstGeom prst="rect">
            <a:avLst/>
          </a:prstGeom>
        </p:spPr>
      </p:pic>
      <p:sp>
        <p:nvSpPr>
          <p:cNvPr id="12" name="Rectángulo: esquinas redondeadas 11">
            <a:extLst>
              <a:ext uri="{FF2B5EF4-FFF2-40B4-BE49-F238E27FC236}">
                <a16:creationId xmlns:a16="http://schemas.microsoft.com/office/drawing/2014/main" id="{E90C77A2-D717-A02A-F5C0-95FDBAEA4ACB}"/>
              </a:ext>
            </a:extLst>
          </p:cNvPr>
          <p:cNvSpPr/>
          <p:nvPr/>
        </p:nvSpPr>
        <p:spPr>
          <a:xfrm>
            <a:off x="172485" y="2366336"/>
            <a:ext cx="5465165" cy="2812122"/>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0" lvl="1" algn="just">
              <a:spcBef>
                <a:spcPts val="600"/>
              </a:spcBef>
            </a:pPr>
            <a:r>
              <a:rPr lang="es-MX" sz="1400" dirty="0">
                <a:solidFill>
                  <a:schemeClr val="bg1"/>
                </a:solidFill>
                <a:latin typeface="Montserrat" panose="00000500000000000000" pitchFamily="2" charset="0"/>
              </a:rPr>
              <a:t>Profesional en Ingeniería de Sistemas, Electrónica o Telecomunicaciones (o afines), con 4 a 5 años de experiencia liderando operaciones de Mesa de Ayuda / NOC para servicios de conectividad (red de datos y Telefonía IP). Responsable de coordinar y hacer seguimiento al proceso de gestión de incidentes para garantizar el cumplimiento de </a:t>
            </a:r>
            <a:r>
              <a:rPr lang="es-MX" sz="1400" dirty="0" err="1">
                <a:solidFill>
                  <a:schemeClr val="bg1"/>
                </a:solidFill>
                <a:latin typeface="Montserrat" panose="00000500000000000000" pitchFamily="2" charset="0"/>
              </a:rPr>
              <a:t>SLAs</a:t>
            </a:r>
            <a:r>
              <a:rPr lang="es-MX" sz="1400" dirty="0">
                <a:solidFill>
                  <a:schemeClr val="bg1"/>
                </a:solidFill>
                <a:latin typeface="Montserrat" panose="00000500000000000000" pitchFamily="2" charset="0"/>
              </a:rPr>
              <a:t>, liderar equipos técnicos y personal de campo, atender </a:t>
            </a:r>
            <a:r>
              <a:rPr lang="es-CO" sz="1400" noProof="0" dirty="0">
                <a:solidFill>
                  <a:schemeClr val="bg1"/>
                </a:solidFill>
                <a:latin typeface="Montserrat" panose="00000500000000000000" pitchFamily="2" charset="0"/>
              </a:rPr>
              <a:t>escalalamientos</a:t>
            </a:r>
            <a:r>
              <a:rPr lang="es-MX" sz="1400" dirty="0">
                <a:solidFill>
                  <a:schemeClr val="bg1"/>
                </a:solidFill>
                <a:latin typeface="Montserrat" panose="00000500000000000000" pitchFamily="2" charset="0"/>
              </a:rPr>
              <a:t> de clientes críticos y promover iniciativas de mejora continua. Disponibilidad 5x8 con atención eventual fuera de horario cuando se requiera.</a:t>
            </a:r>
            <a:r>
              <a:rPr lang="es-ES" sz="1400" dirty="0">
                <a:solidFill>
                  <a:schemeClr val="bg1"/>
                </a:solidFill>
                <a:latin typeface="Montserrat" panose="00000500000000000000" pitchFamily="2" charset="0"/>
              </a:rPr>
              <a:t>	</a:t>
            </a:r>
          </a:p>
        </p:txBody>
      </p:sp>
      <p:sp>
        <p:nvSpPr>
          <p:cNvPr id="6" name="Rectángulo: esquinas redondeadas 5">
            <a:extLst>
              <a:ext uri="{FF2B5EF4-FFF2-40B4-BE49-F238E27FC236}">
                <a16:creationId xmlns:a16="http://schemas.microsoft.com/office/drawing/2014/main" id="{75A1B2D9-DC3B-515B-87A5-2440CE248DE2}"/>
              </a:ext>
            </a:extLst>
          </p:cNvPr>
          <p:cNvSpPr/>
          <p:nvPr/>
        </p:nvSpPr>
        <p:spPr>
          <a:xfrm>
            <a:off x="270930" y="886879"/>
            <a:ext cx="9799506" cy="792000"/>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800" dirty="0"/>
              <a:t>Líder Mesa de Ayuda Conectividad Estándar</a:t>
            </a:r>
            <a:endParaRPr lang="es-CO" sz="3600" dirty="0"/>
          </a:p>
        </p:txBody>
      </p:sp>
    </p:spTree>
    <p:extLst>
      <p:ext uri="{BB962C8B-B14F-4D97-AF65-F5344CB8AC3E}">
        <p14:creationId xmlns:p14="http://schemas.microsoft.com/office/powerpoint/2010/main" val="3872538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DADA-6A5F-DC99-B4EE-43B27C7788A1}"/>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A67EA3DB-285C-B26B-B9F3-F0226ABB5004}"/>
              </a:ext>
            </a:extLst>
          </p:cNvPr>
          <p:cNvSpPr/>
          <p:nvPr/>
        </p:nvSpPr>
        <p:spPr>
          <a:xfrm>
            <a:off x="-2893" y="-6520"/>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98A12E82-511C-7D97-7B10-282793489935}"/>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BA9741AF-579F-DD19-DC67-0868DD811FE0}"/>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481" name="TEXO EN MAYUSCULA">
            <a:extLst>
              <a:ext uri="{FF2B5EF4-FFF2-40B4-BE49-F238E27FC236}">
                <a16:creationId xmlns:a16="http://schemas.microsoft.com/office/drawing/2014/main" id="{C49B8395-8F6B-7787-8124-E01E61CE10A5}"/>
              </a:ext>
            </a:extLst>
          </p:cNvPr>
          <p:cNvSpPr txBox="1"/>
          <p:nvPr/>
        </p:nvSpPr>
        <p:spPr>
          <a:xfrm>
            <a:off x="733621" y="3370546"/>
            <a:ext cx="5042316" cy="5641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Funciones:</a:t>
            </a:r>
            <a:endParaRPr sz="3289" dirty="0"/>
          </a:p>
        </p:txBody>
      </p:sp>
      <p:sp>
        <p:nvSpPr>
          <p:cNvPr id="19" name="Rectángulo: esquinas redondeadas 18">
            <a:extLst>
              <a:ext uri="{FF2B5EF4-FFF2-40B4-BE49-F238E27FC236}">
                <a16:creationId xmlns:a16="http://schemas.microsoft.com/office/drawing/2014/main" id="{50C170F4-D961-E415-61AF-34E1A4A5F7F8}"/>
              </a:ext>
            </a:extLst>
          </p:cNvPr>
          <p:cNvSpPr/>
          <p:nvPr/>
        </p:nvSpPr>
        <p:spPr>
          <a:xfrm>
            <a:off x="344065" y="3845863"/>
            <a:ext cx="10943276" cy="2914277"/>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Realizar seguimiento detallado a la ejecución del </a:t>
            </a:r>
            <a:r>
              <a:rPr lang="es-MX" sz="1100" b="1" dirty="0">
                <a:solidFill>
                  <a:schemeClr val="bg1"/>
                </a:solidFill>
                <a:latin typeface="Montserrat" panose="00000500000000000000" pitchFamily="2" charset="0"/>
              </a:rPr>
              <a:t>proceso de gestión de incidentes</a:t>
            </a:r>
            <a:r>
              <a:rPr lang="es-MX" sz="1100" dirty="0">
                <a:solidFill>
                  <a:schemeClr val="bg1"/>
                </a:solidFill>
                <a:latin typeface="Montserrat" panose="00000500000000000000" pitchFamily="2" charset="0"/>
              </a:rPr>
              <a:t>, garantizando el cumplimiento de </a:t>
            </a:r>
            <a:r>
              <a:rPr lang="es-MX" sz="1100" b="1" dirty="0">
                <a:solidFill>
                  <a:schemeClr val="bg1"/>
                </a:solidFill>
                <a:latin typeface="Montserrat" panose="00000500000000000000" pitchFamily="2" charset="0"/>
              </a:rPr>
              <a:t>SLA</a:t>
            </a:r>
            <a:r>
              <a:rPr lang="es-MX" sz="1100" dirty="0">
                <a:solidFill>
                  <a:schemeClr val="bg1"/>
                </a:solidFill>
                <a:latin typeface="Montserrat" panose="00000500000000000000" pitchFamily="2" charset="0"/>
              </a:rPr>
              <a:t> y los acuerdos de servicio definidos.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Coordinar y controlar los </a:t>
            </a:r>
            <a:r>
              <a:rPr lang="es-MX" sz="1100" b="1" dirty="0">
                <a:solidFill>
                  <a:schemeClr val="bg1"/>
                </a:solidFill>
                <a:latin typeface="Montserrat" panose="00000500000000000000" pitchFamily="2" charset="0"/>
              </a:rPr>
              <a:t>procesos operativos</a:t>
            </a:r>
            <a:r>
              <a:rPr lang="es-MX" sz="1100" dirty="0">
                <a:solidFill>
                  <a:schemeClr val="bg1"/>
                </a:solidFill>
                <a:latin typeface="Montserrat" panose="00000500000000000000" pitchFamily="2" charset="0"/>
              </a:rPr>
              <a:t> asociados a la atención de incidentes, incluyendo articulación </a:t>
            </a:r>
            <a:r>
              <a:rPr lang="es-MX" sz="1100" b="1" dirty="0">
                <a:solidFill>
                  <a:schemeClr val="bg1"/>
                </a:solidFill>
                <a:latin typeface="Montserrat" panose="00000500000000000000" pitchFamily="2" charset="0"/>
              </a:rPr>
              <a:t>con personal de campo</a:t>
            </a:r>
            <a:r>
              <a:rPr lang="es-MX" sz="1100" dirty="0">
                <a:solidFill>
                  <a:schemeClr val="bg1"/>
                </a:solidFill>
                <a:latin typeface="Montserrat" panose="00000500000000000000" pitchFamily="2" charset="0"/>
              </a:rPr>
              <a:t> y grupos de soporte internos/externos.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Analizar, diagnosticar y solucionar incidentes </a:t>
            </a:r>
            <a:r>
              <a:rPr lang="es-MX" sz="1100" b="1" dirty="0">
                <a:solidFill>
                  <a:schemeClr val="bg1"/>
                </a:solidFill>
                <a:latin typeface="Montserrat" panose="00000500000000000000" pitchFamily="2" charset="0"/>
              </a:rPr>
              <a:t>en enlaces de clientes</a:t>
            </a:r>
            <a:r>
              <a:rPr lang="es-MX" sz="1100" dirty="0">
                <a:solidFill>
                  <a:schemeClr val="bg1"/>
                </a:solidFill>
                <a:latin typeface="Montserrat" panose="00000500000000000000" pitchFamily="2" charset="0"/>
              </a:rPr>
              <a:t> (incluye clientes especiales / NOC), utilizando herramientas de diagnóstico, monitoreo y gestión.</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Gestionar, analizar, diagnosticar y solucionar incidentes </a:t>
            </a:r>
            <a:r>
              <a:rPr lang="es-MX" sz="1100" b="1" dirty="0">
                <a:solidFill>
                  <a:schemeClr val="bg1"/>
                </a:solidFill>
                <a:latin typeface="Montserrat" panose="00000500000000000000" pitchFamily="2" charset="0"/>
              </a:rPr>
              <a:t>en clientes críticos</a:t>
            </a:r>
            <a:r>
              <a:rPr lang="es-MX" sz="1100" dirty="0">
                <a:solidFill>
                  <a:schemeClr val="bg1"/>
                </a:solidFill>
                <a:latin typeface="Montserrat" panose="00000500000000000000" pitchFamily="2" charset="0"/>
              </a:rPr>
              <a:t> y/o </a:t>
            </a:r>
            <a:r>
              <a:rPr lang="es-MX" sz="1100" b="1" dirty="0">
                <a:solidFill>
                  <a:schemeClr val="bg1"/>
                </a:solidFill>
                <a:latin typeface="Montserrat" panose="00000500000000000000" pitchFamily="2" charset="0"/>
              </a:rPr>
              <a:t>soluciones especiales</a:t>
            </a:r>
            <a:r>
              <a:rPr lang="es-MX" sz="1100" dirty="0">
                <a:solidFill>
                  <a:schemeClr val="bg1"/>
                </a:solidFill>
                <a:latin typeface="Montserrat" panose="00000500000000000000" pitchFamily="2" charset="0"/>
              </a:rPr>
              <a:t>, asegurando trazabilidad, escalamiento y cierre oportuno.</a:t>
            </a:r>
          </a:p>
          <a:p>
            <a:pPr marL="285750" lvl="0" indent="-285750" algn="just">
              <a:buFont typeface="Arial" panose="020B0604020202020204" pitchFamily="34" charset="0"/>
              <a:buChar char="•"/>
            </a:pPr>
            <a:r>
              <a:rPr lang="es-MX" sz="1100" b="1" dirty="0">
                <a:solidFill>
                  <a:schemeClr val="bg1"/>
                </a:solidFill>
                <a:latin typeface="Montserrat" panose="00000500000000000000" pitchFamily="2" charset="0"/>
              </a:rPr>
              <a:t>Atender escalamientos técnicos</a:t>
            </a:r>
            <a:r>
              <a:rPr lang="es-MX" sz="1100" dirty="0">
                <a:solidFill>
                  <a:schemeClr val="bg1"/>
                </a:solidFill>
                <a:latin typeface="Montserrat" panose="00000500000000000000" pitchFamily="2" charset="0"/>
              </a:rPr>
              <a:t> provenientes de diferentes grupos o áreas internas, asegurando una comunicación efectiva con las partes interesadas.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Crear, liderar y gestionar </a:t>
            </a:r>
            <a:r>
              <a:rPr lang="es-MX" sz="1100" b="1" dirty="0">
                <a:solidFill>
                  <a:schemeClr val="bg1"/>
                </a:solidFill>
                <a:latin typeface="Montserrat" panose="00000500000000000000" pitchFamily="2" charset="0"/>
              </a:rPr>
              <a:t>proyectos de mejora continua</a:t>
            </a:r>
            <a:r>
              <a:rPr lang="es-MX" sz="1100" dirty="0">
                <a:solidFill>
                  <a:schemeClr val="bg1"/>
                </a:solidFill>
                <a:latin typeface="Montserrat" panose="00000500000000000000" pitchFamily="2" charset="0"/>
              </a:rPr>
              <a:t> para optimizar procesos operativos, reducir tiempos de atención y fortalecer la calidad del servicio.</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Cumplir con las órdenes e instrucciones impartidas por el(los) superior(es) y las políticas definidas para la operación del servicio.</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Dar cumplimiento a normas </a:t>
            </a:r>
            <a:r>
              <a:rPr lang="es-MX" sz="1100" b="1" dirty="0">
                <a:solidFill>
                  <a:schemeClr val="bg1"/>
                </a:solidFill>
                <a:latin typeface="Montserrat" panose="00000500000000000000" pitchFamily="2" charset="0"/>
              </a:rPr>
              <a:t>legales y de seguridad (HSE)</a:t>
            </a:r>
            <a:r>
              <a:rPr lang="es-MX" sz="1100" dirty="0">
                <a:solidFill>
                  <a:schemeClr val="bg1"/>
                </a:solidFill>
                <a:latin typeface="Montserrat" panose="00000500000000000000" pitchFamily="2" charset="0"/>
              </a:rPr>
              <a:t>: reportar incidentes/accidentes de trabajo y recomendar acciones preventivas y correctivas cuando aplique.</a:t>
            </a:r>
            <a:endParaRPr lang="es-CO" sz="1100" dirty="0">
              <a:solidFill>
                <a:schemeClr val="bg1"/>
              </a:solidFill>
              <a:latin typeface="Montserrat" panose="00000500000000000000" pitchFamily="2" charset="0"/>
            </a:endParaRPr>
          </a:p>
        </p:txBody>
      </p:sp>
      <p:pic>
        <p:nvPicPr>
          <p:cNvPr id="2" name="Imagen 1" descr="Texto&#10;&#10;Descripción generada automáticamente">
            <a:extLst>
              <a:ext uri="{FF2B5EF4-FFF2-40B4-BE49-F238E27FC236}">
                <a16:creationId xmlns:a16="http://schemas.microsoft.com/office/drawing/2014/main" id="{F377475D-F065-DE1D-C28B-219DA76D07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21359" y="-27487"/>
            <a:ext cx="1993335" cy="540000"/>
          </a:xfrm>
          <a:prstGeom prst="rect">
            <a:avLst/>
          </a:prstGeom>
        </p:spPr>
      </p:pic>
      <p:sp>
        <p:nvSpPr>
          <p:cNvPr id="5" name="Rectángulo: esquinas redondeadas 4">
            <a:extLst>
              <a:ext uri="{FF2B5EF4-FFF2-40B4-BE49-F238E27FC236}">
                <a16:creationId xmlns:a16="http://schemas.microsoft.com/office/drawing/2014/main" id="{81188510-62DD-3A1C-3889-709295D74A42}"/>
              </a:ext>
            </a:extLst>
          </p:cNvPr>
          <p:cNvSpPr/>
          <p:nvPr/>
        </p:nvSpPr>
        <p:spPr>
          <a:xfrm>
            <a:off x="421853" y="707566"/>
            <a:ext cx="9799506" cy="449213"/>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800" dirty="0"/>
              <a:t>Líder Mesa de Ayuda Conectividad Estándar</a:t>
            </a:r>
            <a:endParaRPr lang="es-CO" sz="3600" dirty="0"/>
          </a:p>
        </p:txBody>
      </p:sp>
      <p:sp>
        <p:nvSpPr>
          <p:cNvPr id="3" name="Rectángulo: esquinas redondeadas 2">
            <a:extLst>
              <a:ext uri="{FF2B5EF4-FFF2-40B4-BE49-F238E27FC236}">
                <a16:creationId xmlns:a16="http://schemas.microsoft.com/office/drawing/2014/main" id="{D41290DE-A501-40B9-CC3A-E95C7AD88D77}"/>
              </a:ext>
            </a:extLst>
          </p:cNvPr>
          <p:cNvSpPr/>
          <p:nvPr/>
        </p:nvSpPr>
        <p:spPr>
          <a:xfrm>
            <a:off x="351512" y="1763073"/>
            <a:ext cx="10779457" cy="1603280"/>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285750" indent="-285750">
              <a:buFont typeface="Arial" panose="020B0604020202020204" pitchFamily="34" charset="0"/>
              <a:buChar char="•"/>
            </a:pPr>
            <a:r>
              <a:rPr lang="es-MX" sz="1100" dirty="0">
                <a:solidFill>
                  <a:schemeClr val="bg1"/>
                </a:solidFill>
                <a:latin typeface="Montserrat" pitchFamily="2" charset="0"/>
              </a:rPr>
              <a:t>Seguimiento detallado a la </a:t>
            </a:r>
            <a:r>
              <a:rPr lang="es-MX" sz="1100" b="1" dirty="0">
                <a:solidFill>
                  <a:schemeClr val="bg1"/>
                </a:solidFill>
                <a:latin typeface="Montserrat" pitchFamily="2" charset="0"/>
              </a:rPr>
              <a:t>administración de incidentes</a:t>
            </a:r>
            <a:r>
              <a:rPr lang="es-MX" sz="1100" dirty="0">
                <a:solidFill>
                  <a:schemeClr val="bg1"/>
                </a:solidFill>
                <a:latin typeface="Montserrat" panose="00000500000000000000" pitchFamily="2" charset="0"/>
              </a:rPr>
              <a:t> para asegurar el cumplimiento de </a:t>
            </a:r>
            <a:r>
              <a:rPr lang="es-MX" sz="1100" b="1" dirty="0" err="1">
                <a:solidFill>
                  <a:schemeClr val="bg1"/>
                </a:solidFill>
                <a:latin typeface="Montserrat" pitchFamily="2" charset="0"/>
              </a:rPr>
              <a:t>SLAs</a:t>
            </a:r>
            <a:r>
              <a:rPr lang="es-MX" sz="1100" dirty="0">
                <a:solidFill>
                  <a:schemeClr val="bg1"/>
                </a:solidFill>
                <a:latin typeface="Montserrat" pitchFamily="2" charset="0"/>
              </a:rPr>
              <a:t>.</a:t>
            </a:r>
          </a:p>
          <a:p>
            <a:pPr marL="285750" indent="-285750">
              <a:buFont typeface="Arial" panose="020B0604020202020204" pitchFamily="34" charset="0"/>
              <a:buChar char="•"/>
            </a:pPr>
            <a:r>
              <a:rPr lang="es-MX" sz="1100" dirty="0">
                <a:solidFill>
                  <a:schemeClr val="bg1"/>
                </a:solidFill>
                <a:latin typeface="Montserrat" pitchFamily="2" charset="0"/>
              </a:rPr>
              <a:t>Coordinación y control de </a:t>
            </a:r>
            <a:r>
              <a:rPr lang="es-MX" sz="1100" b="1" dirty="0">
                <a:solidFill>
                  <a:schemeClr val="bg1"/>
                </a:solidFill>
                <a:latin typeface="Montserrat" pitchFamily="2" charset="0"/>
              </a:rPr>
              <a:t>procesos operativos</a:t>
            </a:r>
            <a:r>
              <a:rPr lang="es-MX" sz="1100" dirty="0">
                <a:solidFill>
                  <a:schemeClr val="bg1"/>
                </a:solidFill>
                <a:latin typeface="Montserrat" panose="00000500000000000000" pitchFamily="2" charset="0"/>
              </a:rPr>
              <a:t> y equipos técnicos (incl. personal de campo).</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Análisis, diagnóstico y solución de incidentes en </a:t>
            </a:r>
            <a:r>
              <a:rPr lang="es-MX" sz="1100" b="1" dirty="0">
                <a:solidFill>
                  <a:schemeClr val="bg1"/>
                </a:solidFill>
                <a:latin typeface="Montserrat" pitchFamily="2" charset="0"/>
              </a:rPr>
              <a:t>enlaces de clientes</a:t>
            </a:r>
            <a:r>
              <a:rPr lang="es-MX" sz="1100" dirty="0">
                <a:solidFill>
                  <a:schemeClr val="bg1"/>
                </a:solidFill>
                <a:latin typeface="Montserrat" panose="00000500000000000000" pitchFamily="2" charset="0"/>
              </a:rPr>
              <a:t> (NOC / clientes especiales) usando herramientas de diagnóstico y bases de conocimiento.</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Gestión de incidentes y problemas en </a:t>
            </a:r>
            <a:r>
              <a:rPr lang="es-MX" sz="1100" b="1" dirty="0">
                <a:solidFill>
                  <a:schemeClr val="bg1"/>
                </a:solidFill>
                <a:latin typeface="Montserrat" pitchFamily="2" charset="0"/>
              </a:rPr>
              <a:t>clientes críticos / soluciones especiales</a:t>
            </a:r>
            <a:r>
              <a:rPr lang="es-MX" sz="1100" dirty="0">
                <a:solidFill>
                  <a:schemeClr val="bg1"/>
                </a:solidFill>
                <a:latin typeface="Montserrat" pitchFamily="2" charset="0"/>
              </a:rPr>
              <a:t>, con enfoque en causa raíz y satisfacción del cliente.</a:t>
            </a:r>
          </a:p>
          <a:p>
            <a:pPr marL="285750" indent="-285750">
              <a:buFont typeface="Arial" panose="020B0604020202020204" pitchFamily="34" charset="0"/>
              <a:buChar char="•"/>
            </a:pPr>
            <a:r>
              <a:rPr lang="es-MX" sz="1100" dirty="0">
                <a:solidFill>
                  <a:schemeClr val="bg1"/>
                </a:solidFill>
                <a:latin typeface="Montserrat" pitchFamily="2" charset="0"/>
              </a:rPr>
              <a:t>Atención de </a:t>
            </a:r>
            <a:r>
              <a:rPr lang="es-MX" sz="1100" b="1" dirty="0">
                <a:solidFill>
                  <a:schemeClr val="bg1"/>
                </a:solidFill>
                <a:latin typeface="Montserrat" pitchFamily="2" charset="0"/>
              </a:rPr>
              <a:t>escalamientos técnicos</a:t>
            </a:r>
            <a:r>
              <a:rPr lang="es-MX" sz="1100" dirty="0">
                <a:solidFill>
                  <a:schemeClr val="bg1"/>
                </a:solidFill>
                <a:latin typeface="Montserrat" panose="00000500000000000000" pitchFamily="2" charset="0"/>
              </a:rPr>
              <a:t> provenientes de grupos/consorcios de entidades y áreas internas.</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Creación y gestión de </a:t>
            </a:r>
            <a:r>
              <a:rPr lang="es-MX" sz="1100" b="1" dirty="0">
                <a:solidFill>
                  <a:schemeClr val="bg1"/>
                </a:solidFill>
                <a:latin typeface="Montserrat" pitchFamily="2" charset="0"/>
              </a:rPr>
              <a:t>proyectos de mejora</a:t>
            </a:r>
            <a:r>
              <a:rPr lang="es-MX" sz="1100" dirty="0">
                <a:solidFill>
                  <a:schemeClr val="bg1"/>
                </a:solidFill>
                <a:latin typeface="Montserrat" panose="00000500000000000000" pitchFamily="2" charset="0"/>
              </a:rPr>
              <a:t> para optimizar la operación y agilizar la atención.</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Cumplimiento de lineamientos </a:t>
            </a:r>
            <a:r>
              <a:rPr lang="es-MX" sz="1100" b="1" dirty="0">
                <a:solidFill>
                  <a:schemeClr val="bg1"/>
                </a:solidFill>
                <a:latin typeface="Montserrat" pitchFamily="2" charset="0"/>
              </a:rPr>
              <a:t>HSE</a:t>
            </a:r>
            <a:r>
              <a:rPr lang="es-MX" sz="1100" dirty="0">
                <a:solidFill>
                  <a:schemeClr val="bg1"/>
                </a:solidFill>
                <a:latin typeface="Montserrat" panose="00000500000000000000" pitchFamily="2" charset="0"/>
              </a:rPr>
              <a:t> y reporte de incidentes/accidentes de trabajo.</a:t>
            </a:r>
          </a:p>
        </p:txBody>
      </p:sp>
      <p:sp>
        <p:nvSpPr>
          <p:cNvPr id="4" name="TEXO EN MAYUSCULA">
            <a:extLst>
              <a:ext uri="{FF2B5EF4-FFF2-40B4-BE49-F238E27FC236}">
                <a16:creationId xmlns:a16="http://schemas.microsoft.com/office/drawing/2014/main" id="{2485EF9C-59F8-2578-D39D-2D7A903AF4AE}"/>
              </a:ext>
            </a:extLst>
          </p:cNvPr>
          <p:cNvSpPr txBox="1"/>
          <p:nvPr/>
        </p:nvSpPr>
        <p:spPr>
          <a:xfrm>
            <a:off x="721276" y="1192409"/>
            <a:ext cx="5042316" cy="5641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Experiencia en:</a:t>
            </a:r>
            <a:endParaRPr sz="3289" dirty="0"/>
          </a:p>
        </p:txBody>
      </p:sp>
    </p:spTree>
    <p:extLst>
      <p:ext uri="{BB962C8B-B14F-4D97-AF65-F5344CB8AC3E}">
        <p14:creationId xmlns:p14="http://schemas.microsoft.com/office/powerpoint/2010/main" val="871233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5A23-D9CF-3F49-5E2F-68166517AB51}"/>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2101B426-6FA3-794E-F797-A00DA6A618F9}"/>
              </a:ext>
            </a:extLst>
          </p:cNvPr>
          <p:cNvSpPr/>
          <p:nvPr/>
        </p:nvSpPr>
        <p:spPr>
          <a:xfrm>
            <a:off x="0" y="-7790"/>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31EF486E-3E52-AF15-5CA6-C791CB8A8BAA}"/>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1EC140A6-CCEE-445B-58F7-162FCDEB756E}"/>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5" name="TEXO EN MAYUSCULA">
            <a:extLst>
              <a:ext uri="{FF2B5EF4-FFF2-40B4-BE49-F238E27FC236}">
                <a16:creationId xmlns:a16="http://schemas.microsoft.com/office/drawing/2014/main" id="{E9BFC136-3E4B-079B-857A-DEBB1332999A}"/>
              </a:ext>
            </a:extLst>
          </p:cNvPr>
          <p:cNvSpPr txBox="1"/>
          <p:nvPr/>
        </p:nvSpPr>
        <p:spPr>
          <a:xfrm>
            <a:off x="321103" y="1182609"/>
            <a:ext cx="5356278"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a:t>Condiciones del Servicio</a:t>
            </a:r>
          </a:p>
        </p:txBody>
      </p:sp>
      <p:pic>
        <p:nvPicPr>
          <p:cNvPr id="2" name="Imagen 1" descr="Texto&#10;&#10;Descripción generada automáticamente">
            <a:extLst>
              <a:ext uri="{FF2B5EF4-FFF2-40B4-BE49-F238E27FC236}">
                <a16:creationId xmlns:a16="http://schemas.microsoft.com/office/drawing/2014/main" id="{37E85A0F-074F-60FE-4DBB-8149BCDE64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5368" y="-36539"/>
            <a:ext cx="1993333" cy="540000"/>
          </a:xfrm>
          <a:prstGeom prst="rect">
            <a:avLst/>
          </a:prstGeom>
        </p:spPr>
      </p:pic>
      <p:sp>
        <p:nvSpPr>
          <p:cNvPr id="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8160A746-65FA-E650-50DE-5B795A1BB081}"/>
              </a:ext>
            </a:extLst>
          </p:cNvPr>
          <p:cNvSpPr txBox="1"/>
          <p:nvPr/>
        </p:nvSpPr>
        <p:spPr>
          <a:xfrm>
            <a:off x="546721" y="1745276"/>
            <a:ext cx="10614615" cy="435598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 pos="4572000" algn="l"/>
              </a:tabLst>
              <a:defRPr>
                <a:solidFill>
                  <a:srgbClr val="FFFFFF"/>
                </a:solidFill>
                <a:latin typeface="Arial"/>
                <a:ea typeface="Arial"/>
                <a:cs typeface="Arial"/>
                <a:sym typeface="Arial"/>
              </a:defRPr>
            </a:lvl1pPr>
          </a:lstStyle>
          <a:p>
            <a:pPr marL="293694" indent="-293694">
              <a:buFont typeface="Wingdings" panose="05000000000000000000" pitchFamily="2" charset="2"/>
              <a:buChar char="§"/>
            </a:pPr>
            <a:r>
              <a:rPr lang="es-ES" sz="1600" b="1" dirty="0">
                <a:solidFill>
                  <a:schemeClr val="bg1"/>
                </a:solidFill>
                <a:latin typeface="Montserrat" pitchFamily="2" charset="0"/>
              </a:rPr>
              <a:t>Horario de Servicio</a:t>
            </a:r>
          </a:p>
          <a:p>
            <a:r>
              <a:rPr lang="es-MX" sz="1600" dirty="0">
                <a:solidFill>
                  <a:schemeClr val="bg1"/>
                </a:solidFill>
                <a:latin typeface="Montserrat" pitchFamily="2" charset="0"/>
              </a:rPr>
              <a:t>Lunes a Viernes </a:t>
            </a:r>
            <a:r>
              <a:rPr lang="es-MX" sz="1600" b="1" dirty="0">
                <a:solidFill>
                  <a:schemeClr val="bg1"/>
                </a:solidFill>
                <a:latin typeface="Montserrat" pitchFamily="2" charset="0"/>
              </a:rPr>
              <a:t>5x8</a:t>
            </a:r>
            <a:r>
              <a:rPr lang="es-MX" sz="1600" dirty="0">
                <a:solidFill>
                  <a:schemeClr val="bg1"/>
                </a:solidFill>
                <a:latin typeface="Montserrat" pitchFamily="2" charset="0"/>
              </a:rPr>
              <a:t>. El perfil debe contar con disponibilidad fuera de horario para atender eventualidades, contingencias o ventanas de mantenimiento cuando se requiera</a:t>
            </a:r>
            <a:r>
              <a:rPr lang="es-ES" sz="1600" dirty="0">
                <a:solidFill>
                  <a:schemeClr val="bg1"/>
                </a:solidFill>
                <a:latin typeface="Montserrat" pitchFamily="2" charset="0"/>
              </a:rPr>
              <a:t>.</a:t>
            </a:r>
          </a:p>
          <a:p>
            <a:endParaRPr lang="es-ES" sz="1600" dirty="0">
              <a:solidFill>
                <a:schemeClr val="bg1"/>
              </a:solidFill>
              <a:latin typeface="Montserrat" pitchFamily="2" charset="0"/>
            </a:endParaRPr>
          </a:p>
          <a:p>
            <a:r>
              <a:rPr lang="es-ES" sz="1600" b="1" dirty="0">
                <a:solidFill>
                  <a:schemeClr val="bg1"/>
                </a:solidFill>
                <a:latin typeface="Montserrat" pitchFamily="2" charset="0"/>
              </a:rPr>
              <a:t>Modalidad de servicio </a:t>
            </a:r>
            <a:r>
              <a:rPr lang="es-ES" sz="1600" dirty="0">
                <a:solidFill>
                  <a:schemeClr val="bg1"/>
                </a:solidFill>
                <a:latin typeface="Montserrat" pitchFamily="2" charset="0"/>
              </a:rPr>
              <a:t>: Presencial en Bogotá.</a:t>
            </a:r>
          </a:p>
          <a:p>
            <a:endParaRPr lang="es-ES" sz="1600" dirty="0">
              <a:solidFill>
                <a:schemeClr val="bg1"/>
              </a:solidFill>
              <a:latin typeface="Montserrat" pitchFamily="2" charset="0"/>
            </a:endParaRPr>
          </a:p>
          <a:p>
            <a:r>
              <a:rPr lang="es-MX" sz="1600" b="1" dirty="0">
                <a:latin typeface="Montserrat" pitchFamily="2" charset="0"/>
              </a:rPr>
              <a:t>Inducción y herramientas:</a:t>
            </a:r>
            <a:r>
              <a:rPr lang="es-MX" sz="1600" dirty="0">
                <a:latin typeface="Montserrat" pitchFamily="2" charset="0"/>
              </a:rPr>
              <a:t> El cliente realizará la </a:t>
            </a:r>
            <a:r>
              <a:rPr lang="es-MX" sz="1600" b="1" dirty="0">
                <a:latin typeface="Montserrat" pitchFamily="2" charset="0"/>
              </a:rPr>
              <a:t>inducción/capacitación</a:t>
            </a:r>
            <a:r>
              <a:rPr lang="es-MX" sz="1600" dirty="0">
                <a:latin typeface="Montserrat" pitchFamily="2" charset="0"/>
              </a:rPr>
              <a:t> sobre procesos, metodología y herramientas que el perfil deba operar; y gestionará los </a:t>
            </a:r>
            <a:r>
              <a:rPr lang="es-MX" sz="1600" b="1" dirty="0">
                <a:latin typeface="Montserrat" pitchFamily="2" charset="0"/>
              </a:rPr>
              <a:t>accesos</a:t>
            </a:r>
            <a:r>
              <a:rPr lang="es-MX" sz="1600" dirty="0">
                <a:latin typeface="Montserrat" pitchFamily="2" charset="0"/>
              </a:rPr>
              <a:t> (credenciales, VPN, permisos, etc.) requeridos.</a:t>
            </a:r>
            <a:endParaRPr lang="es-ES" sz="1600" b="1" dirty="0">
              <a:solidFill>
                <a:schemeClr val="bg1"/>
              </a:solidFill>
              <a:latin typeface="Montserrat" pitchFamily="2" charset="0"/>
            </a:endParaRPr>
          </a:p>
          <a:p>
            <a:endParaRPr lang="es-ES" sz="1600" b="1" dirty="0">
              <a:solidFill>
                <a:schemeClr val="bg1"/>
              </a:solidFill>
              <a:latin typeface="Montserrat" pitchFamily="2" charset="0"/>
            </a:endParaRPr>
          </a:p>
          <a:p>
            <a:r>
              <a:rPr lang="es-MX" sz="1600" b="1" dirty="0">
                <a:latin typeface="Montserrat" pitchFamily="2" charset="0"/>
              </a:rPr>
              <a:t>Dotación:</a:t>
            </a:r>
            <a:r>
              <a:rPr lang="es-MX" sz="1600" dirty="0">
                <a:latin typeface="Montserrat" pitchFamily="2" charset="0"/>
              </a:rPr>
              <a:t> Claro-HITSS suministrará el </a:t>
            </a:r>
            <a:r>
              <a:rPr lang="es-MX" sz="1600" b="1" dirty="0">
                <a:latin typeface="Montserrat" pitchFamily="2" charset="0"/>
              </a:rPr>
              <a:t>equipo de cómputo</a:t>
            </a:r>
            <a:r>
              <a:rPr lang="es-MX" sz="1600" dirty="0">
                <a:latin typeface="Montserrat" pitchFamily="2" charset="0"/>
              </a:rPr>
              <a:t> para la prestación del servicio, adicionalmente se incluye el suministro de </a:t>
            </a:r>
            <a:r>
              <a:rPr lang="es-MX" sz="1600" b="1" dirty="0">
                <a:latin typeface="Montserrat" pitchFamily="2" charset="0"/>
              </a:rPr>
              <a:t>pantalla adicional</a:t>
            </a:r>
            <a:r>
              <a:rPr lang="es-MX" sz="1600" dirty="0">
                <a:latin typeface="Montserrat" pitchFamily="2" charset="0"/>
              </a:rPr>
              <a:t> para la operación.</a:t>
            </a:r>
            <a:endParaRPr lang="es-ES" sz="1600" b="1" dirty="0">
              <a:solidFill>
                <a:schemeClr val="bg1"/>
              </a:solidFill>
              <a:latin typeface="Montserrat" pitchFamily="2" charset="0"/>
            </a:endParaRPr>
          </a:p>
          <a:p>
            <a:endParaRPr lang="es-ES" sz="1600" b="1" dirty="0">
              <a:solidFill>
                <a:schemeClr val="bg1"/>
              </a:solidFill>
              <a:latin typeface="Montserrat" pitchFamily="2" charset="0"/>
            </a:endParaRPr>
          </a:p>
          <a:p>
            <a:r>
              <a:rPr lang="es-MX" sz="1600" b="1" dirty="0">
                <a:latin typeface="Montserrat" pitchFamily="2" charset="0"/>
              </a:rPr>
              <a:t>Comunicaciones:</a:t>
            </a:r>
            <a:r>
              <a:rPr lang="es-MX" sz="1600" dirty="0">
                <a:latin typeface="Montserrat" pitchFamily="2" charset="0"/>
              </a:rPr>
              <a:t> Se requiere disponibilidad para contacto operativo; se contempla </a:t>
            </a:r>
            <a:r>
              <a:rPr lang="es-MX" sz="1600" b="1" dirty="0">
                <a:latin typeface="Montserrat" pitchFamily="2" charset="0"/>
              </a:rPr>
              <a:t>bono para celular</a:t>
            </a:r>
            <a:r>
              <a:rPr lang="es-MX" sz="1600" dirty="0">
                <a:latin typeface="Montserrat" pitchFamily="2" charset="0"/>
              </a:rPr>
              <a:t> según las políticas del servicio.</a:t>
            </a:r>
          </a:p>
          <a:p>
            <a:endParaRPr lang="es-MX" sz="1600" b="1" dirty="0">
              <a:solidFill>
                <a:schemeClr val="bg1"/>
              </a:solidFill>
              <a:latin typeface="Montserrat" pitchFamily="2" charset="0"/>
            </a:endParaRPr>
          </a:p>
          <a:p>
            <a:r>
              <a:rPr lang="es-MX" sz="1600" b="1" dirty="0">
                <a:latin typeface="Montserrat" pitchFamily="2" charset="0"/>
              </a:rPr>
              <a:t>Reportes y control:</a:t>
            </a:r>
            <a:r>
              <a:rPr lang="es-MX" sz="1600" dirty="0">
                <a:latin typeface="Montserrat" pitchFamily="2" charset="0"/>
              </a:rPr>
              <a:t> El servicio contempla reporte de actividades, seguimiento de casos e indicadores (incidentes, SLA, tendencias) en las herramientas definidas por el cliente.</a:t>
            </a:r>
            <a:endParaRPr lang="es-ES" sz="1600" b="1" dirty="0">
              <a:solidFill>
                <a:schemeClr val="bg1"/>
              </a:solidFill>
              <a:latin typeface="Montserrat" pitchFamily="2" charset="0"/>
            </a:endParaRPr>
          </a:p>
        </p:txBody>
      </p:sp>
    </p:spTree>
    <p:extLst>
      <p:ext uri="{BB962C8B-B14F-4D97-AF65-F5344CB8AC3E}">
        <p14:creationId xmlns:p14="http://schemas.microsoft.com/office/powerpoint/2010/main" val="1085074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Rectangle"/>
          <p:cNvSpPr/>
          <p:nvPr/>
        </p:nvSpPr>
        <p:spPr>
          <a:xfrm>
            <a:off x="1" y="2447"/>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p:cNvSpPr txBox="1"/>
          <p:nvPr/>
        </p:nvSpPr>
        <p:spPr>
          <a:xfrm>
            <a:off x="54411" y="176972"/>
            <a:ext cx="5261076" cy="3352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481" name="TEXO EN MAYUSCULA"/>
          <p:cNvSpPr txBox="1"/>
          <p:nvPr/>
        </p:nvSpPr>
        <p:spPr>
          <a:xfrm>
            <a:off x="731563" y="890321"/>
            <a:ext cx="7607780" cy="57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a:t>Supuestos y Consideraciones</a:t>
            </a:r>
            <a:endParaRPr sz="3289"/>
          </a:p>
        </p:txBody>
      </p:sp>
      <p:sp>
        <p:nvSpPr>
          <p:cNvPr id="2"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F6436C8D-714C-FD4E-3D9F-60B5D1038406}"/>
              </a:ext>
            </a:extLst>
          </p:cNvPr>
          <p:cNvSpPr txBox="1"/>
          <p:nvPr/>
        </p:nvSpPr>
        <p:spPr>
          <a:xfrm>
            <a:off x="508886" y="1791743"/>
            <a:ext cx="10859974" cy="39036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 pos="4572000" algn="l"/>
              </a:tabLst>
              <a:defRPr>
                <a:solidFill>
                  <a:srgbClr val="FFFFFF"/>
                </a:solidFill>
                <a:latin typeface="Arial"/>
                <a:ea typeface="Arial"/>
                <a:cs typeface="Arial"/>
                <a:sym typeface="Arial"/>
              </a:defRPr>
            </a:lvl1pPr>
          </a:lstStyle>
          <a:p>
            <a:pPr marL="293694" indent="-293694" algn="just">
              <a:spcAft>
                <a:spcPts val="1200"/>
              </a:spcAft>
              <a:buFont typeface="Arial" panose="020B0604020202020204" pitchFamily="34" charset="0"/>
              <a:buChar char="•"/>
            </a:pP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gestionará y proporcionará los usuarios y accesos que se requieran para el cumplimiento de las funciones del colaborador.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Se realizará seguimiento y acompañamiento entre </a:t>
            </a: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y </a:t>
            </a:r>
            <a:r>
              <a:rPr lang="es-ES" sz="1600" b="1" dirty="0">
                <a:solidFill>
                  <a:schemeClr val="bg1"/>
                </a:solidFill>
                <a:latin typeface="Century Gothic" panose="020B0502020202020204" pitchFamily="34" charset="0"/>
              </a:rPr>
              <a:t>Hitss</a:t>
            </a:r>
            <a:r>
              <a:rPr lang="es-ES" sz="1600" dirty="0">
                <a:solidFill>
                  <a:schemeClr val="bg1"/>
                </a:solidFill>
                <a:latin typeface="Century Gothic" panose="020B0502020202020204" pitchFamily="34" charset="0"/>
              </a:rPr>
              <a:t> al perfil asignado.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Para la presente propuesta no aplican entregables, ni </a:t>
            </a:r>
            <a:r>
              <a:rPr lang="es-ES" sz="1600" dirty="0" err="1">
                <a:solidFill>
                  <a:schemeClr val="bg1"/>
                </a:solidFill>
                <a:latin typeface="Century Gothic" panose="020B0502020202020204" pitchFamily="34" charset="0"/>
              </a:rPr>
              <a:t>SLAs</a:t>
            </a:r>
            <a:r>
              <a:rPr lang="es-ES" sz="1600" dirty="0">
                <a:solidFill>
                  <a:schemeClr val="bg1"/>
                </a:solidFill>
                <a:latin typeface="Century Gothic" panose="020B0502020202020204" pitchFamily="34" charset="0"/>
              </a:rPr>
              <a:t>, estos serán definidos por el equipo de proyecto del cliente y estarán acotados según el tiempo de asignación del colaborador.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La asignación de actividades y coordinación de tareas asignadas al colaborador se realizarán directamente por </a:t>
            </a: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a:t>
            </a:r>
          </a:p>
          <a:p>
            <a:pPr marL="293694" indent="-293694" algn="just">
              <a:spcAft>
                <a:spcPts val="1200"/>
              </a:spcAft>
              <a:buFont typeface="Arial" panose="020B0604020202020204" pitchFamily="34" charset="0"/>
              <a:buChar char="•"/>
            </a:pP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será responsable por toda la gestión laboral incorporada en el servicio, dejando indemne </a:t>
            </a:r>
            <a:r>
              <a:rPr lang="es-ES" sz="1600" b="1" dirty="0">
                <a:solidFill>
                  <a:schemeClr val="bg1"/>
                </a:solidFill>
                <a:latin typeface="Century Gothic" panose="020B0502020202020204" pitchFamily="34" charset="0"/>
              </a:rPr>
              <a:t>a GRUPO AVAL</a:t>
            </a:r>
            <a:r>
              <a:rPr lang="es-ES" sz="1600" dirty="0">
                <a:solidFill>
                  <a:schemeClr val="bg1"/>
                </a:solidFill>
                <a:latin typeface="Century Gothic" panose="020B0502020202020204" pitchFamily="34" charset="0"/>
              </a:rPr>
              <a:t> en caso de cualquier reclamación o costo generado en dicha relación entre el empleado y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En caso de ausencias por incapacidad o vacaciones mayores a 5 días,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suministrará un perfil de reemplazo remoto o presencial, según disponibilidad. Si no se logra asignar el reemplazo,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lo descontará de la factura al cliente.</a:t>
            </a:r>
          </a:p>
        </p:txBody>
      </p:sp>
      <p:pic>
        <p:nvPicPr>
          <p:cNvPr id="3" name="Imagen 2" descr="Texto&#10;&#10;Descripción generada automáticamente">
            <a:extLst>
              <a:ext uri="{FF2B5EF4-FFF2-40B4-BE49-F238E27FC236}">
                <a16:creationId xmlns:a16="http://schemas.microsoft.com/office/drawing/2014/main" id="{62A1B5BA-1626-A4CD-6B42-40FDD3E61C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88209" y="-36539"/>
            <a:ext cx="1993333" cy="540000"/>
          </a:xfrm>
          <a:prstGeom prst="rect">
            <a:avLst/>
          </a:prstGeom>
        </p:spPr>
      </p:pic>
    </p:spTree>
    <p:extLst>
      <p:ext uri="{BB962C8B-B14F-4D97-AF65-F5344CB8AC3E}">
        <p14:creationId xmlns:p14="http://schemas.microsoft.com/office/powerpoint/2010/main" val="1985589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9" name="image5.png" descr="image5.png"/>
          <p:cNvPicPr>
            <a:picLocks noChangeAspect="1"/>
          </p:cNvPicPr>
          <p:nvPr/>
        </p:nvPicPr>
        <p:blipFill>
          <a:blip r:embed="rId3"/>
          <a:stretch>
            <a:fillRect/>
          </a:stretch>
        </p:blipFill>
        <p:spPr>
          <a:xfrm>
            <a:off x="1" y="550696"/>
            <a:ext cx="12203422" cy="75058"/>
          </a:xfrm>
          <a:prstGeom prst="rect">
            <a:avLst/>
          </a:prstGeom>
          <a:ln w="12700">
            <a:miter lim="400000"/>
          </a:ln>
        </p:spPr>
      </p:pic>
      <p:sp>
        <p:nvSpPr>
          <p:cNvPr id="470" name="SOLUCIONES DE TRANSFORMACIÓN DIGITAL"/>
          <p:cNvSpPr txBox="1"/>
          <p:nvPr/>
        </p:nvSpPr>
        <p:spPr>
          <a:xfrm>
            <a:off x="46252" y="175341"/>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3A3838"/>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sp>
        <p:nvSpPr>
          <p:cNvPr id="5" name="CuadroTexto 4">
            <a:extLst>
              <a:ext uri="{FF2B5EF4-FFF2-40B4-BE49-F238E27FC236}">
                <a16:creationId xmlns:a16="http://schemas.microsoft.com/office/drawing/2014/main" id="{D62EF3D7-2D8E-37D8-00C6-A3584E9099B1}"/>
              </a:ext>
            </a:extLst>
          </p:cNvPr>
          <p:cNvSpPr txBox="1"/>
          <p:nvPr/>
        </p:nvSpPr>
        <p:spPr>
          <a:xfrm>
            <a:off x="841231" y="3760207"/>
            <a:ext cx="9618709" cy="23374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52425" indent="-352425" algn="just">
              <a:lnSpc>
                <a:spcPct val="115000"/>
              </a:lnSpc>
              <a:buFont typeface="Symbol" panose="05050102010706020507" pitchFamily="18" charset="2"/>
              <a:buChar char=""/>
            </a:pPr>
            <a:r>
              <a:rPr lang="es-ES" sz="1600" dirty="0">
                <a:latin typeface="Montserrat"/>
                <a:ea typeface="MS Mincho"/>
                <a:cs typeface="Arial"/>
              </a:rPr>
              <a:t>Los presente valores estan dados antes de Impuestos (No incluye IVA) los cuales serán calculados al momento de la facturación.</a:t>
            </a:r>
            <a:endParaRPr lang="es-CO" sz="1600" dirty="0">
              <a:latin typeface="Montserrat"/>
              <a:ea typeface="MS Mincho"/>
              <a:cs typeface="Arial"/>
            </a:endParaRPr>
          </a:p>
          <a:p>
            <a:pPr marL="352425" indent="-352425" algn="just">
              <a:lnSpc>
                <a:spcPct val="115000"/>
              </a:lnSpc>
              <a:buFont typeface="Symbol" panose="05050102010706020507" pitchFamily="18" charset="2"/>
              <a:buChar char=""/>
            </a:pPr>
            <a:r>
              <a:rPr lang="es-ES" sz="1600" dirty="0">
                <a:latin typeface="Montserrat"/>
                <a:ea typeface="MS Mincho"/>
                <a:cs typeface="Arial"/>
              </a:rPr>
              <a:t>La factura será pagadera en los siguientes 30 días de haberse radicado.</a:t>
            </a:r>
            <a:endParaRPr lang="es-CO" sz="1600" dirty="0">
              <a:latin typeface="Montserrat"/>
              <a:ea typeface="MS Mincho"/>
              <a:cs typeface="Arial"/>
            </a:endParaRPr>
          </a:p>
          <a:p>
            <a:pPr marL="352425" indent="-352425" algn="just">
              <a:lnSpc>
                <a:spcPct val="115000"/>
              </a:lnSpc>
              <a:buFont typeface="Symbol" panose="05050102010706020507" pitchFamily="18" charset="2"/>
              <a:buChar char=""/>
            </a:pPr>
            <a:r>
              <a:rPr lang="es-ES" sz="1600" dirty="0">
                <a:latin typeface="Montserrat"/>
                <a:ea typeface="MS Mincho"/>
                <a:cs typeface="Arial"/>
              </a:rPr>
              <a:t>Los precios están expresados en pesos colombianos.</a:t>
            </a:r>
          </a:p>
          <a:p>
            <a:pPr marL="352425" indent="-352425" algn="just">
              <a:lnSpc>
                <a:spcPct val="114999"/>
              </a:lnSpc>
              <a:buFont typeface="Symbol" panose="05050102010706020507" pitchFamily="18" charset="2"/>
              <a:buChar char=""/>
            </a:pPr>
            <a:r>
              <a:rPr lang="es-ES" sz="1600" dirty="0">
                <a:latin typeface="Montserrat"/>
                <a:ea typeface="MS Mincho"/>
                <a:cs typeface="Arial"/>
              </a:rPr>
              <a:t>Tarifas 2026.</a:t>
            </a:r>
          </a:p>
          <a:p>
            <a:pPr marL="352425" indent="-352425" algn="just">
              <a:lnSpc>
                <a:spcPct val="115000"/>
              </a:lnSpc>
              <a:buFont typeface="Symbol" panose="05050102010706020507" pitchFamily="18" charset="2"/>
              <a:buChar char=""/>
            </a:pPr>
            <a:r>
              <a:rPr lang="es-ES" sz="1600" dirty="0">
                <a:latin typeface="Montserrat"/>
                <a:ea typeface="MS Mincho"/>
                <a:cs typeface="Arial"/>
              </a:rPr>
              <a:t>Se aplicará incremento de IPC al servicio a partir de la primera factura entregada del año 2027</a:t>
            </a:r>
          </a:p>
          <a:p>
            <a:pPr marL="352425" indent="-352425" algn="just">
              <a:lnSpc>
                <a:spcPct val="115000"/>
              </a:lnSpc>
              <a:buFont typeface="Symbol" panose="05050102010706020507" pitchFamily="18" charset="2"/>
              <a:buChar char=""/>
            </a:pPr>
            <a:r>
              <a:rPr lang="es-ES" sz="1600" dirty="0">
                <a:latin typeface="Montserrat"/>
                <a:ea typeface="MS Mincho"/>
                <a:cs typeface="Arial"/>
              </a:rPr>
              <a:t>Duración del contrato a 3 años.</a:t>
            </a:r>
          </a:p>
        </p:txBody>
      </p:sp>
      <p:sp>
        <p:nvSpPr>
          <p:cNvPr id="34" name="TEXO EN MAYUSCULA">
            <a:extLst>
              <a:ext uri="{FF2B5EF4-FFF2-40B4-BE49-F238E27FC236}">
                <a16:creationId xmlns:a16="http://schemas.microsoft.com/office/drawing/2014/main" id="{0DB5AE14-574C-9EE3-F612-21DB347C8ACC}"/>
              </a:ext>
            </a:extLst>
          </p:cNvPr>
          <p:cNvSpPr txBox="1"/>
          <p:nvPr/>
        </p:nvSpPr>
        <p:spPr>
          <a:xfrm>
            <a:off x="616527" y="752677"/>
            <a:ext cx="6471403"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525252"/>
                </a:solidFill>
                <a:latin typeface="+mj-lt"/>
                <a:ea typeface="+mj-ea"/>
                <a:cs typeface="+mj-cs"/>
                <a:sym typeface="Helvetica"/>
              </a:defRPr>
            </a:lvl1pPr>
          </a:lstStyle>
          <a:p>
            <a:r>
              <a:rPr lang="es-ES" sz="3289"/>
              <a:t>Propuesta Económica</a:t>
            </a:r>
          </a:p>
        </p:txBody>
      </p:sp>
      <p:pic>
        <p:nvPicPr>
          <p:cNvPr id="11" name="Imagen 10" descr="Forma&#10;&#10;Descripción generada automáticamente">
            <a:extLst>
              <a:ext uri="{FF2B5EF4-FFF2-40B4-BE49-F238E27FC236}">
                <a16:creationId xmlns:a16="http://schemas.microsoft.com/office/drawing/2014/main" id="{3CB058A2-8D12-B652-EA4D-CE236CF1D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1258" y="6760660"/>
            <a:ext cx="1810238" cy="124771"/>
          </a:xfrm>
          <a:prstGeom prst="rect">
            <a:avLst/>
          </a:prstGeom>
        </p:spPr>
      </p:pic>
      <p:pic>
        <p:nvPicPr>
          <p:cNvPr id="12" name="Imagen 11">
            <a:extLst>
              <a:ext uri="{FF2B5EF4-FFF2-40B4-BE49-F238E27FC236}">
                <a16:creationId xmlns:a16="http://schemas.microsoft.com/office/drawing/2014/main" id="{4BEF4C76-BC49-036C-6660-384D2BA9E50D}"/>
              </a:ext>
            </a:extLst>
          </p:cNvPr>
          <p:cNvPicPr>
            <a:picLocks noChangeAspect="1"/>
          </p:cNvPicPr>
          <p:nvPr/>
        </p:nvPicPr>
        <p:blipFill>
          <a:blip r:embed="rId5"/>
          <a:stretch>
            <a:fillRect/>
          </a:stretch>
        </p:blipFill>
        <p:spPr>
          <a:xfrm>
            <a:off x="10121776" y="6253746"/>
            <a:ext cx="2135674" cy="540000"/>
          </a:xfrm>
          <a:prstGeom prst="rect">
            <a:avLst/>
          </a:prstGeom>
        </p:spPr>
      </p:pic>
      <p:graphicFrame>
        <p:nvGraphicFramePr>
          <p:cNvPr id="2" name="Tabla 1">
            <a:extLst>
              <a:ext uri="{FF2B5EF4-FFF2-40B4-BE49-F238E27FC236}">
                <a16:creationId xmlns:a16="http://schemas.microsoft.com/office/drawing/2014/main" id="{EAE83608-0CFB-EC94-3F45-647449B97AF1}"/>
              </a:ext>
            </a:extLst>
          </p:cNvPr>
          <p:cNvGraphicFramePr>
            <a:graphicFrameLocks noGrp="1"/>
          </p:cNvGraphicFramePr>
          <p:nvPr>
            <p:extLst>
              <p:ext uri="{D42A27DB-BD31-4B8C-83A1-F6EECF244321}">
                <p14:modId xmlns:p14="http://schemas.microsoft.com/office/powerpoint/2010/main" val="57206794"/>
              </p:ext>
            </p:extLst>
          </p:nvPr>
        </p:nvGraphicFramePr>
        <p:xfrm>
          <a:off x="292101" y="1803370"/>
          <a:ext cx="11137901" cy="1828800"/>
        </p:xfrm>
        <a:graphic>
          <a:graphicData uri="http://schemas.openxmlformats.org/drawingml/2006/table">
            <a:tbl>
              <a:tblPr firstRow="1" bandRow="1">
                <a:tableStyleId>{5C22544A-7EE6-4342-B048-85BDC9FD1C3A}</a:tableStyleId>
              </a:tblPr>
              <a:tblGrid>
                <a:gridCol w="2697466">
                  <a:extLst>
                    <a:ext uri="{9D8B030D-6E8A-4147-A177-3AD203B41FA5}">
                      <a16:colId xmlns:a16="http://schemas.microsoft.com/office/drawing/2014/main" val="1128388333"/>
                    </a:ext>
                  </a:extLst>
                </a:gridCol>
                <a:gridCol w="1569723">
                  <a:extLst>
                    <a:ext uri="{9D8B030D-6E8A-4147-A177-3AD203B41FA5}">
                      <a16:colId xmlns:a16="http://schemas.microsoft.com/office/drawing/2014/main" val="94633549"/>
                    </a:ext>
                  </a:extLst>
                </a:gridCol>
                <a:gridCol w="1301761">
                  <a:extLst>
                    <a:ext uri="{9D8B030D-6E8A-4147-A177-3AD203B41FA5}">
                      <a16:colId xmlns:a16="http://schemas.microsoft.com/office/drawing/2014/main" val="1433053763"/>
                    </a:ext>
                  </a:extLst>
                </a:gridCol>
                <a:gridCol w="1856317">
                  <a:extLst>
                    <a:ext uri="{9D8B030D-6E8A-4147-A177-3AD203B41FA5}">
                      <a16:colId xmlns:a16="http://schemas.microsoft.com/office/drawing/2014/main" val="2178044973"/>
                    </a:ext>
                  </a:extLst>
                </a:gridCol>
                <a:gridCol w="1856317">
                  <a:extLst>
                    <a:ext uri="{9D8B030D-6E8A-4147-A177-3AD203B41FA5}">
                      <a16:colId xmlns:a16="http://schemas.microsoft.com/office/drawing/2014/main" val="3609923047"/>
                    </a:ext>
                  </a:extLst>
                </a:gridCol>
                <a:gridCol w="1856317">
                  <a:extLst>
                    <a:ext uri="{9D8B030D-6E8A-4147-A177-3AD203B41FA5}">
                      <a16:colId xmlns:a16="http://schemas.microsoft.com/office/drawing/2014/main" val="3176555228"/>
                    </a:ext>
                  </a:extLst>
                </a:gridCol>
              </a:tblGrid>
              <a:tr h="370840">
                <a:tc>
                  <a:txBody>
                    <a:bodyPr/>
                    <a:lstStyle/>
                    <a:p>
                      <a:pPr algn="ctr"/>
                      <a:r>
                        <a:rPr lang="es-MX" dirty="0"/>
                        <a:t>Perfil</a:t>
                      </a:r>
                      <a:endParaRPr lang="es-CO" dirty="0"/>
                    </a:p>
                  </a:txBody>
                  <a:tcPr anchor="ctr">
                    <a:solidFill>
                      <a:srgbClr val="C00000"/>
                    </a:solidFill>
                  </a:tcPr>
                </a:tc>
                <a:tc>
                  <a:txBody>
                    <a:bodyPr/>
                    <a:lstStyle/>
                    <a:p>
                      <a:pPr algn="ctr"/>
                      <a:r>
                        <a:rPr lang="es-MX" dirty="0"/>
                        <a:t>Cantidad Perfiles</a:t>
                      </a:r>
                      <a:endParaRPr lang="es-CO" dirty="0"/>
                    </a:p>
                  </a:txBody>
                  <a:tcPr anchor="ctr">
                    <a:solidFill>
                      <a:srgbClr val="C00000"/>
                    </a:solidFill>
                  </a:tcPr>
                </a:tc>
                <a:tc>
                  <a:txBody>
                    <a:bodyPr/>
                    <a:lstStyle/>
                    <a:p>
                      <a:pPr algn="ctr"/>
                      <a:r>
                        <a:rPr lang="es-MX" dirty="0"/>
                        <a:t>Duración Contrato</a:t>
                      </a:r>
                      <a:endParaRPr lang="es-CO" dirty="0"/>
                    </a:p>
                  </a:txBody>
                  <a:tcPr anchor="ctr">
                    <a:solidFill>
                      <a:srgbClr val="C00000"/>
                    </a:solidFill>
                  </a:tcPr>
                </a:tc>
                <a:tc>
                  <a:txBody>
                    <a:bodyPr/>
                    <a:lstStyle/>
                    <a:p>
                      <a:pPr algn="ctr"/>
                      <a:r>
                        <a:rPr lang="es-MX" dirty="0"/>
                        <a:t>Valor Unitario Perfil COP</a:t>
                      </a:r>
                      <a:endParaRPr lang="es-CO" dirty="0"/>
                    </a:p>
                  </a:txBody>
                  <a:tcPr anchor="ctr">
                    <a:solidFill>
                      <a:srgbClr val="C00000"/>
                    </a:solidFill>
                  </a:tcPr>
                </a:tc>
                <a:tc>
                  <a:txBody>
                    <a:bodyPr/>
                    <a:lstStyle/>
                    <a:p>
                      <a:pPr algn="ctr"/>
                      <a:r>
                        <a:rPr lang="es-MX" dirty="0"/>
                        <a:t>Valor Total Mensual COP</a:t>
                      </a:r>
                      <a:endParaRPr lang="es-CO" dirty="0"/>
                    </a:p>
                  </a:txBody>
                  <a:tcPr anchor="ctr">
                    <a:solidFill>
                      <a:srgbClr val="C00000"/>
                    </a:solidFill>
                  </a:tcPr>
                </a:tc>
                <a:tc>
                  <a:txBody>
                    <a:bodyPr/>
                    <a:lstStyle/>
                    <a:p>
                      <a:pPr algn="ctr"/>
                      <a:r>
                        <a:rPr lang="es-MX" dirty="0"/>
                        <a:t>Valor  </a:t>
                      </a:r>
                      <a:r>
                        <a:rPr lang="es-MX"/>
                        <a:t>Total 36 </a:t>
                      </a:r>
                      <a:r>
                        <a:rPr lang="es-MX" dirty="0"/>
                        <a:t>meses COP</a:t>
                      </a:r>
                      <a:endParaRPr lang="es-CO" dirty="0"/>
                    </a:p>
                  </a:txBody>
                  <a:tcPr anchor="ctr">
                    <a:solidFill>
                      <a:srgbClr val="C00000"/>
                    </a:solidFill>
                  </a:tcPr>
                </a:tc>
                <a:extLst>
                  <a:ext uri="{0D108BD9-81ED-4DB2-BD59-A6C34878D82A}">
                    <a16:rowId xmlns:a16="http://schemas.microsoft.com/office/drawing/2014/main" val="4051595044"/>
                  </a:ext>
                </a:extLst>
              </a:tr>
              <a:tr h="370840">
                <a:tc>
                  <a:txBody>
                    <a:bodyPr/>
                    <a:lstStyle/>
                    <a:p>
                      <a:r>
                        <a:rPr lang="es-MX" b="1" dirty="0"/>
                        <a:t>Servicio de Personal especializado: </a:t>
                      </a:r>
                      <a:r>
                        <a:rPr lang="es-MX" b="0" dirty="0"/>
                        <a:t>Líder de Mesa de Ayuda Conectividad Estándar</a:t>
                      </a:r>
                      <a:endParaRPr lang="es-CO" b="0" dirty="0"/>
                    </a:p>
                  </a:txBody>
                  <a:tcPr/>
                </a:tc>
                <a:tc>
                  <a:txBody>
                    <a:bodyPr/>
                    <a:lstStyle/>
                    <a:p>
                      <a:pPr algn="ctr"/>
                      <a:r>
                        <a:rPr lang="es-MX" b="1" dirty="0"/>
                        <a:t>2</a:t>
                      </a:r>
                      <a:endParaRPr lang="es-CO" b="1" dirty="0"/>
                    </a:p>
                  </a:txBody>
                  <a:tcPr anchor="ctr"/>
                </a:tc>
                <a:tc>
                  <a:txBody>
                    <a:bodyPr/>
                    <a:lstStyle/>
                    <a:p>
                      <a:pPr algn="ctr"/>
                      <a:r>
                        <a:rPr lang="es-MX" dirty="0"/>
                        <a:t>36 meses</a:t>
                      </a:r>
                      <a:endParaRPr lang="es-CO" dirty="0"/>
                    </a:p>
                  </a:txBody>
                  <a:tcPr anchor="ctr"/>
                </a:tc>
                <a:tc>
                  <a:txBody>
                    <a:bodyPr/>
                    <a:lstStyle/>
                    <a:p>
                      <a:pPr algn="ctr"/>
                      <a:r>
                        <a:rPr lang="es-CO" b="1" dirty="0"/>
                        <a:t> $ 12.277.244</a:t>
                      </a:r>
                    </a:p>
                  </a:txBody>
                  <a:tcPr anchor="ctr"/>
                </a:tc>
                <a:tc>
                  <a:txBody>
                    <a:bodyPr/>
                    <a:lstStyle/>
                    <a:p>
                      <a:pPr algn="ctr"/>
                      <a:r>
                        <a:rPr lang="es-CO" b="1" dirty="0"/>
                        <a:t> $ 24.554.488 </a:t>
                      </a:r>
                    </a:p>
                  </a:txBody>
                  <a:tcPr anchor="ctr"/>
                </a:tc>
                <a:tc>
                  <a:txBody>
                    <a:bodyPr/>
                    <a:lstStyle/>
                    <a:p>
                      <a:pPr algn="ctr"/>
                      <a:r>
                        <a:rPr lang="es-CO" b="1" dirty="0"/>
                        <a:t> $ 883.961.555</a:t>
                      </a:r>
                    </a:p>
                  </a:txBody>
                  <a:tcPr anchor="ctr"/>
                </a:tc>
                <a:extLst>
                  <a:ext uri="{0D108BD9-81ED-4DB2-BD59-A6C34878D82A}">
                    <a16:rowId xmlns:a16="http://schemas.microsoft.com/office/drawing/2014/main" val="3728841416"/>
                  </a:ext>
                </a:extLst>
              </a:tr>
            </a:tbl>
          </a:graphicData>
        </a:graphic>
      </p:graphicFrame>
    </p:spTree>
    <p:extLst>
      <p:ext uri="{BB962C8B-B14F-4D97-AF65-F5344CB8AC3E}">
        <p14:creationId xmlns:p14="http://schemas.microsoft.com/office/powerpoint/2010/main" val="1300835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9" name="image5.png" descr="image5.png"/>
          <p:cNvPicPr>
            <a:picLocks noChangeAspect="1"/>
          </p:cNvPicPr>
          <p:nvPr/>
        </p:nvPicPr>
        <p:blipFill>
          <a:blip r:embed="rId2"/>
          <a:stretch>
            <a:fillRect/>
          </a:stretch>
        </p:blipFill>
        <p:spPr>
          <a:xfrm>
            <a:off x="1" y="550696"/>
            <a:ext cx="12203422" cy="75058"/>
          </a:xfrm>
          <a:prstGeom prst="rect">
            <a:avLst/>
          </a:prstGeom>
          <a:ln w="12700">
            <a:miter lim="400000"/>
          </a:ln>
        </p:spPr>
      </p:pic>
      <p:sp>
        <p:nvSpPr>
          <p:cNvPr id="470" name="SOLUCIONES DE TRANSFORMACIÓN DIGITAL"/>
          <p:cNvSpPr txBox="1"/>
          <p:nvPr/>
        </p:nvSpPr>
        <p:spPr>
          <a:xfrm>
            <a:off x="46252" y="175341"/>
            <a:ext cx="5261076" cy="3352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3A3838"/>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1" name="image17.png" descr="image17.png"/>
          <p:cNvPicPr>
            <a:picLocks noChangeAspect="1"/>
          </p:cNvPicPr>
          <p:nvPr/>
        </p:nvPicPr>
        <p:blipFill>
          <a:blip r:embed="rId3"/>
          <a:stretch>
            <a:fillRect/>
          </a:stretch>
        </p:blipFill>
        <p:spPr>
          <a:xfrm>
            <a:off x="5928187" y="1063465"/>
            <a:ext cx="1241718" cy="151748"/>
          </a:xfrm>
          <a:prstGeom prst="rect">
            <a:avLst/>
          </a:prstGeom>
          <a:ln w="12700">
            <a:miter lim="400000"/>
          </a:ln>
        </p:spPr>
      </p:pic>
      <p:sp>
        <p:nvSpPr>
          <p:cNvPr id="474"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302042" y="1562800"/>
            <a:ext cx="11502255" cy="47408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Lst>
              <a:defRPr>
                <a:solidFill>
                  <a:srgbClr val="525252"/>
                </a:solidFill>
                <a:latin typeface="Arial"/>
                <a:ea typeface="Arial"/>
                <a:cs typeface="Arial"/>
                <a:sym typeface="Arial"/>
              </a:defRPr>
            </a:lvl1pPr>
          </a:lstStyle>
          <a:p>
            <a:pPr marL="293694" indent="-293694" algn="just">
              <a:lnSpc>
                <a:spcPct val="100000"/>
              </a:lnSpc>
              <a:spcBef>
                <a:spcPts val="1233"/>
              </a:spcBef>
              <a:buFont typeface="Arial" panose="020B0604020202020204" pitchFamily="34" charset="0"/>
              <a:buChar char="•"/>
            </a:pPr>
            <a:r>
              <a:rPr lang="es-ES" b="1" dirty="0">
                <a:solidFill>
                  <a:srgbClr val="000000"/>
                </a:solidFill>
                <a:latin typeface="Century Gothic" panose="020B0502020202020204" pitchFamily="34" charset="0"/>
              </a:rPr>
              <a:t>Inicio del servicio </a:t>
            </a:r>
            <a:r>
              <a:rPr lang="es-ES" dirty="0">
                <a:solidFill>
                  <a:srgbClr val="000000"/>
                </a:solidFill>
                <a:latin typeface="Century Gothic" panose="020B0502020202020204" pitchFamily="34" charset="0"/>
              </a:rPr>
              <a:t>- Por política Corporativa, no se comenzará con las tareas del servicio hasta tener por escrito la aprobación de la oferta técnica, firma del contrato y legalización correspondiente. </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Pasados 5 días de la aprobación de la oferta Hitss presentara a </a:t>
            </a:r>
            <a:r>
              <a:rPr lang="es-ES" dirty="0">
                <a:solidFill>
                  <a:schemeClr val="tx2"/>
                </a:solidFill>
                <a:latin typeface="Century Gothic" panose="020B0502020202020204" pitchFamily="34" charset="0"/>
              </a:rPr>
              <a:t>GRUPO AVAL</a:t>
            </a:r>
            <a:r>
              <a:rPr lang="es-ES" i="1" dirty="0">
                <a:solidFill>
                  <a:srgbClr val="FF0000"/>
                </a:solidFill>
                <a:latin typeface="Century Gothic" panose="020B0502020202020204" pitchFamily="34" charset="0"/>
              </a:rPr>
              <a:t> </a:t>
            </a:r>
            <a:r>
              <a:rPr lang="es-ES" dirty="0">
                <a:solidFill>
                  <a:srgbClr val="000000"/>
                </a:solidFill>
                <a:latin typeface="Century Gothic" panose="020B0502020202020204" pitchFamily="34" charset="0"/>
              </a:rPr>
              <a:t>el </a:t>
            </a:r>
            <a:r>
              <a:rPr lang="es-ES" dirty="0" err="1">
                <a:solidFill>
                  <a:srgbClr val="000000"/>
                </a:solidFill>
                <a:latin typeface="Century Gothic" panose="020B0502020202020204" pitchFamily="34" charset="0"/>
              </a:rPr>
              <a:t>curriculum</a:t>
            </a:r>
            <a:r>
              <a:rPr lang="es-ES" dirty="0">
                <a:solidFill>
                  <a:srgbClr val="000000"/>
                </a:solidFill>
                <a:latin typeface="Century Gothic" panose="020B0502020202020204" pitchFamily="34" charset="0"/>
              </a:rPr>
              <a:t> del perfil descrito en la presente, con su aprobación serán contratados, superado nuestro proceso de validación y seguridad, podrán iniciar el servicio.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Ante la eventualidad de una suspensión total de este servicio, </a:t>
            </a:r>
            <a:r>
              <a:rPr lang="es-ES" dirty="0">
                <a:solidFill>
                  <a:schemeClr val="tx2"/>
                </a:solidFill>
                <a:latin typeface="Century Gothic" panose="020B0502020202020204" pitchFamily="34" charset="0"/>
              </a:rPr>
              <a:t>GRUPO AVAL</a:t>
            </a:r>
            <a:r>
              <a:rPr lang="es-ES" dirty="0">
                <a:solidFill>
                  <a:srgbClr val="FF0000"/>
                </a:solidFill>
                <a:latin typeface="Century Gothic" panose="020B0502020202020204" pitchFamily="34" charset="0"/>
              </a:rPr>
              <a:t> </a:t>
            </a:r>
            <a:r>
              <a:rPr lang="es-ES" dirty="0">
                <a:solidFill>
                  <a:srgbClr val="000000"/>
                </a:solidFill>
                <a:latin typeface="Century Gothic" panose="020B0502020202020204" pitchFamily="34" charset="0"/>
              </a:rPr>
              <a:t>se compromete a avisar con 15 días de antelación a HITSS Colombia para que este pueda tomar las medidas pertinentes relacionadas con la disposición del personal asignado a la prestación de este servicio.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Cuando por causas no imputables a HITSS Colombia se cancele o aplace el servicio, se cancelará el valor equivalente a la labor ejecutada con corte a la fecha de cancelación o aplazamiento.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Confidencialidad - Ambas partes se comprometen a guardar un acuerdo mutuo de confidencialidad de la información recibida u obtenida. </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No se incluye en la presente cotización los gastos de traslados, alimentación, alojamiento, y viáticos para las tareas que pudieran realizarse fuera del lugar de trabajo descrito. </a:t>
            </a:r>
            <a:endParaRPr lang="es-ES" sz="2000" dirty="0">
              <a:solidFill>
                <a:srgbClr val="000000"/>
              </a:solidFill>
              <a:latin typeface="Century Gothic" panose="020B0502020202020204" pitchFamily="34" charset="0"/>
            </a:endParaRPr>
          </a:p>
        </p:txBody>
      </p:sp>
      <p:sp>
        <p:nvSpPr>
          <p:cNvPr id="2" name="TEXO EN MAYUSCULA">
            <a:extLst>
              <a:ext uri="{FF2B5EF4-FFF2-40B4-BE49-F238E27FC236}">
                <a16:creationId xmlns:a16="http://schemas.microsoft.com/office/drawing/2014/main" id="{72F8D0CD-7BE8-A8FA-F07D-DF9161D63B78}"/>
              </a:ext>
            </a:extLst>
          </p:cNvPr>
          <p:cNvSpPr txBox="1"/>
          <p:nvPr/>
        </p:nvSpPr>
        <p:spPr>
          <a:xfrm>
            <a:off x="403377" y="691749"/>
            <a:ext cx="5524810" cy="57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525252"/>
                </a:solidFill>
                <a:latin typeface="+mj-lt"/>
                <a:ea typeface="+mj-ea"/>
                <a:cs typeface="+mj-cs"/>
                <a:sym typeface="Helvetica"/>
              </a:defRPr>
            </a:lvl1pPr>
          </a:lstStyle>
          <a:p>
            <a:r>
              <a:rPr lang="es-ES" sz="3289"/>
              <a:t>Condiciones Comerciales</a:t>
            </a:r>
            <a:endParaRPr sz="3289"/>
          </a:p>
        </p:txBody>
      </p:sp>
      <p:pic>
        <p:nvPicPr>
          <p:cNvPr id="3" name="Imagen 2" descr="Forma&#10;&#10;Descripción generada automáticamente">
            <a:extLst>
              <a:ext uri="{FF2B5EF4-FFF2-40B4-BE49-F238E27FC236}">
                <a16:creationId xmlns:a16="http://schemas.microsoft.com/office/drawing/2014/main" id="{9E93DE92-90BC-BA5A-0607-C4FF49361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84779" y="6758836"/>
            <a:ext cx="1836717" cy="126596"/>
          </a:xfrm>
          <a:prstGeom prst="rect">
            <a:avLst/>
          </a:prstGeom>
        </p:spPr>
      </p:pic>
      <p:pic>
        <p:nvPicPr>
          <p:cNvPr id="4" name="Imagen 3">
            <a:extLst>
              <a:ext uri="{FF2B5EF4-FFF2-40B4-BE49-F238E27FC236}">
                <a16:creationId xmlns:a16="http://schemas.microsoft.com/office/drawing/2014/main" id="{0AF0A2B1-2F58-FE8D-C69C-C750B5F5BF7A}"/>
              </a:ext>
            </a:extLst>
          </p:cNvPr>
          <p:cNvPicPr>
            <a:picLocks noChangeAspect="1"/>
          </p:cNvPicPr>
          <p:nvPr/>
        </p:nvPicPr>
        <p:blipFill>
          <a:blip r:embed="rId5"/>
          <a:stretch>
            <a:fillRect/>
          </a:stretch>
        </p:blipFill>
        <p:spPr>
          <a:xfrm>
            <a:off x="10094625" y="6292143"/>
            <a:ext cx="2135676" cy="540000"/>
          </a:xfrm>
          <a:prstGeom prst="rect">
            <a:avLst/>
          </a:prstGeom>
        </p:spPr>
      </p:pic>
    </p:spTree>
    <p:extLst>
      <p:ext uri="{BB962C8B-B14F-4D97-AF65-F5344CB8AC3E}">
        <p14:creationId xmlns:p14="http://schemas.microsoft.com/office/powerpoint/2010/main" val="2656663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4" name="Freeform 4" descr="image13.png"/>
          <p:cNvSpPr/>
          <p:nvPr/>
        </p:nvSpPr>
        <p:spPr>
          <a:xfrm>
            <a:off x="11229044" y="6257581"/>
            <a:ext cx="765469" cy="432515"/>
          </a:xfrm>
          <a:custGeom>
            <a:avLst/>
            <a:gdLst/>
            <a:ahLst/>
            <a:cxnLst/>
            <a:rect l="l" t="t" r="r" b="b"/>
            <a:pathLst>
              <a:path w="1148203" h="648772">
                <a:moveTo>
                  <a:pt x="0" y="0"/>
                </a:moveTo>
                <a:lnTo>
                  <a:pt x="1148203" y="0"/>
                </a:lnTo>
                <a:lnTo>
                  <a:pt x="1148203" y="648772"/>
                </a:lnTo>
                <a:lnTo>
                  <a:pt x="0" y="648772"/>
                </a:lnTo>
                <a:lnTo>
                  <a:pt x="0" y="0"/>
                </a:lnTo>
                <a:close/>
              </a:path>
            </a:pathLst>
          </a:custGeom>
          <a:blipFill>
            <a:blip r:embed="rId3"/>
            <a:stretch>
              <a:fillRect l="-555" r="-555"/>
            </a:stretch>
          </a:blipFill>
        </p:spPr>
        <p:txBody>
          <a:bodyPr/>
          <a:lstStyle/>
          <a:p>
            <a:endParaRPr lang="es-CO" sz="1200"/>
          </a:p>
        </p:txBody>
      </p:sp>
      <p:grpSp>
        <p:nvGrpSpPr>
          <p:cNvPr id="5" name="Group 5"/>
          <p:cNvGrpSpPr/>
          <p:nvPr/>
        </p:nvGrpSpPr>
        <p:grpSpPr>
          <a:xfrm>
            <a:off x="-184481" y="1579862"/>
            <a:ext cx="12588070" cy="1099242"/>
            <a:chOff x="0" y="0"/>
            <a:chExt cx="5999897" cy="523936"/>
          </a:xfrm>
        </p:grpSpPr>
        <p:sp>
          <p:nvSpPr>
            <p:cNvPr id="6" name="Freeform 6"/>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7" name="TextBox 7"/>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8" name="Freeform 8" descr="Logotipo  Descripción generada automáticamente"/>
          <p:cNvSpPr/>
          <p:nvPr/>
        </p:nvSpPr>
        <p:spPr>
          <a:xfrm>
            <a:off x="577927" y="1959206"/>
            <a:ext cx="1487804" cy="405872"/>
          </a:xfrm>
          <a:custGeom>
            <a:avLst/>
            <a:gdLst/>
            <a:ahLst/>
            <a:cxnLst/>
            <a:rect l="l" t="t" r="r" b="b"/>
            <a:pathLst>
              <a:path w="2231706" h="608808">
                <a:moveTo>
                  <a:pt x="0" y="0"/>
                </a:moveTo>
                <a:lnTo>
                  <a:pt x="2231706" y="0"/>
                </a:lnTo>
                <a:lnTo>
                  <a:pt x="2231706" y="608808"/>
                </a:lnTo>
                <a:lnTo>
                  <a:pt x="0" y="608808"/>
                </a:lnTo>
                <a:lnTo>
                  <a:pt x="0" y="0"/>
                </a:lnTo>
                <a:close/>
              </a:path>
            </a:pathLst>
          </a:custGeom>
          <a:blipFill>
            <a:blip r:embed="rId4"/>
            <a:stretch>
              <a:fillRect t="-54518" b="-51677"/>
            </a:stretch>
          </a:blipFill>
        </p:spPr>
        <p:txBody>
          <a:bodyPr/>
          <a:lstStyle/>
          <a:p>
            <a:endParaRPr lang="es-CO" sz="1200"/>
          </a:p>
        </p:txBody>
      </p:sp>
      <p:sp>
        <p:nvSpPr>
          <p:cNvPr id="9" name="Freeform 9" descr="Círculo  Descripción generada automáticamente con confianza media"/>
          <p:cNvSpPr/>
          <p:nvPr/>
        </p:nvSpPr>
        <p:spPr>
          <a:xfrm>
            <a:off x="2822564" y="1829492"/>
            <a:ext cx="857594" cy="599981"/>
          </a:xfrm>
          <a:custGeom>
            <a:avLst/>
            <a:gdLst/>
            <a:ahLst/>
            <a:cxnLst/>
            <a:rect l="l" t="t" r="r" b="b"/>
            <a:pathLst>
              <a:path w="1286391" h="899972">
                <a:moveTo>
                  <a:pt x="0" y="0"/>
                </a:moveTo>
                <a:lnTo>
                  <a:pt x="1286391" y="0"/>
                </a:lnTo>
                <a:lnTo>
                  <a:pt x="1286391" y="899972"/>
                </a:lnTo>
                <a:lnTo>
                  <a:pt x="0" y="899972"/>
                </a:lnTo>
                <a:lnTo>
                  <a:pt x="0" y="0"/>
                </a:lnTo>
                <a:close/>
              </a:path>
            </a:pathLst>
          </a:custGeom>
          <a:blipFill>
            <a:blip r:embed="rId5"/>
            <a:stretch>
              <a:fillRect/>
            </a:stretch>
          </a:blipFill>
        </p:spPr>
        <p:txBody>
          <a:bodyPr/>
          <a:lstStyle/>
          <a:p>
            <a:endParaRPr lang="es-CO" sz="1200"/>
          </a:p>
        </p:txBody>
      </p:sp>
      <p:sp>
        <p:nvSpPr>
          <p:cNvPr id="10" name="Freeform 10"/>
          <p:cNvSpPr/>
          <p:nvPr/>
        </p:nvSpPr>
        <p:spPr>
          <a:xfrm>
            <a:off x="6143676" y="2040408"/>
            <a:ext cx="1726919" cy="226677"/>
          </a:xfrm>
          <a:custGeom>
            <a:avLst/>
            <a:gdLst/>
            <a:ahLst/>
            <a:cxnLst/>
            <a:rect l="l" t="t" r="r" b="b"/>
            <a:pathLst>
              <a:path w="2590378" h="340016">
                <a:moveTo>
                  <a:pt x="0" y="0"/>
                </a:moveTo>
                <a:lnTo>
                  <a:pt x="2590378" y="0"/>
                </a:lnTo>
                <a:lnTo>
                  <a:pt x="2590378" y="340016"/>
                </a:lnTo>
                <a:lnTo>
                  <a:pt x="0" y="340016"/>
                </a:lnTo>
                <a:lnTo>
                  <a:pt x="0" y="0"/>
                </a:lnTo>
                <a:close/>
              </a:path>
            </a:pathLst>
          </a:custGeom>
          <a:blipFill>
            <a:blip r:embed="rId6"/>
            <a:stretch>
              <a:fillRect l="-485" r="-485"/>
            </a:stretch>
          </a:blipFill>
        </p:spPr>
        <p:txBody>
          <a:bodyPr/>
          <a:lstStyle/>
          <a:p>
            <a:endParaRPr lang="es-CO" sz="1200"/>
          </a:p>
        </p:txBody>
      </p:sp>
      <p:sp>
        <p:nvSpPr>
          <p:cNvPr id="11" name="Freeform 11" descr="Icono  Descripción generada automáticamente"/>
          <p:cNvSpPr/>
          <p:nvPr/>
        </p:nvSpPr>
        <p:spPr>
          <a:xfrm>
            <a:off x="8291655" y="1816392"/>
            <a:ext cx="674708" cy="674708"/>
          </a:xfrm>
          <a:custGeom>
            <a:avLst/>
            <a:gdLst/>
            <a:ahLst/>
            <a:cxnLst/>
            <a:rect l="l" t="t" r="r" b="b"/>
            <a:pathLst>
              <a:path w="1012062" h="1012062">
                <a:moveTo>
                  <a:pt x="0" y="0"/>
                </a:moveTo>
                <a:lnTo>
                  <a:pt x="1012063" y="0"/>
                </a:lnTo>
                <a:lnTo>
                  <a:pt x="1012063" y="1012062"/>
                </a:lnTo>
                <a:lnTo>
                  <a:pt x="0" y="1012062"/>
                </a:lnTo>
                <a:lnTo>
                  <a:pt x="0" y="0"/>
                </a:lnTo>
                <a:close/>
              </a:path>
            </a:pathLst>
          </a:custGeom>
          <a:blipFill>
            <a:blip r:embed="rId7"/>
            <a:stretch>
              <a:fillRect/>
            </a:stretch>
          </a:blipFill>
        </p:spPr>
        <p:txBody>
          <a:bodyPr/>
          <a:lstStyle/>
          <a:p>
            <a:endParaRPr lang="es-CO" sz="1200"/>
          </a:p>
        </p:txBody>
      </p:sp>
      <p:sp>
        <p:nvSpPr>
          <p:cNvPr id="12" name="Freeform 12" descr="Imagen que contiene Logotipo  Descripción generada automáticamente"/>
          <p:cNvSpPr/>
          <p:nvPr/>
        </p:nvSpPr>
        <p:spPr>
          <a:xfrm>
            <a:off x="4757764" y="1904712"/>
            <a:ext cx="877621" cy="498070"/>
          </a:xfrm>
          <a:custGeom>
            <a:avLst/>
            <a:gdLst/>
            <a:ahLst/>
            <a:cxnLst/>
            <a:rect l="l" t="t" r="r" b="b"/>
            <a:pathLst>
              <a:path w="1316432" h="747105">
                <a:moveTo>
                  <a:pt x="0" y="0"/>
                </a:moveTo>
                <a:lnTo>
                  <a:pt x="1316432" y="0"/>
                </a:lnTo>
                <a:lnTo>
                  <a:pt x="1316432" y="747105"/>
                </a:lnTo>
                <a:lnTo>
                  <a:pt x="0" y="747105"/>
                </a:lnTo>
                <a:lnTo>
                  <a:pt x="0" y="0"/>
                </a:lnTo>
                <a:close/>
              </a:path>
            </a:pathLst>
          </a:custGeom>
          <a:blipFill>
            <a:blip r:embed="rId8"/>
            <a:stretch>
              <a:fillRect t="-903" b="-903"/>
            </a:stretch>
          </a:blipFill>
        </p:spPr>
        <p:txBody>
          <a:bodyPr/>
          <a:lstStyle/>
          <a:p>
            <a:endParaRPr lang="es-CO" sz="1200"/>
          </a:p>
        </p:txBody>
      </p:sp>
      <p:sp>
        <p:nvSpPr>
          <p:cNvPr id="13" name="Freeform 13" descr="Logotipo  Descripción generada automáticamente"/>
          <p:cNvSpPr/>
          <p:nvPr/>
        </p:nvSpPr>
        <p:spPr>
          <a:xfrm>
            <a:off x="9385464" y="1931592"/>
            <a:ext cx="924327" cy="471190"/>
          </a:xfrm>
          <a:custGeom>
            <a:avLst/>
            <a:gdLst/>
            <a:ahLst/>
            <a:cxnLst/>
            <a:rect l="l" t="t" r="r" b="b"/>
            <a:pathLst>
              <a:path w="1386491" h="706785">
                <a:moveTo>
                  <a:pt x="0" y="0"/>
                </a:moveTo>
                <a:lnTo>
                  <a:pt x="1386491" y="0"/>
                </a:lnTo>
                <a:lnTo>
                  <a:pt x="1386491" y="706785"/>
                </a:lnTo>
                <a:lnTo>
                  <a:pt x="0" y="706785"/>
                </a:lnTo>
                <a:lnTo>
                  <a:pt x="0" y="0"/>
                </a:lnTo>
                <a:close/>
              </a:path>
            </a:pathLst>
          </a:custGeom>
          <a:blipFill>
            <a:blip r:embed="rId9"/>
            <a:stretch>
              <a:fillRect/>
            </a:stretch>
          </a:blipFill>
        </p:spPr>
        <p:txBody>
          <a:bodyPr/>
          <a:lstStyle/>
          <a:p>
            <a:endParaRPr lang="es-CO" sz="1200"/>
          </a:p>
        </p:txBody>
      </p:sp>
      <p:grpSp>
        <p:nvGrpSpPr>
          <p:cNvPr id="14" name="Group 14"/>
          <p:cNvGrpSpPr/>
          <p:nvPr/>
        </p:nvGrpSpPr>
        <p:grpSpPr>
          <a:xfrm>
            <a:off x="-196899" y="2833212"/>
            <a:ext cx="12588070" cy="1099242"/>
            <a:chOff x="0" y="0"/>
            <a:chExt cx="5999897" cy="523936"/>
          </a:xfrm>
        </p:grpSpPr>
        <p:sp>
          <p:nvSpPr>
            <p:cNvPr id="15" name="Freeform 15"/>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16" name="TextBox 16"/>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17" name="Freeform 17" descr="Logotipo  Descripción generada automáticamente"/>
          <p:cNvSpPr/>
          <p:nvPr/>
        </p:nvSpPr>
        <p:spPr>
          <a:xfrm>
            <a:off x="497351" y="3061753"/>
            <a:ext cx="1301377" cy="732025"/>
          </a:xfrm>
          <a:custGeom>
            <a:avLst/>
            <a:gdLst/>
            <a:ahLst/>
            <a:cxnLst/>
            <a:rect l="l" t="t" r="r" b="b"/>
            <a:pathLst>
              <a:path w="1952066" h="1098037">
                <a:moveTo>
                  <a:pt x="0" y="0"/>
                </a:moveTo>
                <a:lnTo>
                  <a:pt x="1952066" y="0"/>
                </a:lnTo>
                <a:lnTo>
                  <a:pt x="1952066" y="1098038"/>
                </a:lnTo>
                <a:lnTo>
                  <a:pt x="0" y="1098038"/>
                </a:lnTo>
                <a:lnTo>
                  <a:pt x="0" y="0"/>
                </a:lnTo>
                <a:close/>
              </a:path>
            </a:pathLst>
          </a:custGeom>
          <a:blipFill>
            <a:blip r:embed="rId10"/>
            <a:stretch>
              <a:fillRect/>
            </a:stretch>
          </a:blipFill>
        </p:spPr>
        <p:txBody>
          <a:bodyPr/>
          <a:lstStyle/>
          <a:p>
            <a:endParaRPr lang="es-CO" sz="1200"/>
          </a:p>
        </p:txBody>
      </p:sp>
      <p:sp>
        <p:nvSpPr>
          <p:cNvPr id="18" name="Freeform 18" descr="Icono  Descripción generada automáticamente"/>
          <p:cNvSpPr/>
          <p:nvPr/>
        </p:nvSpPr>
        <p:spPr>
          <a:xfrm>
            <a:off x="10611762" y="1696371"/>
            <a:ext cx="979446" cy="946341"/>
          </a:xfrm>
          <a:custGeom>
            <a:avLst/>
            <a:gdLst/>
            <a:ahLst/>
            <a:cxnLst/>
            <a:rect l="l" t="t" r="r" b="b"/>
            <a:pathLst>
              <a:path w="1469169" h="1419511">
                <a:moveTo>
                  <a:pt x="0" y="0"/>
                </a:moveTo>
                <a:lnTo>
                  <a:pt x="1469168" y="0"/>
                </a:lnTo>
                <a:lnTo>
                  <a:pt x="1469168" y="1419511"/>
                </a:lnTo>
                <a:lnTo>
                  <a:pt x="0" y="1419511"/>
                </a:lnTo>
                <a:lnTo>
                  <a:pt x="0" y="0"/>
                </a:lnTo>
                <a:close/>
              </a:path>
            </a:pathLst>
          </a:custGeom>
          <a:blipFill>
            <a:blip r:embed="rId11"/>
            <a:stretch>
              <a:fillRect t="-3498"/>
            </a:stretch>
          </a:blipFill>
        </p:spPr>
        <p:txBody>
          <a:bodyPr/>
          <a:lstStyle/>
          <a:p>
            <a:endParaRPr lang="es-CO" sz="1200"/>
          </a:p>
        </p:txBody>
      </p:sp>
      <p:sp>
        <p:nvSpPr>
          <p:cNvPr id="19" name="Freeform 19" descr="Logotipo  Descripción generada automáticamente"/>
          <p:cNvSpPr/>
          <p:nvPr/>
        </p:nvSpPr>
        <p:spPr>
          <a:xfrm>
            <a:off x="1965710" y="3139983"/>
            <a:ext cx="1402194" cy="592647"/>
          </a:xfrm>
          <a:custGeom>
            <a:avLst/>
            <a:gdLst/>
            <a:ahLst/>
            <a:cxnLst/>
            <a:rect l="l" t="t" r="r" b="b"/>
            <a:pathLst>
              <a:path w="2103291" h="888971">
                <a:moveTo>
                  <a:pt x="0" y="0"/>
                </a:moveTo>
                <a:lnTo>
                  <a:pt x="2103291" y="0"/>
                </a:lnTo>
                <a:lnTo>
                  <a:pt x="2103291" y="888971"/>
                </a:lnTo>
                <a:lnTo>
                  <a:pt x="0" y="888971"/>
                </a:lnTo>
                <a:lnTo>
                  <a:pt x="0" y="0"/>
                </a:lnTo>
                <a:close/>
              </a:path>
            </a:pathLst>
          </a:custGeom>
          <a:blipFill>
            <a:blip r:embed="rId12"/>
            <a:stretch>
              <a:fillRect/>
            </a:stretch>
          </a:blipFill>
        </p:spPr>
        <p:txBody>
          <a:bodyPr/>
          <a:lstStyle/>
          <a:p>
            <a:endParaRPr lang="es-CO" sz="1200"/>
          </a:p>
        </p:txBody>
      </p:sp>
      <p:sp>
        <p:nvSpPr>
          <p:cNvPr id="20" name="Freeform 20" descr="Logotipo  Descripción generada automáticamente"/>
          <p:cNvSpPr/>
          <p:nvPr/>
        </p:nvSpPr>
        <p:spPr>
          <a:xfrm>
            <a:off x="6144714" y="3095731"/>
            <a:ext cx="1966320" cy="761191"/>
          </a:xfrm>
          <a:custGeom>
            <a:avLst/>
            <a:gdLst/>
            <a:ahLst/>
            <a:cxnLst/>
            <a:rect l="l" t="t" r="r" b="b"/>
            <a:pathLst>
              <a:path w="2949480" h="1141786">
                <a:moveTo>
                  <a:pt x="0" y="0"/>
                </a:moveTo>
                <a:lnTo>
                  <a:pt x="2949480" y="0"/>
                </a:lnTo>
                <a:lnTo>
                  <a:pt x="2949480" y="1141785"/>
                </a:lnTo>
                <a:lnTo>
                  <a:pt x="0" y="1141785"/>
                </a:lnTo>
                <a:lnTo>
                  <a:pt x="0" y="0"/>
                </a:lnTo>
                <a:close/>
              </a:path>
            </a:pathLst>
          </a:custGeom>
          <a:blipFill>
            <a:blip r:embed="rId13"/>
            <a:stretch>
              <a:fillRect t="-15436" b="-13724"/>
            </a:stretch>
          </a:blipFill>
        </p:spPr>
        <p:txBody>
          <a:bodyPr/>
          <a:lstStyle/>
          <a:p>
            <a:endParaRPr lang="es-CO" sz="1200"/>
          </a:p>
        </p:txBody>
      </p:sp>
      <p:grpSp>
        <p:nvGrpSpPr>
          <p:cNvPr id="21" name="Group 21"/>
          <p:cNvGrpSpPr/>
          <p:nvPr/>
        </p:nvGrpSpPr>
        <p:grpSpPr>
          <a:xfrm>
            <a:off x="-196899" y="4122954"/>
            <a:ext cx="12588070" cy="1099242"/>
            <a:chOff x="0" y="0"/>
            <a:chExt cx="5999897" cy="523936"/>
          </a:xfrm>
        </p:grpSpPr>
        <p:sp>
          <p:nvSpPr>
            <p:cNvPr id="22" name="Freeform 22"/>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23" name="TextBox 23"/>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24" name="Freeform 24" descr="Logotipo  Descripción generada automáticamente"/>
          <p:cNvSpPr/>
          <p:nvPr/>
        </p:nvSpPr>
        <p:spPr>
          <a:xfrm>
            <a:off x="6202946" y="5768297"/>
            <a:ext cx="2019824" cy="453651"/>
          </a:xfrm>
          <a:custGeom>
            <a:avLst/>
            <a:gdLst/>
            <a:ahLst/>
            <a:cxnLst/>
            <a:rect l="l" t="t" r="r" b="b"/>
            <a:pathLst>
              <a:path w="3029736" h="680477">
                <a:moveTo>
                  <a:pt x="0" y="0"/>
                </a:moveTo>
                <a:lnTo>
                  <a:pt x="3029736" y="0"/>
                </a:lnTo>
                <a:lnTo>
                  <a:pt x="3029736" y="680477"/>
                </a:lnTo>
                <a:lnTo>
                  <a:pt x="0" y="680477"/>
                </a:lnTo>
                <a:lnTo>
                  <a:pt x="0" y="0"/>
                </a:lnTo>
                <a:close/>
              </a:path>
            </a:pathLst>
          </a:custGeom>
          <a:blipFill>
            <a:blip r:embed="rId14"/>
            <a:stretch>
              <a:fillRect t="-61726" b="-61025"/>
            </a:stretch>
          </a:blipFill>
        </p:spPr>
        <p:txBody>
          <a:bodyPr/>
          <a:lstStyle/>
          <a:p>
            <a:endParaRPr lang="es-CO" sz="1200"/>
          </a:p>
        </p:txBody>
      </p:sp>
      <p:sp>
        <p:nvSpPr>
          <p:cNvPr id="25" name="Freeform 25" descr="Logotipo  Descripción generada automáticamente"/>
          <p:cNvSpPr/>
          <p:nvPr/>
        </p:nvSpPr>
        <p:spPr>
          <a:xfrm>
            <a:off x="8295933" y="3133434"/>
            <a:ext cx="1621400" cy="578840"/>
          </a:xfrm>
          <a:custGeom>
            <a:avLst/>
            <a:gdLst/>
            <a:ahLst/>
            <a:cxnLst/>
            <a:rect l="l" t="t" r="r" b="b"/>
            <a:pathLst>
              <a:path w="2432100" h="868260">
                <a:moveTo>
                  <a:pt x="0" y="0"/>
                </a:moveTo>
                <a:lnTo>
                  <a:pt x="2432100" y="0"/>
                </a:lnTo>
                <a:lnTo>
                  <a:pt x="2432100" y="868260"/>
                </a:lnTo>
                <a:lnTo>
                  <a:pt x="0" y="868260"/>
                </a:lnTo>
                <a:lnTo>
                  <a:pt x="0" y="0"/>
                </a:lnTo>
                <a:close/>
              </a:path>
            </a:pathLst>
          </a:custGeom>
          <a:blipFill>
            <a:blip r:embed="rId15"/>
            <a:stretch>
              <a:fillRect/>
            </a:stretch>
          </a:blipFill>
        </p:spPr>
        <p:txBody>
          <a:bodyPr/>
          <a:lstStyle/>
          <a:p>
            <a:endParaRPr lang="es-CO" sz="1200"/>
          </a:p>
        </p:txBody>
      </p:sp>
      <p:sp>
        <p:nvSpPr>
          <p:cNvPr id="26" name="Freeform 26" descr="Logotipo  Descripción generada automáticamente"/>
          <p:cNvSpPr/>
          <p:nvPr/>
        </p:nvSpPr>
        <p:spPr>
          <a:xfrm>
            <a:off x="1202541" y="4373276"/>
            <a:ext cx="1827979" cy="459137"/>
          </a:xfrm>
          <a:custGeom>
            <a:avLst/>
            <a:gdLst/>
            <a:ahLst/>
            <a:cxnLst/>
            <a:rect l="l" t="t" r="r" b="b"/>
            <a:pathLst>
              <a:path w="2741968" h="688705">
                <a:moveTo>
                  <a:pt x="0" y="0"/>
                </a:moveTo>
                <a:lnTo>
                  <a:pt x="2741968" y="0"/>
                </a:lnTo>
                <a:lnTo>
                  <a:pt x="2741968" y="688705"/>
                </a:lnTo>
                <a:lnTo>
                  <a:pt x="0" y="688705"/>
                </a:lnTo>
                <a:lnTo>
                  <a:pt x="0" y="0"/>
                </a:lnTo>
                <a:close/>
              </a:path>
            </a:pathLst>
          </a:custGeom>
          <a:blipFill>
            <a:blip r:embed="rId16"/>
            <a:stretch>
              <a:fillRect/>
            </a:stretch>
          </a:blipFill>
        </p:spPr>
        <p:txBody>
          <a:bodyPr/>
          <a:lstStyle/>
          <a:p>
            <a:endParaRPr lang="es-CO" sz="1200"/>
          </a:p>
        </p:txBody>
      </p:sp>
      <p:sp>
        <p:nvSpPr>
          <p:cNvPr id="27" name="Freeform 27"/>
          <p:cNvSpPr/>
          <p:nvPr/>
        </p:nvSpPr>
        <p:spPr>
          <a:xfrm>
            <a:off x="3685421" y="4385976"/>
            <a:ext cx="2358427" cy="425792"/>
          </a:xfrm>
          <a:custGeom>
            <a:avLst/>
            <a:gdLst/>
            <a:ahLst/>
            <a:cxnLst/>
            <a:rect l="l" t="t" r="r" b="b"/>
            <a:pathLst>
              <a:path w="3537640" h="638688">
                <a:moveTo>
                  <a:pt x="0" y="0"/>
                </a:moveTo>
                <a:lnTo>
                  <a:pt x="3537640" y="0"/>
                </a:lnTo>
                <a:lnTo>
                  <a:pt x="3537640" y="638688"/>
                </a:lnTo>
                <a:lnTo>
                  <a:pt x="0" y="638688"/>
                </a:lnTo>
                <a:lnTo>
                  <a:pt x="0" y="0"/>
                </a:lnTo>
                <a:close/>
              </a:path>
            </a:pathLst>
          </a:custGeom>
          <a:blipFill>
            <a:blip r:embed="rId17"/>
            <a:stretch>
              <a:fillRect t="-127308" b="-121181"/>
            </a:stretch>
          </a:blipFill>
        </p:spPr>
        <p:txBody>
          <a:bodyPr/>
          <a:lstStyle/>
          <a:p>
            <a:endParaRPr lang="es-CO" sz="1200"/>
          </a:p>
        </p:txBody>
      </p:sp>
      <p:sp>
        <p:nvSpPr>
          <p:cNvPr id="28" name="Freeform 28"/>
          <p:cNvSpPr/>
          <p:nvPr/>
        </p:nvSpPr>
        <p:spPr>
          <a:xfrm>
            <a:off x="3802199" y="3278009"/>
            <a:ext cx="2123492" cy="391077"/>
          </a:xfrm>
          <a:custGeom>
            <a:avLst/>
            <a:gdLst/>
            <a:ahLst/>
            <a:cxnLst/>
            <a:rect l="l" t="t" r="r" b="b"/>
            <a:pathLst>
              <a:path w="3185238" h="586615">
                <a:moveTo>
                  <a:pt x="0" y="0"/>
                </a:moveTo>
                <a:lnTo>
                  <a:pt x="3185238" y="0"/>
                </a:lnTo>
                <a:lnTo>
                  <a:pt x="3185238" y="586614"/>
                </a:lnTo>
                <a:lnTo>
                  <a:pt x="0" y="586614"/>
                </a:lnTo>
                <a:lnTo>
                  <a:pt x="0" y="0"/>
                </a:lnTo>
                <a:close/>
              </a:path>
            </a:pathLst>
          </a:custGeom>
          <a:blipFill>
            <a:blip r:embed="rId18"/>
            <a:stretch>
              <a:fillRect/>
            </a:stretch>
          </a:blipFill>
        </p:spPr>
        <p:txBody>
          <a:bodyPr/>
          <a:lstStyle/>
          <a:p>
            <a:endParaRPr lang="es-CO" sz="1200"/>
          </a:p>
        </p:txBody>
      </p:sp>
      <p:grpSp>
        <p:nvGrpSpPr>
          <p:cNvPr id="29" name="Group 29"/>
          <p:cNvGrpSpPr/>
          <p:nvPr/>
        </p:nvGrpSpPr>
        <p:grpSpPr>
          <a:xfrm>
            <a:off x="-196899" y="5374596"/>
            <a:ext cx="12588070" cy="1099242"/>
            <a:chOff x="0" y="0"/>
            <a:chExt cx="5999897" cy="523936"/>
          </a:xfrm>
        </p:grpSpPr>
        <p:sp>
          <p:nvSpPr>
            <p:cNvPr id="30" name="Freeform 30"/>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31" name="TextBox 31"/>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32" name="Freeform 32"/>
          <p:cNvSpPr/>
          <p:nvPr/>
        </p:nvSpPr>
        <p:spPr>
          <a:xfrm>
            <a:off x="540118" y="5621317"/>
            <a:ext cx="1454557" cy="515956"/>
          </a:xfrm>
          <a:custGeom>
            <a:avLst/>
            <a:gdLst/>
            <a:ahLst/>
            <a:cxnLst/>
            <a:rect l="l" t="t" r="r" b="b"/>
            <a:pathLst>
              <a:path w="2181836" h="773934">
                <a:moveTo>
                  <a:pt x="0" y="0"/>
                </a:moveTo>
                <a:lnTo>
                  <a:pt x="2181836" y="0"/>
                </a:lnTo>
                <a:lnTo>
                  <a:pt x="2181836" y="773935"/>
                </a:lnTo>
                <a:lnTo>
                  <a:pt x="0" y="773935"/>
                </a:lnTo>
                <a:lnTo>
                  <a:pt x="0" y="0"/>
                </a:lnTo>
                <a:close/>
              </a:path>
            </a:pathLst>
          </a:custGeom>
          <a:blipFill>
            <a:blip r:embed="rId19"/>
            <a:stretch>
              <a:fillRect/>
            </a:stretch>
          </a:blipFill>
        </p:spPr>
        <p:txBody>
          <a:bodyPr/>
          <a:lstStyle/>
          <a:p>
            <a:endParaRPr lang="es-CO" sz="1200"/>
          </a:p>
        </p:txBody>
      </p:sp>
      <p:sp>
        <p:nvSpPr>
          <p:cNvPr id="33" name="Freeform 33"/>
          <p:cNvSpPr/>
          <p:nvPr/>
        </p:nvSpPr>
        <p:spPr>
          <a:xfrm>
            <a:off x="2329031" y="5515725"/>
            <a:ext cx="1040292" cy="727143"/>
          </a:xfrm>
          <a:custGeom>
            <a:avLst/>
            <a:gdLst/>
            <a:ahLst/>
            <a:cxnLst/>
            <a:rect l="l" t="t" r="r" b="b"/>
            <a:pathLst>
              <a:path w="1560438" h="1090714">
                <a:moveTo>
                  <a:pt x="0" y="0"/>
                </a:moveTo>
                <a:lnTo>
                  <a:pt x="1560438" y="0"/>
                </a:lnTo>
                <a:lnTo>
                  <a:pt x="1560438" y="1090714"/>
                </a:lnTo>
                <a:lnTo>
                  <a:pt x="0" y="1090714"/>
                </a:lnTo>
                <a:lnTo>
                  <a:pt x="0" y="0"/>
                </a:lnTo>
                <a:close/>
              </a:path>
            </a:pathLst>
          </a:custGeom>
          <a:blipFill>
            <a:blip r:embed="rId20"/>
            <a:stretch>
              <a:fillRect/>
            </a:stretch>
          </a:blipFill>
        </p:spPr>
        <p:txBody>
          <a:bodyPr/>
          <a:lstStyle/>
          <a:p>
            <a:endParaRPr lang="es-CO" sz="1200"/>
          </a:p>
        </p:txBody>
      </p:sp>
      <p:sp>
        <p:nvSpPr>
          <p:cNvPr id="34" name="Freeform 34"/>
          <p:cNvSpPr/>
          <p:nvPr/>
        </p:nvSpPr>
        <p:spPr>
          <a:xfrm>
            <a:off x="3862535" y="5534105"/>
            <a:ext cx="2181312" cy="690382"/>
          </a:xfrm>
          <a:custGeom>
            <a:avLst/>
            <a:gdLst/>
            <a:ahLst/>
            <a:cxnLst/>
            <a:rect l="l" t="t" r="r" b="b"/>
            <a:pathLst>
              <a:path w="3271968" h="1035573">
                <a:moveTo>
                  <a:pt x="0" y="0"/>
                </a:moveTo>
                <a:lnTo>
                  <a:pt x="3271969" y="0"/>
                </a:lnTo>
                <a:lnTo>
                  <a:pt x="3271969" y="1035573"/>
                </a:lnTo>
                <a:lnTo>
                  <a:pt x="0" y="1035573"/>
                </a:lnTo>
                <a:lnTo>
                  <a:pt x="0" y="0"/>
                </a:lnTo>
                <a:close/>
              </a:path>
            </a:pathLst>
          </a:custGeom>
          <a:blipFill>
            <a:blip r:embed="rId21"/>
            <a:stretch>
              <a:fillRect/>
            </a:stretch>
          </a:blipFill>
        </p:spPr>
        <p:txBody>
          <a:bodyPr/>
          <a:lstStyle/>
          <a:p>
            <a:endParaRPr lang="es-CO" sz="1200"/>
          </a:p>
        </p:txBody>
      </p:sp>
      <p:sp>
        <p:nvSpPr>
          <p:cNvPr id="35" name="Freeform 35"/>
          <p:cNvSpPr/>
          <p:nvPr/>
        </p:nvSpPr>
        <p:spPr>
          <a:xfrm>
            <a:off x="6139585" y="4153421"/>
            <a:ext cx="1590219" cy="973472"/>
          </a:xfrm>
          <a:custGeom>
            <a:avLst/>
            <a:gdLst/>
            <a:ahLst/>
            <a:cxnLst/>
            <a:rect l="l" t="t" r="r" b="b"/>
            <a:pathLst>
              <a:path w="2385329" h="1460208">
                <a:moveTo>
                  <a:pt x="0" y="0"/>
                </a:moveTo>
                <a:lnTo>
                  <a:pt x="2385330" y="0"/>
                </a:lnTo>
                <a:lnTo>
                  <a:pt x="2385330" y="1460208"/>
                </a:lnTo>
                <a:lnTo>
                  <a:pt x="0" y="1460208"/>
                </a:lnTo>
                <a:lnTo>
                  <a:pt x="0" y="0"/>
                </a:lnTo>
                <a:close/>
              </a:path>
            </a:pathLst>
          </a:custGeom>
          <a:blipFill>
            <a:blip r:embed="rId22"/>
            <a:stretch>
              <a:fillRect/>
            </a:stretch>
          </a:blipFill>
        </p:spPr>
        <p:txBody>
          <a:bodyPr/>
          <a:lstStyle/>
          <a:p>
            <a:endParaRPr lang="es-CO" sz="1200"/>
          </a:p>
        </p:txBody>
      </p:sp>
      <p:sp>
        <p:nvSpPr>
          <p:cNvPr id="36" name="Freeform 36"/>
          <p:cNvSpPr/>
          <p:nvPr/>
        </p:nvSpPr>
        <p:spPr>
          <a:xfrm>
            <a:off x="8381520" y="5584146"/>
            <a:ext cx="1348978" cy="740413"/>
          </a:xfrm>
          <a:custGeom>
            <a:avLst/>
            <a:gdLst/>
            <a:ahLst/>
            <a:cxnLst/>
            <a:rect l="l" t="t" r="r" b="b"/>
            <a:pathLst>
              <a:path w="2023467" h="1110620">
                <a:moveTo>
                  <a:pt x="0" y="0"/>
                </a:moveTo>
                <a:lnTo>
                  <a:pt x="2023467" y="0"/>
                </a:lnTo>
                <a:lnTo>
                  <a:pt x="2023467" y="1110619"/>
                </a:lnTo>
                <a:lnTo>
                  <a:pt x="0" y="1110619"/>
                </a:lnTo>
                <a:lnTo>
                  <a:pt x="0" y="0"/>
                </a:lnTo>
                <a:close/>
              </a:path>
            </a:pathLst>
          </a:custGeom>
          <a:blipFill>
            <a:blip r:embed="rId23"/>
            <a:stretch>
              <a:fillRect l="-18827" t="-38338" r="-19342" b="-29485"/>
            </a:stretch>
          </a:blipFill>
        </p:spPr>
        <p:txBody>
          <a:bodyPr/>
          <a:lstStyle/>
          <a:p>
            <a:endParaRPr lang="es-CO" sz="1200"/>
          </a:p>
        </p:txBody>
      </p:sp>
      <p:sp>
        <p:nvSpPr>
          <p:cNvPr id="37" name="Freeform 37"/>
          <p:cNvSpPr/>
          <p:nvPr/>
        </p:nvSpPr>
        <p:spPr>
          <a:xfrm>
            <a:off x="10008066" y="5571105"/>
            <a:ext cx="1881170" cy="706223"/>
          </a:xfrm>
          <a:custGeom>
            <a:avLst/>
            <a:gdLst/>
            <a:ahLst/>
            <a:cxnLst/>
            <a:rect l="l" t="t" r="r" b="b"/>
            <a:pathLst>
              <a:path w="2821755" h="1059334">
                <a:moveTo>
                  <a:pt x="0" y="0"/>
                </a:moveTo>
                <a:lnTo>
                  <a:pt x="2821756" y="0"/>
                </a:lnTo>
                <a:lnTo>
                  <a:pt x="2821756" y="1059334"/>
                </a:lnTo>
                <a:lnTo>
                  <a:pt x="0" y="1059334"/>
                </a:lnTo>
                <a:lnTo>
                  <a:pt x="0" y="0"/>
                </a:lnTo>
                <a:close/>
              </a:path>
            </a:pathLst>
          </a:custGeom>
          <a:blipFill>
            <a:blip r:embed="rId24"/>
            <a:stretch>
              <a:fillRect/>
            </a:stretch>
          </a:blipFill>
        </p:spPr>
        <p:txBody>
          <a:bodyPr/>
          <a:lstStyle/>
          <a:p>
            <a:endParaRPr lang="es-CO" sz="1200"/>
          </a:p>
        </p:txBody>
      </p:sp>
      <p:sp>
        <p:nvSpPr>
          <p:cNvPr id="38" name="Freeform 38"/>
          <p:cNvSpPr/>
          <p:nvPr/>
        </p:nvSpPr>
        <p:spPr>
          <a:xfrm>
            <a:off x="7869666" y="4452486"/>
            <a:ext cx="2251139" cy="453522"/>
          </a:xfrm>
          <a:custGeom>
            <a:avLst/>
            <a:gdLst/>
            <a:ahLst/>
            <a:cxnLst/>
            <a:rect l="l" t="t" r="r" b="b"/>
            <a:pathLst>
              <a:path w="3376709" h="680283">
                <a:moveTo>
                  <a:pt x="0" y="0"/>
                </a:moveTo>
                <a:lnTo>
                  <a:pt x="3376710" y="0"/>
                </a:lnTo>
                <a:lnTo>
                  <a:pt x="3376710" y="680284"/>
                </a:lnTo>
                <a:lnTo>
                  <a:pt x="0" y="680284"/>
                </a:lnTo>
                <a:lnTo>
                  <a:pt x="0" y="0"/>
                </a:lnTo>
                <a:close/>
              </a:path>
            </a:pathLst>
          </a:custGeom>
          <a:blipFill>
            <a:blip r:embed="rId25"/>
            <a:stretch>
              <a:fillRect t="-35761" b="-43105"/>
            </a:stretch>
          </a:blipFill>
        </p:spPr>
        <p:txBody>
          <a:bodyPr/>
          <a:lstStyle/>
          <a:p>
            <a:endParaRPr lang="es-CO" sz="1200"/>
          </a:p>
        </p:txBody>
      </p:sp>
      <p:sp>
        <p:nvSpPr>
          <p:cNvPr id="39" name="TextBox 39"/>
          <p:cNvSpPr txBox="1"/>
          <p:nvPr/>
        </p:nvSpPr>
        <p:spPr>
          <a:xfrm>
            <a:off x="501053" y="963149"/>
            <a:ext cx="6066322" cy="371897"/>
          </a:xfrm>
          <a:prstGeom prst="rect">
            <a:avLst/>
          </a:prstGeom>
        </p:spPr>
        <p:txBody>
          <a:bodyPr lIns="0" tIns="0" rIns="0" bIns="0" rtlCol="0" anchor="t">
            <a:spAutoFit/>
          </a:bodyPr>
          <a:lstStyle/>
          <a:p>
            <a:pPr>
              <a:lnSpc>
                <a:spcPts val="2879"/>
              </a:lnSpc>
            </a:pPr>
            <a:r>
              <a:rPr lang="en-US" sz="2650" b="1" spc="-13" err="1">
                <a:solidFill>
                  <a:srgbClr val="007881"/>
                </a:solidFill>
                <a:latin typeface="Arial Bold"/>
                <a:ea typeface="Arial Bold"/>
                <a:cs typeface="Arial Bold"/>
                <a:sym typeface="Arial Bold"/>
              </a:rPr>
              <a:t>Algunos</a:t>
            </a:r>
            <a:r>
              <a:rPr lang="en-US" sz="2650" b="1" spc="-13">
                <a:solidFill>
                  <a:srgbClr val="007881"/>
                </a:solidFill>
                <a:latin typeface="Arial Bold"/>
                <a:ea typeface="Arial Bold"/>
                <a:cs typeface="Arial Bold"/>
                <a:sym typeface="Arial Bold"/>
              </a:rPr>
              <a:t> de </a:t>
            </a:r>
            <a:r>
              <a:rPr lang="en-US" sz="2650" b="1" spc="-13" err="1">
                <a:solidFill>
                  <a:srgbClr val="007881"/>
                </a:solidFill>
                <a:latin typeface="Arial Bold"/>
                <a:ea typeface="Arial Bold"/>
                <a:cs typeface="Arial Bold"/>
                <a:sym typeface="Arial Bold"/>
              </a:rPr>
              <a:t>los</a:t>
            </a:r>
            <a:r>
              <a:rPr lang="en-US" sz="2650" b="1" spc="-13">
                <a:solidFill>
                  <a:srgbClr val="007881"/>
                </a:solidFill>
                <a:latin typeface="Arial Bold"/>
                <a:ea typeface="Arial Bold"/>
                <a:cs typeface="Arial Bold"/>
                <a:sym typeface="Arial Bold"/>
              </a:rPr>
              <a:t> </a:t>
            </a:r>
            <a:r>
              <a:rPr lang="en-US" sz="2650" b="1" spc="-13" err="1">
                <a:solidFill>
                  <a:srgbClr val="007881"/>
                </a:solidFill>
                <a:latin typeface="Arial Bold"/>
                <a:ea typeface="Arial Bold"/>
                <a:cs typeface="Arial Bold"/>
                <a:sym typeface="Arial Bold"/>
              </a:rPr>
              <a:t>principales</a:t>
            </a:r>
            <a:r>
              <a:rPr lang="en-US" sz="2650" b="1" spc="-13">
                <a:solidFill>
                  <a:srgbClr val="007881"/>
                </a:solidFill>
                <a:latin typeface="Arial Bold"/>
                <a:ea typeface="Arial Bold"/>
                <a:cs typeface="Arial Bold"/>
                <a:sym typeface="Arial Bold"/>
              </a:rPr>
              <a:t> </a:t>
            </a:r>
            <a:r>
              <a:rPr lang="en-US" sz="2650" b="1" spc="-13" err="1">
                <a:solidFill>
                  <a:srgbClr val="007881"/>
                </a:solidFill>
                <a:latin typeface="Arial Bold"/>
                <a:ea typeface="Arial Bold"/>
                <a:cs typeface="Arial Bold"/>
                <a:sym typeface="Arial Bold"/>
              </a:rPr>
              <a:t>Aliados</a:t>
            </a:r>
            <a:endParaRPr lang="en-US" sz="2650" b="1" spc="-13" err="1">
              <a:solidFill>
                <a:srgbClr val="007881"/>
              </a:solidFill>
              <a:latin typeface="Arial Bold"/>
              <a:ea typeface="Arial Bold"/>
              <a:cs typeface="Arial Bold"/>
            </a:endParaRPr>
          </a:p>
        </p:txBody>
      </p:sp>
      <p:pic>
        <p:nvPicPr>
          <p:cNvPr id="44" name="Imagen 43" descr="Five9 Logo PNG Vector (AI) Free Download">
            <a:extLst>
              <a:ext uri="{FF2B5EF4-FFF2-40B4-BE49-F238E27FC236}">
                <a16:creationId xmlns:a16="http://schemas.microsoft.com/office/drawing/2014/main" id="{C6D6B709-D0D5-BE26-1DCB-F999CE3B483A}"/>
              </a:ext>
            </a:extLst>
          </p:cNvPr>
          <p:cNvPicPr>
            <a:picLocks noChangeAspect="1"/>
          </p:cNvPicPr>
          <p:nvPr/>
        </p:nvPicPr>
        <p:blipFill>
          <a:blip r:embed="rId26"/>
          <a:stretch>
            <a:fillRect/>
          </a:stretch>
        </p:blipFill>
        <p:spPr>
          <a:xfrm>
            <a:off x="10339136" y="4248566"/>
            <a:ext cx="1032043" cy="566660"/>
          </a:xfrm>
          <a:prstGeom prst="rect">
            <a:avLst/>
          </a:prstGeom>
        </p:spPr>
      </p:pic>
      <p:pic>
        <p:nvPicPr>
          <p:cNvPr id="45" name="Imagen 44" descr="Archivo:IBM logo.svg - Wikipedia, la enciclopedia libre">
            <a:extLst>
              <a:ext uri="{FF2B5EF4-FFF2-40B4-BE49-F238E27FC236}">
                <a16:creationId xmlns:a16="http://schemas.microsoft.com/office/drawing/2014/main" id="{75AF2E6B-C0D2-78B7-0459-AC7653DEE727}"/>
              </a:ext>
            </a:extLst>
          </p:cNvPr>
          <p:cNvPicPr>
            <a:picLocks noChangeAspect="1"/>
          </p:cNvPicPr>
          <p:nvPr/>
        </p:nvPicPr>
        <p:blipFill>
          <a:blip r:embed="rId27"/>
          <a:stretch>
            <a:fillRect/>
          </a:stretch>
        </p:blipFill>
        <p:spPr>
          <a:xfrm>
            <a:off x="10312399" y="3185547"/>
            <a:ext cx="1259306" cy="473537"/>
          </a:xfrm>
          <a:prstGeom prst="rect">
            <a:avLst/>
          </a:prstGeom>
        </p:spPr>
      </p:pic>
      <p:pic>
        <p:nvPicPr>
          <p:cNvPr id="43" name="Imagen 42" descr="Forma&#10;&#10;Descripción generada automáticamente">
            <a:extLst>
              <a:ext uri="{FF2B5EF4-FFF2-40B4-BE49-F238E27FC236}">
                <a16:creationId xmlns:a16="http://schemas.microsoft.com/office/drawing/2014/main" id="{675A525B-7EF6-3E09-AE1B-E199DA6EE6B6}"/>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0377877" y="416223"/>
            <a:ext cx="1836717" cy="126596"/>
          </a:xfrm>
          <a:prstGeom prst="rect">
            <a:avLst/>
          </a:prstGeom>
        </p:spPr>
      </p:pic>
      <p:pic>
        <p:nvPicPr>
          <p:cNvPr id="46" name="Imagen 45">
            <a:extLst>
              <a:ext uri="{FF2B5EF4-FFF2-40B4-BE49-F238E27FC236}">
                <a16:creationId xmlns:a16="http://schemas.microsoft.com/office/drawing/2014/main" id="{EBCC4746-73A7-1943-E33A-7F9F749CF760}"/>
              </a:ext>
            </a:extLst>
          </p:cNvPr>
          <p:cNvPicPr>
            <a:picLocks noChangeAspect="1"/>
          </p:cNvPicPr>
          <p:nvPr/>
        </p:nvPicPr>
        <p:blipFill>
          <a:blip r:embed="rId29"/>
          <a:stretch>
            <a:fillRect/>
          </a:stretch>
        </p:blipFill>
        <p:spPr>
          <a:xfrm>
            <a:off x="10307918" y="3136"/>
            <a:ext cx="1884082" cy="47638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n 2"/>
          <p:cNvSpPr/>
          <p:nvPr/>
        </p:nvSpPr>
        <p:spPr>
          <a:xfrm>
            <a:off x="0" y="0"/>
            <a:ext cx="12192000" cy="6858000"/>
          </a:xfrm>
          <a:custGeom>
            <a:avLst/>
            <a:gdLst/>
            <a:ahLst/>
            <a:cxnLst/>
            <a:rect l="l" t="t" r="r" b="b"/>
            <a:pathLst>
              <a:path w="20088241" h="10502096">
                <a:moveTo>
                  <a:pt x="0" y="0"/>
                </a:moveTo>
                <a:lnTo>
                  <a:pt x="20088241" y="0"/>
                </a:lnTo>
                <a:lnTo>
                  <a:pt x="20088241" y="10502096"/>
                </a:lnTo>
                <a:lnTo>
                  <a:pt x="0" y="10502096"/>
                </a:lnTo>
                <a:lnTo>
                  <a:pt x="0" y="0"/>
                </a:lnTo>
                <a:close/>
              </a:path>
            </a:pathLst>
          </a:custGeom>
          <a:blipFill>
            <a:blip r:embed="rId2"/>
            <a:stretch>
              <a:fillRect l="-44" r="-44"/>
            </a:stretch>
          </a:blipFill>
        </p:spPr>
        <p:txBody>
          <a:bodyPr/>
          <a:lstStyle/>
          <a:p>
            <a:endParaRPr lang="es-CO" sz="1200"/>
          </a:p>
        </p:txBody>
      </p:sp>
      <p:sp>
        <p:nvSpPr>
          <p:cNvPr id="3" name="Freeform 3" descr="Gráfico 6"/>
          <p:cNvSpPr/>
          <p:nvPr/>
        </p:nvSpPr>
        <p:spPr>
          <a:xfrm>
            <a:off x="-368110" y="642835"/>
            <a:ext cx="12600000" cy="88119"/>
          </a:xfrm>
          <a:custGeom>
            <a:avLst/>
            <a:gdLst/>
            <a:ahLst/>
            <a:cxnLst/>
            <a:rect l="l" t="t" r="r" b="b"/>
            <a:pathLst>
              <a:path w="18329622" h="132178">
                <a:moveTo>
                  <a:pt x="0" y="0"/>
                </a:moveTo>
                <a:lnTo>
                  <a:pt x="18329621" y="0"/>
                </a:lnTo>
                <a:lnTo>
                  <a:pt x="18329621" y="132178"/>
                </a:lnTo>
                <a:lnTo>
                  <a:pt x="0" y="132178"/>
                </a:lnTo>
                <a:lnTo>
                  <a:pt x="0" y="0"/>
                </a:lnTo>
                <a:close/>
              </a:path>
            </a:pathLst>
          </a:custGeom>
          <a:blipFill>
            <a:blip r:embed="rId3"/>
            <a:stretch>
              <a:fillRect l="-10092" r="-10092"/>
            </a:stretch>
          </a:blipFill>
        </p:spPr>
        <p:txBody>
          <a:bodyPr/>
          <a:lstStyle/>
          <a:p>
            <a:endParaRPr lang="es-CO" sz="1200"/>
          </a:p>
        </p:txBody>
      </p:sp>
      <p:sp>
        <p:nvSpPr>
          <p:cNvPr id="4" name="TextBox 4"/>
          <p:cNvSpPr txBox="1"/>
          <p:nvPr/>
        </p:nvSpPr>
        <p:spPr>
          <a:xfrm>
            <a:off x="2176" y="68934"/>
            <a:ext cx="5368009" cy="240387"/>
          </a:xfrm>
          <a:prstGeom prst="rect">
            <a:avLst/>
          </a:prstGeom>
        </p:spPr>
        <p:txBody>
          <a:bodyPr lIns="0" tIns="0" rIns="0" bIns="0" rtlCol="0" anchor="t">
            <a:spAutoFit/>
          </a:bodyPr>
          <a:lstStyle/>
          <a:p>
            <a:pPr algn="ctr">
              <a:lnSpc>
                <a:spcPts val="1973"/>
              </a:lnSpc>
            </a:pPr>
            <a:r>
              <a:rPr lang="en-US" sz="1645" spc="-5">
                <a:solidFill>
                  <a:srgbClr val="DBDBDB"/>
                </a:solidFill>
                <a:latin typeface="Arial"/>
                <a:ea typeface="Arial"/>
                <a:cs typeface="Arial"/>
                <a:sym typeface="Arial"/>
              </a:rPr>
              <a:t>SOLUCIONES DE TRANSFORMACIÓN DIGITAL</a:t>
            </a:r>
          </a:p>
        </p:txBody>
      </p:sp>
      <p:sp>
        <p:nvSpPr>
          <p:cNvPr id="7" name="TextBox 7"/>
          <p:cNvSpPr txBox="1"/>
          <p:nvPr/>
        </p:nvSpPr>
        <p:spPr>
          <a:xfrm>
            <a:off x="1117117" y="5518006"/>
            <a:ext cx="5215543" cy="474489"/>
          </a:xfrm>
          <a:prstGeom prst="rect">
            <a:avLst/>
          </a:prstGeom>
        </p:spPr>
        <p:txBody>
          <a:bodyPr lIns="0" tIns="0" rIns="0" bIns="0" rtlCol="0" anchor="t">
            <a:spAutoFit/>
          </a:bodyPr>
          <a:lstStyle/>
          <a:p>
            <a:pPr algn="ctr">
              <a:lnSpc>
                <a:spcPts val="3720"/>
              </a:lnSpc>
            </a:pPr>
            <a:r>
              <a:rPr lang="en-US" sz="3334" b="1">
                <a:solidFill>
                  <a:srgbClr val="FFFFFF"/>
                </a:solidFill>
                <a:latin typeface="Arial Bold"/>
                <a:ea typeface="Arial Bold"/>
                <a:cs typeface="Arial Bold"/>
                <a:sym typeface="Arial Bold"/>
              </a:rPr>
              <a:t>GRACIAS</a:t>
            </a:r>
          </a:p>
        </p:txBody>
      </p:sp>
      <p:pic>
        <p:nvPicPr>
          <p:cNvPr id="8" name="Imagen 7" descr="Texto&#10;&#10;Descripción generada automáticamente">
            <a:extLst>
              <a:ext uri="{FF2B5EF4-FFF2-40B4-BE49-F238E27FC236}">
                <a16:creationId xmlns:a16="http://schemas.microsoft.com/office/drawing/2014/main" id="{D7F43AD0-CF06-D20B-A57C-E4DAACE13D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1985" y="6287589"/>
            <a:ext cx="2025780" cy="548790"/>
          </a:xfrm>
          <a:prstGeom prst="rect">
            <a:avLst/>
          </a:prstGeom>
        </p:spPr>
      </p:pic>
    </p:spTree>
  </p:cSld>
  <p:clrMapOvr>
    <a:masterClrMapping/>
  </p:clrMapOvr>
  <p:transition>
    <p:fad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49e4846-88cf-4894-bf06-ac98d70f27be}" enabled="1" method="Privileged" siteId="{5fd5460a-b425-49de-9bd0-fcd26270d30c}" removed="0"/>
</clbl:labelList>
</file>

<file path=docProps/app.xml><?xml version="1.0" encoding="utf-8"?>
<Properties xmlns="http://schemas.openxmlformats.org/officeDocument/2006/extended-properties" xmlns:vt="http://schemas.openxmlformats.org/officeDocument/2006/docPropsVTypes">
  <TotalTime>595</TotalTime>
  <Words>1736</Words>
  <Application>Microsoft Office PowerPoint</Application>
  <PresentationFormat>Panorámica</PresentationFormat>
  <Paragraphs>189</Paragraphs>
  <Slides>16</Slides>
  <Notes>1</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16</vt:i4>
      </vt:variant>
    </vt:vector>
  </HeadingPairs>
  <TitlesOfParts>
    <vt:vector size="28" baseType="lpstr">
      <vt:lpstr>Aptos</vt:lpstr>
      <vt:lpstr>Aptos Display</vt:lpstr>
      <vt:lpstr>Arial</vt:lpstr>
      <vt:lpstr>Arial Black</vt:lpstr>
      <vt:lpstr>Arial Bold</vt:lpstr>
      <vt:lpstr>Canva Sans Bold</vt:lpstr>
      <vt:lpstr>Century Gothic</vt:lpstr>
      <vt:lpstr>Montserrat</vt:lpstr>
      <vt:lpstr>Symbol</vt:lpstr>
      <vt:lpstr>TT Rounds Condensed</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Camilo Andres Ruiz Martinez</dc:creator>
  <cp:lastModifiedBy>Andres Felipe Lara Duran</cp:lastModifiedBy>
  <cp:revision>4</cp:revision>
  <dcterms:created xsi:type="dcterms:W3CDTF">2024-11-08T22:32:50Z</dcterms:created>
  <dcterms:modified xsi:type="dcterms:W3CDTF">2026-02-02T22:23:41Z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49e4846-88cf-4894-bf06-ac98d70f27be_Enabled">
    <vt:lpwstr>true</vt:lpwstr>
  </property>
  <property fmtid="{D5CDD505-2E9C-101B-9397-08002B2CF9AE}" pid="3" name="MSIP_Label_349e4846-88cf-4894-bf06-ac98d70f27be_SetDate">
    <vt:lpwstr>2024-11-08T22:33:35Z</vt:lpwstr>
  </property>
  <property fmtid="{D5CDD505-2E9C-101B-9397-08002B2CF9AE}" pid="4" name="MSIP_Label_349e4846-88cf-4894-bf06-ac98d70f27be_Method">
    <vt:lpwstr>Privileged</vt:lpwstr>
  </property>
  <property fmtid="{D5CDD505-2E9C-101B-9397-08002B2CF9AE}" pid="5" name="MSIP_Label_349e4846-88cf-4894-bf06-ac98d70f27be_Name">
    <vt:lpwstr>Pública</vt:lpwstr>
  </property>
  <property fmtid="{D5CDD505-2E9C-101B-9397-08002B2CF9AE}" pid="6" name="MSIP_Label_349e4846-88cf-4894-bf06-ac98d70f27be_SiteId">
    <vt:lpwstr>5fd5460a-b425-49de-9bd0-fcd26270d30c</vt:lpwstr>
  </property>
  <property fmtid="{D5CDD505-2E9C-101B-9397-08002B2CF9AE}" pid="7" name="MSIP_Label_349e4846-88cf-4894-bf06-ac98d70f27be_ActionId">
    <vt:lpwstr>7a8ccbb9-c616-4469-97b9-6992871addbd</vt:lpwstr>
  </property>
  <property fmtid="{D5CDD505-2E9C-101B-9397-08002B2CF9AE}" pid="8" name="MSIP_Label_349e4846-88cf-4894-bf06-ac98d70f27be_ContentBits">
    <vt:lpwstr>0</vt:lpwstr>
  </property>
</Properties>
</file>